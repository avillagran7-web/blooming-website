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e94e80a9b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g3e94e80a9b3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/>
          <p:nvPr/>
        </p:nvSpPr>
        <p:spPr>
          <a:xfrm>
            <a:off x="457700" y="0"/>
            <a:ext cx="8071500" cy="103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700">
                <a:solidFill>
                  <a:schemeClr val="dk1"/>
                </a:solidFill>
              </a:rPr>
              <a:t>THE OPPORTUNITY</a:t>
            </a:r>
            <a:endParaRPr b="1"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300">
                <a:solidFill>
                  <a:schemeClr val="dk1"/>
                </a:solidFill>
              </a:rPr>
              <a:t>EventGen × Blooming — Venues and Vendors Sourcing 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>
                <a:solidFill>
                  <a:schemeClr val="dk1"/>
                </a:solidFill>
              </a:rPr>
              <a:t>EventGen is an Integrated booking system with Google Calendar sync combining venue selection, 3-tier catering options, photography/video, printing, and badge system. 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>
                <a:solidFill>
                  <a:schemeClr val="dk1"/>
                </a:solidFill>
              </a:rPr>
              <a:t>EventGen is ready to be implemented with a pilot example Digital Jungle SF. 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>
                <a:solidFill>
                  <a:schemeClr val="dk1"/>
                </a:solidFill>
              </a:rPr>
              <a:t>Blooming, operating by Alison knows well Digital Jungle and his stakeholders ecosystem because she was part of the launch while being employed through BeMyApp/ AI User Group. 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>
                <a:solidFill>
                  <a:schemeClr val="dk1"/>
                </a:solidFill>
              </a:rPr>
              <a:t>There is a continuity in the collaboration and the opportunity to move forward efficiently. 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300">
                <a:solidFill>
                  <a:schemeClr val="dk1"/>
                </a:solidFill>
              </a:rPr>
              <a:t>The GOAL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>
                <a:solidFill>
                  <a:schemeClr val="dk1"/>
                </a:solidFill>
              </a:rPr>
              <a:t>EventGent will become a Multi-city event platform (10+ cities globally: London, Paris, Berlin, US hubs, Toronto, Singapore) enabling event organization in ~5 minutes with consistent offerings across all cities. 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>
                <a:solidFill>
                  <a:schemeClr val="dk1"/>
                </a:solidFill>
              </a:rPr>
              <a:t>The platform will propose 3 kind of events: 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300"/>
              <a:buChar char="-"/>
            </a:pPr>
            <a:r>
              <a:rPr lang="en-US" sz="1300">
                <a:solidFill>
                  <a:schemeClr val="dk1"/>
                </a:solidFill>
              </a:rPr>
              <a:t>Meet-up  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-"/>
            </a:pPr>
            <a:r>
              <a:rPr lang="en-US" sz="1300">
                <a:solidFill>
                  <a:schemeClr val="dk1"/>
                </a:solidFill>
              </a:rPr>
              <a:t>Hackathon 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-"/>
            </a:pPr>
            <a:r>
              <a:rPr lang="en-US" sz="1300">
                <a:solidFill>
                  <a:schemeClr val="dk1"/>
                </a:solidFill>
              </a:rPr>
              <a:t>Workshops 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chemeClr val="dk1"/>
                </a:solidFill>
              </a:rPr>
              <a:t>Up to 150-200 attendees. In the following cities: 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300"/>
              <a:buChar char="-"/>
            </a:pPr>
            <a:r>
              <a:rPr lang="en-US" sz="1300">
                <a:solidFill>
                  <a:schemeClr val="dk1"/>
                </a:solidFill>
              </a:rPr>
              <a:t>London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-"/>
            </a:pPr>
            <a:r>
              <a:rPr lang="en-US" sz="1300">
                <a:solidFill>
                  <a:schemeClr val="dk1"/>
                </a:solidFill>
              </a:rPr>
              <a:t>Paris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-"/>
            </a:pPr>
            <a:r>
              <a:rPr lang="en-US" sz="1300">
                <a:solidFill>
                  <a:schemeClr val="dk1"/>
                </a:solidFill>
              </a:rPr>
              <a:t>Berlin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-"/>
            </a:pPr>
            <a:r>
              <a:rPr lang="en-US" sz="1300">
                <a:solidFill>
                  <a:schemeClr val="dk1"/>
                </a:solidFill>
              </a:rPr>
              <a:t>SF 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-"/>
            </a:pPr>
            <a:r>
              <a:rPr lang="en-US" sz="1300">
                <a:solidFill>
                  <a:schemeClr val="dk1"/>
                </a:solidFill>
              </a:rPr>
              <a:t>NYC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-"/>
            </a:pPr>
            <a:r>
              <a:rPr lang="en-US" sz="1300">
                <a:solidFill>
                  <a:schemeClr val="dk1"/>
                </a:solidFill>
              </a:rPr>
              <a:t>LA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-"/>
            </a:pPr>
            <a:r>
              <a:rPr lang="en-US" sz="1300">
                <a:solidFill>
                  <a:schemeClr val="dk1"/>
                </a:solidFill>
              </a:rPr>
              <a:t>Austin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-"/>
            </a:pPr>
            <a:r>
              <a:rPr lang="en-US" sz="1300">
                <a:solidFill>
                  <a:schemeClr val="dk1"/>
                </a:solidFill>
              </a:rPr>
              <a:t>Toronto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-"/>
            </a:pPr>
            <a:r>
              <a:rPr lang="en-US" sz="1300">
                <a:solidFill>
                  <a:schemeClr val="dk1"/>
                </a:solidFill>
              </a:rPr>
              <a:t>Singapore ? (timezone friction) 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-"/>
            </a:pPr>
            <a:r>
              <a:rPr lang="en-US" sz="1300">
                <a:solidFill>
                  <a:schemeClr val="dk1"/>
                </a:solidFill>
              </a:rPr>
              <a:t>Seattle / Miami / Chicago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4"/>
          <p:cNvSpPr txBox="1"/>
          <p:nvPr/>
        </p:nvSpPr>
        <p:spPr>
          <a:xfrm>
            <a:off x="229655" y="100130"/>
            <a:ext cx="7863900" cy="994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300">
                <a:solidFill>
                  <a:schemeClr val="dk1"/>
                </a:solidFill>
              </a:rPr>
              <a:t>The Mission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EventGen needs to find venue and suppliers and conclude to a partnership within 2 weeks. So that EventGen can be pitched to investors with a real event engine running. 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Revenue Model 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lang="en-US" sz="1100">
                <a:solidFill>
                  <a:schemeClr val="dk1"/>
                </a:solidFill>
              </a:rPr>
              <a:t>20% commission on catalog pricing. EventGen and the venues and suppliers needs to agree on a fixed price per categories 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The  Deliverables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lang="en-US" sz="1100">
                <a:solidFill>
                  <a:schemeClr val="dk1"/>
                </a:solidFill>
              </a:rPr>
              <a:t>EventGen needs for each venue the floorplan, the equipment inventory, the furniture  and fixed pricing per event format. 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lang="en-US" sz="1100">
                <a:solidFill>
                  <a:schemeClr val="dk1"/>
                </a:solidFill>
              </a:rPr>
              <a:t>Accept event format run of show: </a:t>
            </a: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lang="en-US" sz="1100">
                <a:solidFill>
                  <a:schemeClr val="dk1"/>
                </a:solidFill>
              </a:rPr>
              <a:t>Meetup (4pm to 9pm) </a:t>
            </a: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lang="en-US" sz="1100">
                <a:solidFill>
                  <a:schemeClr val="dk1"/>
                </a:solidFill>
              </a:rPr>
              <a:t>Workshop (9am to 5pm) </a:t>
            </a: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lang="en-US" sz="1100">
                <a:solidFill>
                  <a:schemeClr val="dk1"/>
                </a:solidFill>
              </a:rPr>
              <a:t>Hackathon - 2 day or 1 day. (8am to 9pm) 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lang="en-US" sz="1100">
                <a:solidFill>
                  <a:schemeClr val="dk1"/>
                </a:solidFill>
              </a:rPr>
              <a:t>Catering: always the same </a:t>
            </a:r>
            <a:r>
              <a:rPr lang="en-US" sz="1100">
                <a:solidFill>
                  <a:schemeClr val="dk1"/>
                </a:solidFill>
              </a:rPr>
              <a:t>menu</a:t>
            </a:r>
            <a:r>
              <a:rPr lang="en-US" sz="1100">
                <a:solidFill>
                  <a:schemeClr val="dk1"/>
                </a:solidFill>
              </a:rPr>
              <a:t> option in order to keep the consistency. 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lang="en-US" sz="1100">
                <a:solidFill>
                  <a:schemeClr val="dk1"/>
                </a:solidFill>
              </a:rPr>
              <a:t>Photos-Video: 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The Booking interface 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lang="en-US" sz="1100">
                <a:solidFill>
                  <a:schemeClr val="dk1"/>
                </a:solidFill>
              </a:rPr>
              <a:t>EventGen needs the access to the venue Google Calendar in order to integrate it to the ChatGPT booking interface. </a:t>
            </a: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lang="en-US" sz="1100">
                <a:solidFill>
                  <a:schemeClr val="dk1"/>
                </a:solidFill>
              </a:rPr>
              <a:t>This might be the friction part of the mission because not all the venue has </a:t>
            </a:r>
            <a:r>
              <a:rPr lang="en-US" sz="1100">
                <a:solidFill>
                  <a:schemeClr val="dk1"/>
                </a:solidFill>
              </a:rPr>
              <a:t>their</a:t>
            </a:r>
            <a:r>
              <a:rPr lang="en-US" sz="1100">
                <a:solidFill>
                  <a:schemeClr val="dk1"/>
                </a:solidFill>
              </a:rPr>
              <a:t> </a:t>
            </a:r>
            <a:r>
              <a:rPr lang="en-US" sz="1100">
                <a:solidFill>
                  <a:schemeClr val="dk1"/>
                </a:solidFill>
              </a:rPr>
              <a:t>booking</a:t>
            </a:r>
            <a:r>
              <a:rPr lang="en-US" sz="1100">
                <a:solidFill>
                  <a:schemeClr val="dk1"/>
                </a:solidFill>
              </a:rPr>
              <a:t> system on google calendar, or maybe they don’t want to share confidential info about their upcoming bookings</a:t>
            </a:r>
            <a:endParaRPr sz="1100">
              <a:solidFill>
                <a:schemeClr val="dk1"/>
              </a:solidFill>
            </a:endParaRPr>
          </a:p>
          <a:p>
            <a:pPr indent="-29845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lang="en-US" sz="1100">
                <a:solidFill>
                  <a:schemeClr val="dk1"/>
                </a:solidFill>
              </a:rPr>
              <a:t>Contrepartie to make them accept: Badge printing/iPad+printer combo offered as incentive for calendar access (trade-off: 500 unit pricing negotiation)</a:t>
            </a:r>
            <a:endParaRPr sz="1100">
              <a:solidFill>
                <a:schemeClr val="dk1"/>
              </a:solidFill>
            </a:endParaRPr>
          </a:p>
          <a:p>
            <a:pPr indent="-29845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lang="en-US" sz="1100">
                <a:solidFill>
                  <a:schemeClr val="dk1"/>
                </a:solidFill>
              </a:rPr>
              <a:t>+ integration of a chatbot in the venue website</a:t>
            </a: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lang="en-US" sz="1100">
                <a:solidFill>
                  <a:schemeClr val="dk1"/>
                </a:solidFill>
              </a:rPr>
              <a:t>If the </a:t>
            </a:r>
            <a:r>
              <a:rPr lang="en-US" sz="1100">
                <a:solidFill>
                  <a:schemeClr val="dk1"/>
                </a:solidFill>
              </a:rPr>
              <a:t>venue</a:t>
            </a:r>
            <a:r>
              <a:rPr lang="en-US" sz="1100">
                <a:solidFill>
                  <a:schemeClr val="dk1"/>
                </a:solidFill>
              </a:rPr>
              <a:t> is not able to provide google calendar, the venue needs to be 1h reactive to give a yes or no answer by texto and/ or email. This is not ideal and only a backup option. 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5"/>
          <p:cNvSpPr txBox="1"/>
          <p:nvPr/>
        </p:nvSpPr>
        <p:spPr>
          <a:xfrm>
            <a:off x="229655" y="100130"/>
            <a:ext cx="7863900" cy="656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300">
                <a:solidFill>
                  <a:schemeClr val="dk1"/>
                </a:solidFill>
              </a:rPr>
              <a:t>The Scope of Work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100">
                <a:solidFill>
                  <a:schemeClr val="dk1"/>
                </a:solidFill>
              </a:rPr>
              <a:t>Blooming has 2 weeks to source and gather quotes in order to build the stakeholder ecosystem: 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100">
                <a:solidFill>
                  <a:schemeClr val="dk1"/>
                </a:solidFill>
              </a:rPr>
              <a:t>Venues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lang="en-US" sz="1100">
                <a:solidFill>
                  <a:schemeClr val="dk1"/>
                </a:solidFill>
              </a:rPr>
              <a:t>Source 2-3 venues options for the 10 listed cities </a:t>
            </a: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lang="en-US" sz="1100">
                <a:solidFill>
                  <a:schemeClr val="dk1"/>
                </a:solidFill>
              </a:rPr>
              <a:t>Each venue needs to deliver: </a:t>
            </a:r>
            <a:endParaRPr sz="1100">
              <a:solidFill>
                <a:schemeClr val="dk1"/>
              </a:solidFill>
            </a:endParaRPr>
          </a:p>
          <a:p>
            <a:pPr indent="-29845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lang="en-US" sz="1100">
                <a:solidFill>
                  <a:schemeClr val="dk1"/>
                </a:solidFill>
              </a:rPr>
              <a:t>Floorplan </a:t>
            </a:r>
            <a:endParaRPr sz="1100">
              <a:solidFill>
                <a:schemeClr val="dk1"/>
              </a:solidFill>
            </a:endParaRPr>
          </a:p>
          <a:p>
            <a:pPr indent="-29845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lang="en-US" sz="1100">
                <a:solidFill>
                  <a:schemeClr val="dk1"/>
                </a:solidFill>
              </a:rPr>
              <a:t>Equipment and Furniture List </a:t>
            </a:r>
            <a:endParaRPr sz="1100">
              <a:solidFill>
                <a:schemeClr val="dk1"/>
              </a:solidFill>
            </a:endParaRPr>
          </a:p>
          <a:p>
            <a:pPr indent="-29845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lang="en-US" sz="1100">
                <a:solidFill>
                  <a:schemeClr val="dk1"/>
                </a:solidFill>
              </a:rPr>
              <a:t>Price per Event Format (meetup, workshop, hackathon) </a:t>
            </a:r>
            <a:endParaRPr sz="1100">
              <a:solidFill>
                <a:schemeClr val="dk1"/>
              </a:solidFill>
            </a:endParaRPr>
          </a:p>
          <a:p>
            <a:pPr indent="-29845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lang="en-US" sz="1100">
                <a:solidFill>
                  <a:schemeClr val="dk1"/>
                </a:solidFill>
              </a:rPr>
              <a:t>Access to Google Calendar 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chemeClr val="dk1"/>
                </a:solidFill>
              </a:rPr>
              <a:t>Catering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lang="en-US" sz="1100">
                <a:solidFill>
                  <a:schemeClr val="dk1"/>
                </a:solidFill>
              </a:rPr>
              <a:t>Source 3 to 5 food option per listed cities: </a:t>
            </a: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lang="en-US" sz="1100">
                <a:solidFill>
                  <a:schemeClr val="dk1"/>
                </a:solidFill>
              </a:rPr>
              <a:t>1 low-cost: pizzas-salad</a:t>
            </a: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lang="en-US" sz="1100">
                <a:solidFill>
                  <a:schemeClr val="dk1"/>
                </a:solidFill>
              </a:rPr>
              <a:t>1 middle: sandwich </a:t>
            </a: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lang="en-US" sz="1100">
                <a:solidFill>
                  <a:schemeClr val="dk1"/>
                </a:solidFill>
              </a:rPr>
              <a:t>1 high-end: example: elevated tacos  </a:t>
            </a:r>
            <a:endParaRPr sz="1100">
              <a:solidFill>
                <a:schemeClr val="dk1"/>
              </a:solidFill>
            </a:endParaRPr>
          </a:p>
          <a:p>
            <a:pPr indent="-29845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lang="en-US" sz="1100">
                <a:solidFill>
                  <a:schemeClr val="dk1"/>
                </a:solidFill>
              </a:rPr>
              <a:t>Additional: Asiatic Food </a:t>
            </a:r>
            <a:endParaRPr sz="1100">
              <a:solidFill>
                <a:schemeClr val="dk1"/>
              </a:solidFill>
            </a:endParaRPr>
          </a:p>
          <a:p>
            <a:pPr indent="-29845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lang="en-US" sz="1100">
                <a:solidFill>
                  <a:schemeClr val="dk1"/>
                </a:solidFill>
              </a:rPr>
              <a:t>Breakfast 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chemeClr val="dk1"/>
                </a:solidFill>
              </a:rPr>
              <a:t>Media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lang="en-US" sz="1100">
                <a:solidFill>
                  <a:schemeClr val="dk1"/>
                </a:solidFill>
              </a:rPr>
              <a:t>Source 1 photo/ videographer per cities </a:t>
            </a: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lang="en-US" sz="1100">
                <a:solidFill>
                  <a:schemeClr val="dk1"/>
                </a:solidFill>
              </a:rPr>
              <a:t>50 edited </a:t>
            </a:r>
            <a:r>
              <a:rPr lang="en-US" sz="1100">
                <a:solidFill>
                  <a:schemeClr val="dk1"/>
                </a:solidFill>
              </a:rPr>
              <a:t>pictures</a:t>
            </a:r>
            <a:r>
              <a:rPr lang="en-US" sz="1100">
                <a:solidFill>
                  <a:schemeClr val="dk1"/>
                </a:solidFill>
              </a:rPr>
              <a:t> - raw folder </a:t>
            </a: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lang="en-US" sz="1100">
                <a:solidFill>
                  <a:schemeClr val="dk1"/>
                </a:solidFill>
              </a:rPr>
              <a:t>Up to </a:t>
            </a:r>
            <a:r>
              <a:rPr lang="en-US" sz="1100">
                <a:solidFill>
                  <a:schemeClr val="dk1"/>
                </a:solidFill>
              </a:rPr>
              <a:t>3 min</a:t>
            </a:r>
            <a:r>
              <a:rPr lang="en-US" sz="1100">
                <a:solidFill>
                  <a:schemeClr val="dk1"/>
                </a:solidFill>
              </a:rPr>
              <a:t> sizzle reel </a:t>
            </a:r>
            <a:endParaRPr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6"/>
          <p:cNvSpPr txBox="1"/>
          <p:nvPr/>
        </p:nvSpPr>
        <p:spPr>
          <a:xfrm>
            <a:off x="640055" y="464905"/>
            <a:ext cx="7863900" cy="41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100">
                <a:solidFill>
                  <a:schemeClr val="dk1"/>
                </a:solidFill>
              </a:rPr>
              <a:t>The Workflow  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Blooming will gather all the collected information in a spreadsheet. 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Generation of a folder with all quotes 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Create floor plan templates and equipment/furniture lists for each venue format (50/100/200 person configurations)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Establish pilot launch plan with Digital Jungle with deliverables (branded materials, demo video, event format structure)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100">
                <a:solidFill>
                  <a:schemeClr val="dk1"/>
                </a:solidFill>
              </a:rPr>
              <a:t>Timeline and Sync-up meeting 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Mission achieved within 2 weeks from now (May 16) 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Daily or every 2 days call to align? 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100">
                <a:solidFill>
                  <a:schemeClr val="dk1"/>
                </a:solidFill>
              </a:rPr>
              <a:t>Compensation 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5k flat fee upon invoice. 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