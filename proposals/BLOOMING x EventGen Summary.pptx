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ce668417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ce668417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ce668417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ce668417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ce668417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ce668417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ce66841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ce66841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ce668417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ce668417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wuVQRNZQYz6CoIA1g-Wxz587OXq68tIamFyeIeRhFGc/edit?gid=32463664#gid=32463664" TargetMode="External"/><Relationship Id="rId4" Type="http://schemas.openxmlformats.org/officeDocument/2006/relationships/hyperlink" Target="https://docs.google.com/spreadsheets/d/1k4Eka4V66kuaJbzHaxev9mjP798zW-tFkppVsQu8Ylk/edit?gid=32463664#gid=32463664" TargetMode="External"/><Relationship Id="rId5" Type="http://schemas.openxmlformats.org/officeDocument/2006/relationships/hyperlink" Target="https://docs.google.com/spreadsheets/d/1cov8Opj6CX5crfitypZ662zEHCsDJFcDOESayqlgTtg/edit?gid=32463664#gid=32463664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acceleratorcentre.com/" TargetMode="External"/><Relationship Id="rId4" Type="http://schemas.openxmlformats.org/officeDocument/2006/relationships/hyperlink" Target="https://www.lamaison.ai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BLOOMING x EventGen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Actions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April 18 to June 5h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232300" y="482650"/>
            <a:ext cx="8520600" cy="40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EventGen — Pipeline Metrics Review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As of June 5, 2026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🏛️ VENUES</a:t>
            </a:r>
            <a:r>
              <a:rPr lang="en" sz="1100">
                <a:solidFill>
                  <a:schemeClr val="dk1"/>
                </a:solidFill>
              </a:rPr>
              <a:t> Total sourced: ~90 venues Confirmed: ~15 In Discussion: ~18 Emailed/Outreach sent: ~35 Formed/Form sent: ~12 Not interested: ~3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Cities covered: San Francisco, Los Angeles, Austin, New York, Toronto, London, Paris, Berlin, Singapore — </a:t>
            </a:r>
            <a:r>
              <a:rPr b="1" lang="en" sz="1100">
                <a:solidFill>
                  <a:schemeClr val="dk1"/>
                </a:solidFill>
              </a:rPr>
              <a:t>9 cities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🎥 MEDIA VENDORS</a:t>
            </a:r>
            <a:r>
              <a:rPr lang="en" sz="1100">
                <a:solidFill>
                  <a:schemeClr val="dk1"/>
                </a:solidFill>
              </a:rPr>
              <a:t> Total sourced: ~30 vendors Confirmed: ~18 In Discussion: ~4 Emailed: ~8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Cities covered: SF, LA, NY, Toronto, London, Paris, Berlin, Seattle, Austin, Singapore — </a:t>
            </a:r>
            <a:r>
              <a:rPr b="1" lang="en" sz="1100">
                <a:solidFill>
                  <a:schemeClr val="dk1"/>
                </a:solidFill>
              </a:rPr>
              <a:t>10 cities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📊 COMBINED</a:t>
            </a:r>
            <a:r>
              <a:rPr lang="en" sz="1100">
                <a:solidFill>
                  <a:schemeClr val="dk1"/>
                </a:solidFill>
              </a:rPr>
              <a:t> Total contacts in database: </a:t>
            </a:r>
            <a:r>
              <a:rPr b="1" lang="en" sz="1100">
                <a:solidFill>
                  <a:schemeClr val="dk1"/>
                </a:solidFill>
              </a:rPr>
              <a:t>~120</a:t>
            </a:r>
            <a:r>
              <a:rPr lang="en" sz="1100">
                <a:solidFill>
                  <a:schemeClr val="dk1"/>
                </a:solidFill>
              </a:rPr>
              <a:t> Confirmed relationships: </a:t>
            </a:r>
            <a:r>
              <a:rPr b="1" lang="en" sz="1100">
                <a:solidFill>
                  <a:schemeClr val="dk1"/>
                </a:solidFill>
              </a:rPr>
              <a:t>~33</a:t>
            </a:r>
            <a:r>
              <a:rPr lang="en" sz="1100">
                <a:solidFill>
                  <a:schemeClr val="dk1"/>
                </a:solidFill>
              </a:rPr>
              <a:t> Active pipeline (In Discussion): </a:t>
            </a:r>
            <a:r>
              <a:rPr b="1" lang="en" sz="1100">
                <a:solidFill>
                  <a:schemeClr val="dk1"/>
                </a:solidFill>
              </a:rPr>
              <a:t>~22</a:t>
            </a:r>
            <a:r>
              <a:rPr lang="en" sz="1100">
                <a:solidFill>
                  <a:schemeClr val="dk1"/>
                </a:solidFill>
              </a:rPr>
              <a:t> Conversion rate (Confirmed/Total): </a:t>
            </a:r>
            <a:r>
              <a:rPr b="1" lang="en" sz="1100">
                <a:solidFill>
                  <a:schemeClr val="dk1"/>
                </a:solidFill>
              </a:rPr>
              <a:t>~27%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highlights :</a:t>
            </a:r>
            <a:endParaRPr b="1" sz="1100">
              <a:solidFill>
                <a:schemeClr val="dk1"/>
              </a:solidFill>
            </a:endParaRPr>
          </a:p>
          <a:p>
            <a:pPr indent="-26177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Strong confirmation rate at 27%</a:t>
            </a:r>
            <a:endParaRPr sz="1100">
              <a:solidFill>
                <a:schemeClr val="dk1"/>
              </a:solidFill>
            </a:endParaRPr>
          </a:p>
          <a:p>
            <a:pPr indent="-2617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Berlin and Singapore fully sourced with confirmed vendors</a:t>
            </a:r>
            <a:endParaRPr sz="1100">
              <a:solidFill>
                <a:schemeClr val="dk1"/>
              </a:solidFill>
            </a:endParaRPr>
          </a:p>
          <a:p>
            <a:pPr indent="-2617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NY and LA have the deepest venue pipelines</a:t>
            </a:r>
            <a:endParaRPr sz="1100">
              <a:solidFill>
                <a:schemeClr val="dk1"/>
              </a:solidFill>
            </a:endParaRPr>
          </a:p>
          <a:p>
            <a:pPr indent="-2617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Media vendor network already operational in all 9 markets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Cities in us  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City</a:t>
            </a:r>
            <a:endParaRPr b="1"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San Francisco</a:t>
            </a:r>
            <a:endParaRPr sz="1400">
              <a:solidFill>
                <a:srgbClr val="000000"/>
              </a:solidFill>
            </a:endParaRPr>
          </a:p>
          <a:p>
            <a:pPr indent="-2841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Digital Garage, need to work on </a:t>
            </a:r>
            <a:r>
              <a:rPr lang="en" sz="1400">
                <a:solidFill>
                  <a:srgbClr val="000000"/>
                </a:solidFill>
              </a:rPr>
              <a:t>layout, partnership on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New York</a:t>
            </a:r>
            <a:endParaRPr sz="1400">
              <a:solidFill>
                <a:srgbClr val="000000"/>
              </a:solidFill>
            </a:endParaRPr>
          </a:p>
          <a:p>
            <a:pPr indent="-2841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The Box House Hotel </a:t>
            </a:r>
            <a:endParaRPr sz="1400">
              <a:solidFill>
                <a:srgbClr val="000000"/>
              </a:solidFill>
            </a:endParaRPr>
          </a:p>
          <a:p>
            <a:pPr indent="-2841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VESPER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⇒ i have a call on tuesday to streamline detail, catering is in-house and i have doubt about the av if included or not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Los Angeles</a:t>
            </a:r>
            <a:endParaRPr sz="1400">
              <a:solidFill>
                <a:srgbClr val="000000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Char char="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Hype Studios</a:t>
            </a:r>
            <a:r>
              <a:rPr lang="en" sz="1100" u="sng">
                <a:solidFill>
                  <a:schemeClr val="hlink"/>
                </a:solidFill>
              </a:rPr>
              <a:t> = great venue</a:t>
            </a:r>
            <a:endParaRPr sz="1100" u="sng">
              <a:solidFill>
                <a:schemeClr val="hlink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Char char="●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Hot Shot Muffler</a:t>
            </a:r>
            <a:r>
              <a:rPr lang="en" sz="1100" u="sng">
                <a:solidFill>
                  <a:schemeClr val="hlink"/>
                </a:solidFill>
              </a:rPr>
              <a:t> - too small but they have great av </a:t>
            </a:r>
            <a:endParaRPr sz="1100" u="sng">
              <a:solidFill>
                <a:schemeClr val="hlink"/>
              </a:solidFill>
            </a:endParaRPr>
          </a:p>
          <a:p>
            <a:pPr indent="-272256" lvl="0" marL="45720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Char char="●"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Skyline Penthouse</a:t>
            </a:r>
            <a:r>
              <a:rPr lang="en" sz="1100" u="sng">
                <a:solidFill>
                  <a:schemeClr val="hlink"/>
                </a:solidFill>
              </a:rPr>
              <a:t> - waiting for specs 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Austin</a:t>
            </a:r>
            <a:endParaRPr sz="1400">
              <a:solidFill>
                <a:srgbClr val="000000"/>
              </a:solidFill>
            </a:endParaRPr>
          </a:p>
          <a:p>
            <a:pPr indent="-2841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Wanderlust - Shady Lane</a:t>
            </a:r>
            <a:endParaRPr sz="1400">
              <a:solidFill>
                <a:srgbClr val="000000"/>
              </a:solidFill>
            </a:endParaRPr>
          </a:p>
          <a:p>
            <a:pPr indent="-2841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Wanderlust - Downtown</a:t>
            </a:r>
            <a:endParaRPr sz="1400">
              <a:solidFill>
                <a:srgbClr val="000000"/>
              </a:solidFill>
            </a:endParaRPr>
          </a:p>
          <a:p>
            <a:pPr indent="-2841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Wanderlust - Barton Springs</a:t>
            </a:r>
            <a:endParaRPr sz="1400">
              <a:solidFill>
                <a:srgbClr val="000000"/>
              </a:solidFill>
            </a:endParaRPr>
          </a:p>
          <a:p>
            <a:pPr indent="-2841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Regal room</a:t>
            </a:r>
            <a:endParaRPr sz="1400">
              <a:solidFill>
                <a:srgbClr val="000000"/>
              </a:solidFill>
            </a:endParaRPr>
          </a:p>
          <a:p>
            <a:pPr indent="-2841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dadaLab call on wednesday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Seattle</a:t>
            </a:r>
            <a:endParaRPr sz="1400">
              <a:solidFill>
                <a:srgbClr val="000000"/>
              </a:solidFill>
            </a:endParaRPr>
          </a:p>
          <a:p>
            <a:pPr indent="-2841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1712 Studios </a:t>
            </a:r>
            <a:endParaRPr sz="1400">
              <a:solidFill>
                <a:srgbClr val="000000"/>
              </a:solidFill>
            </a:endParaRPr>
          </a:p>
          <a:p>
            <a:pPr indent="-28416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Block 41 wqe need to send the layout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Cities out of US  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City</a:t>
            </a:r>
            <a:endParaRPr b="1"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Venues</a:t>
            </a:r>
            <a:endParaRPr b="1"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London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1 = Tobacco Dock = Complex venue because we need to work with their Caterer. I had a call with the sales director on june 5th, they want to work with us but it will take several back and forth. The commission will be 8%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New Venues I haven’t reached out yet (recommendation from vendors): 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https://www.acceleratorcentre.com/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Paris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0 Fully confirmed completing full requirement (150+) - warm lead with Station F, he will come back to me week 8th of june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1 small one: Equiria 50 ppl in theater 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1 lead with mk2, call on wednesday 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1 conversation with La Maison -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https://www.lamaison.ai/</a:t>
            </a:r>
            <a:r>
              <a:rPr lang="en" sz="1400">
                <a:solidFill>
                  <a:srgbClr val="000000"/>
                </a:solidFill>
              </a:rPr>
              <a:t> - need to circle back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Berlin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SpaceShack, very happy to be working with us, we can count them as </a:t>
            </a:r>
            <a:r>
              <a:rPr lang="en" sz="1400">
                <a:solidFill>
                  <a:srgbClr val="000000"/>
                </a:solidFill>
              </a:rPr>
              <a:t>partners</a:t>
            </a:r>
            <a:r>
              <a:rPr lang="en" sz="1400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Forum Factory and Backspace Berlin are from the same entity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Toronto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1 Startuptive, 75 in theater style, too small 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1 warm lead: CSI she is busy this week but will come back to us week of 8th of june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Singapore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1 </a:t>
            </a:r>
            <a:r>
              <a:rPr lang="en" sz="1400">
                <a:solidFill>
                  <a:srgbClr val="000000"/>
                </a:solidFill>
              </a:rPr>
              <a:t>confirmed</a:t>
            </a:r>
            <a:r>
              <a:rPr lang="en" sz="1400">
                <a:solidFill>
                  <a:srgbClr val="000000"/>
                </a:solidFill>
              </a:rPr>
              <a:t> but small 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1 in conversation call in wednesday </a:t>
            </a:r>
            <a:endParaRPr sz="1400"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Need to reactivate contact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Caterers 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has been harder because we need to call them at the right time to catch their </a:t>
            </a:r>
            <a:r>
              <a:rPr lang="en"/>
              <a:t>attention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Confirmed: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Los Angeles - MBM Hospitality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Berlin - Bellabona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 Angeles - Pino's Sandwiches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Emailed:</a:t>
            </a:r>
            <a:r>
              <a:rPr lang="en" sz="1100">
                <a:solidFill>
                  <a:schemeClr val="dk1"/>
                </a:solidFill>
              </a:rPr>
              <a:t> ~27 </a:t>
            </a:r>
            <a:r>
              <a:rPr b="1" lang="en" sz="1100">
                <a:solidFill>
                  <a:schemeClr val="dk1"/>
                </a:solidFill>
              </a:rPr>
              <a:t>Formed:</a:t>
            </a:r>
            <a:r>
              <a:rPr lang="en" sz="1100">
                <a:solidFill>
                  <a:schemeClr val="dk1"/>
                </a:solidFill>
              </a:rPr>
              <a:t> ~15 </a:t>
            </a:r>
            <a:r>
              <a:rPr b="1" lang="en" sz="1100">
                <a:solidFill>
                  <a:schemeClr val="dk1"/>
                </a:solidFill>
              </a:rPr>
              <a:t>Sourced:</a:t>
            </a:r>
            <a:r>
              <a:rPr lang="en" sz="1100">
                <a:solidFill>
                  <a:schemeClr val="dk1"/>
                </a:solidFill>
              </a:rPr>
              <a:t> ~3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Total reached: ~45 contacts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In-house Caterer: </a:t>
            </a:r>
            <a:endParaRPr b="1"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n" sz="1100">
                <a:solidFill>
                  <a:schemeClr val="dk1"/>
                </a:solidFill>
              </a:rPr>
              <a:t>London </a:t>
            </a:r>
            <a:endParaRPr b="1"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n" sz="1100">
                <a:solidFill>
                  <a:schemeClr val="dk1"/>
                </a:solidFill>
              </a:rPr>
              <a:t>NYC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Next expectations: </a:t>
            </a:r>
            <a:endParaRPr b="1" sz="1100">
              <a:solidFill>
                <a:schemeClr val="dk1"/>
              </a:solidFill>
            </a:endParaRPr>
          </a:p>
          <a:p>
            <a:pPr indent="-25654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n" sz="1100">
                <a:solidFill>
                  <a:schemeClr val="dk1"/>
                </a:solidFill>
              </a:rPr>
              <a:t>Austin, will receive rec from Regal Roon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Confirmed:</a:t>
            </a:r>
            <a:r>
              <a:rPr lang="en" sz="1100">
                <a:solidFill>
                  <a:schemeClr val="dk1"/>
                </a:solidFill>
              </a:rPr>
              <a:t> ~18 </a:t>
            </a:r>
            <a:r>
              <a:rPr b="1" lang="en" sz="1100">
                <a:solidFill>
                  <a:schemeClr val="dk1"/>
                </a:solidFill>
              </a:rPr>
              <a:t>Emailed:</a:t>
            </a:r>
            <a:r>
              <a:rPr lang="en" sz="1100">
                <a:solidFill>
                  <a:schemeClr val="dk1"/>
                </a:solidFill>
              </a:rPr>
              <a:t> ~8 </a:t>
            </a:r>
            <a:r>
              <a:rPr b="1" lang="en" sz="1100">
                <a:solidFill>
                  <a:schemeClr val="dk1"/>
                </a:solidFill>
              </a:rPr>
              <a:t>In Discussion:</a:t>
            </a:r>
            <a:r>
              <a:rPr lang="en" sz="1100">
                <a:solidFill>
                  <a:schemeClr val="dk1"/>
                </a:solidFill>
              </a:rPr>
              <a:t> ~4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Total media vendors sourced: ~30 vendors</a:t>
            </a:r>
            <a:r>
              <a:rPr lang="en" sz="1100">
                <a:solidFill>
                  <a:schemeClr val="dk1"/>
                </a:solidFill>
              </a:rPr>
              <a:t> across SF, LA, Paris, New York, Toronto, London, Berlin, Seattle, Austin, Singapore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