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4060" y="444399"/>
            <a:ext cx="106984" cy="263347"/>
          </a:xfrm>
          <a:prstGeom prst="ellipse">
            <a:avLst/>
          </a:prstGeom>
          <a:solidFill>
            <a:srgbClr val="5C6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4060" y="608991"/>
            <a:ext cx="106984" cy="263347"/>
          </a:xfrm>
          <a:prstGeom prst="ellipse">
            <a:avLst/>
          </a:prstGeom>
          <a:solidFill>
            <a:srgbClr val="5C6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07746" y="604876"/>
            <a:ext cx="263347" cy="106984"/>
          </a:xfrm>
          <a:prstGeom prst="ellipse">
            <a:avLst/>
          </a:prstGeom>
          <a:solidFill>
            <a:srgbClr val="8B7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4011" y="604876"/>
            <a:ext cx="263347" cy="106984"/>
          </a:xfrm>
          <a:prstGeom prst="ellipse">
            <a:avLst/>
          </a:prstGeom>
          <a:solidFill>
            <a:srgbClr val="8B7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4060" y="604876"/>
            <a:ext cx="106984" cy="106984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61872" y="56692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Space Grotesk"/>
              </a:rPr>
              <a:t>BLOOMING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37160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0" i="0">
                <a:solidFill>
                  <a:srgbClr val="1A1A1A"/>
                </a:solidFill>
                <a:latin typeface="Cormorant Garamond"/>
              </a:rPr>
              <a:t>Bond.ai Community × Blooming</a:t>
            </a:r>
          </a:p>
          <a:p>
            <a:pPr algn="l">
              <a:spcBef>
                <a:spcPts val="400"/>
              </a:spcBef>
            </a:pPr>
            <a:r>
              <a:rPr sz="4200" b="0" i="1">
                <a:solidFill>
                  <a:srgbClr val="5C6B5A"/>
                </a:solidFill>
                <a:latin typeface="Cormorant Garamond"/>
              </a:rPr>
              <a:t>Pilot Partnership.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520440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  <a:latin typeface="Space Grotesk"/>
              </a:rPr>
              <a:t>AI Hackathon  ·  San Francisco  ·  May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4005072"/>
            <a:ext cx="1188720" cy="237744"/>
          </a:xfrm>
          <a:prstGeom prst="rect">
            <a:avLst/>
          </a:prstGeom>
          <a:noFill/>
          <a:ln w="6350">
            <a:solidFill>
              <a:srgbClr val="E0D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4032504"/>
            <a:ext cx="1051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888888"/>
                </a:solidFill>
                <a:latin typeface="Space Grotesk"/>
              </a:rPr>
              <a:t>APRIL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943600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Space Grotesk"/>
              </a:rPr>
              <a:t>Prepared by Alison Granger, Co-Founder &amp; CEO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594360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888888"/>
                </a:solidFill>
                <a:latin typeface="Space Grotesk"/>
              </a:rPr>
              <a:t>BLOOMING  ×  BOND.AI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41908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AAA8A4"/>
                </a:solidFill>
                <a:latin typeface="Space Grotesk"/>
              </a:rPr>
              <a:t>Blooming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641908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 i="0">
                <a:solidFill>
                  <a:srgbClr val="AAA8A4"/>
                </a:solidFill>
                <a:latin typeface="Space Grotesk"/>
              </a:rPr>
              <a:t>weareblooming.co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777240" y="987552"/>
            <a:ext cx="292608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77240" y="749808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C6B5A"/>
                </a:solidFill>
                <a:latin typeface="Space Grotesk"/>
              </a:rPr>
              <a:t>THE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97280"/>
            <a:ext cx="9144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1A1A1A"/>
                </a:solidFill>
                <a:latin typeface="Cormorant Garamond"/>
              </a:rPr>
              <a:t>Two operators.</a:t>
            </a:r>
          </a:p>
          <a:p>
            <a:pPr algn="l">
              <a:spcBef>
                <a:spcPts val="400"/>
              </a:spcBef>
            </a:pPr>
            <a:r>
              <a:rPr sz="3000" b="0" i="1">
                <a:solidFill>
                  <a:srgbClr val="5C6B5A"/>
                </a:solidFill>
                <a:latin typeface="Cormorant Garamond"/>
              </a:rPr>
              <a:t>One gap worth closing.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395728"/>
            <a:ext cx="36576" cy="658368"/>
          </a:xfrm>
          <a:prstGeom prst="rect">
            <a:avLst/>
          </a:prstGeom>
          <a:solidFill>
            <a:srgbClr val="C4B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37744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555555"/>
                </a:solidFill>
                <a:latin typeface="Cormorant Garamond"/>
              </a:rPr>
              <a:t>This Tuesday, Sahar and I met for the first time, which was a great encounter, considering how many events we've both been at on the same Luma page. We've been orbiting the same ecosystem for several years. This is good momentum.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24612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C6B5A"/>
                </a:solidFill>
                <a:latin typeface="Cormorant Garamond"/>
              </a:rPr>
              <a:t>What Bond brings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56616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  <a:latin typeface="Space Grotesk"/>
              </a:rPr>
              <a:t>–  Audience trust — companies follow AI Tidbits, attend Bond events</a:t>
            </a:r>
          </a:p>
          <a:p>
            <a:pPr algn="l">
              <a:spcBef>
                <a:spcPts val="400"/>
              </a:spcBef>
            </a:pPr>
            <a:r>
              <a:rPr sz="850" b="0" i="0">
                <a:solidFill>
                  <a:srgbClr val="555555"/>
                </a:solidFill>
                <a:latin typeface="Space Grotesk"/>
              </a:rPr>
              <a:t>–  Sponsor relationships built over years in the SF AI ecosystem</a:t>
            </a:r>
          </a:p>
          <a:p>
            <a:pPr algn="l">
              <a:spcBef>
                <a:spcPts val="400"/>
              </a:spcBef>
            </a:pPr>
            <a:r>
              <a:rPr sz="850" b="0" i="0">
                <a:solidFill>
                  <a:srgbClr val="555555"/>
                </a:solidFill>
                <a:latin typeface="Space Grotesk"/>
              </a:rPr>
              <a:t>–  Inbound demand from companies who can't replicate that reach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24612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C6B5A"/>
                </a:solidFill>
                <a:latin typeface="Cormorant Garamond"/>
              </a:rPr>
              <a:t>What Blooming brings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56616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  <a:latin typeface="Space Grotesk"/>
              </a:rPr>
              <a:t>–  Production engine — 150+ events: IBM, NVIDIA, Google, Canva</a:t>
            </a:r>
          </a:p>
          <a:p>
            <a:pPr algn="l">
              <a:spcBef>
                <a:spcPts val="400"/>
              </a:spcBef>
            </a:pPr>
            <a:r>
              <a:rPr sz="850" b="0" i="0">
                <a:solidFill>
                  <a:srgbClr val="555555"/>
                </a:solidFill>
                <a:latin typeface="Space Grotesk"/>
              </a:rPr>
              <a:t>–  Alison Granger AI Ecosystem network — 70K+ reach, 15k dev community credibility in SF</a:t>
            </a:r>
          </a:p>
          <a:p>
            <a:pPr algn="l">
              <a:spcBef>
                <a:spcPts val="400"/>
              </a:spcBef>
            </a:pPr>
            <a:r>
              <a:rPr sz="850" b="0" i="0">
                <a:solidFill>
                  <a:srgbClr val="555555"/>
                </a:solidFill>
                <a:latin typeface="Space Grotesk"/>
              </a:rPr>
              <a:t>–  Flawless execution under tight timelines, every time, each timezone.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7240" y="4846320"/>
            <a:ext cx="10652760" cy="0"/>
          </a:xfrm>
          <a:prstGeom prst="line">
            <a:avLst/>
          </a:prstGeom>
          <a:ln w="6350">
            <a:solidFill>
              <a:srgbClr val="E0DD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77240" y="495604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88888"/>
                </a:solidFill>
                <a:latin typeface="Cormorant Garamond"/>
              </a:rPr>
              <a:t>Sahar brings audience reach and sponsor relationships. Alison brings production excellence and developer community credibility. Together, we deliver what companies we know expect at the level they demand.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41908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AAA8A4"/>
                </a:solidFill>
                <a:latin typeface="Space Grotesk"/>
              </a:rPr>
              <a:t>Blooming × Bond.ai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641908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 i="0">
                <a:solidFill>
                  <a:srgbClr val="AAA8A4"/>
                </a:solidFill>
                <a:latin typeface="Space Grotesk"/>
              </a:rPr>
              <a:t>weareblooming.co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777240" y="987552"/>
            <a:ext cx="292608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77240" y="749808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C6B5A"/>
                </a:solidFill>
                <a:latin typeface="Space Grotesk"/>
              </a:rPr>
              <a:t>THE 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972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1A1A1A"/>
                </a:solidFill>
                <a:latin typeface="Cormorant Garamond"/>
              </a:rPr>
              <a:t>One event to</a:t>
            </a:r>
          </a:p>
          <a:p>
            <a:pPr algn="l">
              <a:spcBef>
                <a:spcPts val="400"/>
              </a:spcBef>
            </a:pPr>
            <a:r>
              <a:rPr sz="3000" b="0" i="1">
                <a:solidFill>
                  <a:srgbClr val="5C6B5A"/>
                </a:solidFill>
                <a:latin typeface="Cormorant Garamond"/>
              </a:rPr>
              <a:t>test the format.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67712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5C6B5A"/>
                </a:solidFill>
                <a:latin typeface="Space Grotesk"/>
              </a:rPr>
              <a:t>FORMAT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50592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ormorant Garamond"/>
              </a:rPr>
              <a:t>1-Day AI Hackathon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2267712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5C6B5A"/>
                </a:solidFill>
                <a:latin typeface="Space Grotesk"/>
              </a:rPr>
              <a:t>ATTENDEES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450592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ormorant Garamond"/>
              </a:rPr>
              <a:t>80 Qualified Builders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57800" y="2267712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5C6B5A"/>
                </a:solidFill>
                <a:latin typeface="Space Grotesk"/>
              </a:rPr>
              <a:t>LOCATION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57800" y="2450592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ormorant Garamond"/>
              </a:rPr>
              <a:t>San Francisco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0" y="2267712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5C6B5A"/>
                </a:solidFill>
                <a:latin typeface="Space Grotesk"/>
              </a:rPr>
              <a:t>TIMING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0" y="2450592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ormorant Garamond"/>
              </a:rPr>
              <a:t>Mid–End of May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38360" y="2267712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5C6B5A"/>
                </a:solidFill>
                <a:latin typeface="Space Grotesk"/>
              </a:rPr>
              <a:t>SPONSORS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38360" y="2450592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ormorant Garamond"/>
              </a:rPr>
              <a:t>Starting at 2 Companies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7240" y="2834640"/>
            <a:ext cx="10652760" cy="0"/>
          </a:xfrm>
          <a:prstGeom prst="line">
            <a:avLst/>
          </a:prstGeom>
          <a:ln w="6350">
            <a:solidFill>
              <a:srgbClr val="E0DD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77240" y="294436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C6B5A"/>
                </a:solidFill>
                <a:latin typeface="Cormorant Garamond"/>
              </a:rPr>
              <a:t>Bond · AI Tidbits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273552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  <a:latin typeface="Space Grotesk"/>
              </a:rPr>
              <a:t>–  Leads sponsor outreach and closes deals</a:t>
            </a:r>
          </a:p>
          <a:p>
            <a:pPr algn="l">
              <a:spcBef>
                <a:spcPts val="400"/>
              </a:spcBef>
            </a:pPr>
            <a:r>
              <a:rPr sz="850" b="0" i="0">
                <a:solidFill>
                  <a:srgbClr val="555555"/>
                </a:solidFill>
                <a:latin typeface="Space Grotesk"/>
              </a:rPr>
              <a:t>–  Pays event expenses upfront to Blooming Events.</a:t>
            </a:r>
          </a:p>
          <a:p>
            <a:pPr algn="l">
              <a:spcBef>
                <a:spcPts val="400"/>
              </a:spcBef>
            </a:pPr>
            <a:r>
              <a:rPr sz="850" b="0" i="0">
                <a:solidFill>
                  <a:srgbClr val="555555"/>
                </a:solidFill>
                <a:latin typeface="Space Grotesk"/>
              </a:rPr>
              <a:t>–  Brings Bond audience and AI Tidbits community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94436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C6B5A"/>
                </a:solidFill>
                <a:latin typeface="Cormorant Garamond"/>
              </a:rPr>
              <a:t>Blooming Events by Alison Granger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273552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  <a:latin typeface="Space Grotesk"/>
              </a:rPr>
              <a:t>–  Leads full production and logistics online</a:t>
            </a:r>
          </a:p>
          <a:p>
            <a:pPr algn="l">
              <a:spcBef>
                <a:spcPts val="400"/>
              </a:spcBef>
            </a:pPr>
            <a:r>
              <a:rPr sz="850" b="0" i="0">
                <a:solidFill>
                  <a:srgbClr val="555555"/>
                </a:solidFill>
                <a:latin typeface="Space Grotesk"/>
              </a:rPr>
              <a:t>–  Brings curated attendees list for participant outreach</a:t>
            </a:r>
          </a:p>
          <a:p>
            <a:pPr algn="l">
              <a:spcBef>
                <a:spcPts val="400"/>
              </a:spcBef>
            </a:pPr>
            <a:r>
              <a:rPr sz="850" b="0" i="0">
                <a:solidFill>
                  <a:srgbClr val="555555"/>
                </a:solidFill>
                <a:latin typeface="Space Grotesk"/>
              </a:rPr>
              <a:t>–  Manages day-of presence the day of the hackathon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77240" y="4553712"/>
            <a:ext cx="10652760" cy="0"/>
          </a:xfrm>
          <a:prstGeom prst="line">
            <a:avLst/>
          </a:prstGeom>
          <a:ln w="6350">
            <a:solidFill>
              <a:srgbClr val="E0DD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77240" y="4681728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ormorant Garamond"/>
              </a:rPr>
              <a:t>80%+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193792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5C6B5A"/>
                </a:solidFill>
                <a:latin typeface="Space Grotesk"/>
              </a:rPr>
              <a:t>ATTENDEE SATISFACTION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4681728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ormorant Garamond"/>
              </a:rPr>
              <a:t>100+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5193792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5C6B5A"/>
                </a:solidFill>
                <a:latin typeface="Space Grotesk"/>
              </a:rPr>
              <a:t>EVENTS ARCHITECTED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2440" y="4681728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ormorant Garamond"/>
              </a:rPr>
              <a:t>10+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2440" y="5193792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5C6B5A"/>
                </a:solidFill>
                <a:latin typeface="Space Grotesk"/>
              </a:rPr>
              <a:t>YEARS OPERATING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641908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AAA8A4"/>
                </a:solidFill>
                <a:latin typeface="Space Grotesk"/>
              </a:rPr>
              <a:t>Blooming × Bond.ai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641908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 i="0">
                <a:solidFill>
                  <a:srgbClr val="AAA8A4"/>
                </a:solidFill>
                <a:latin typeface="Space Grotesk"/>
              </a:rPr>
              <a:t>weareblooming.co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777240" y="987552"/>
            <a:ext cx="292608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77240" y="749808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C6B5A"/>
                </a:solidFill>
                <a:latin typeface="Space Grotesk"/>
              </a:rPr>
              <a:t>HACKATHON THEMES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972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1A1A1A"/>
                </a:solidFill>
                <a:latin typeface="Cormorant Garamond"/>
              </a:rPr>
              <a:t>Three</a:t>
            </a:r>
          </a:p>
          <a:p>
            <a:pPr algn="l"/>
            <a:r>
              <a:rPr sz="3000" b="0" i="1">
                <a:solidFill>
                  <a:srgbClr val="5C6B5A"/>
                </a:solidFill>
                <a:latin typeface="Cormorant Garamond"/>
              </a:rPr>
              <a:t>directions.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2148840"/>
            <a:ext cx="10652760" cy="0"/>
          </a:xfrm>
          <a:prstGeom prst="line">
            <a:avLst/>
          </a:prstGeom>
          <a:ln w="6350">
            <a:solidFill>
              <a:srgbClr val="E0DD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2240280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Cormorant Garamond"/>
              </a:rPr>
              <a:t>AI Agents in Production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6032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888888"/>
                </a:solidFill>
                <a:latin typeface="Space Grotesk"/>
              </a:rPr>
              <a:t>Build agents that ship real impact through demos.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3154680"/>
            <a:ext cx="10652760" cy="0"/>
          </a:xfrm>
          <a:prstGeom prst="line">
            <a:avLst/>
          </a:prstGeom>
          <a:ln w="6350">
            <a:solidFill>
              <a:srgbClr val="E0DD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77240" y="3246120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Cormorant Garamond"/>
              </a:rPr>
              <a:t>AI for Developer Productivity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56616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888888"/>
                </a:solidFill>
                <a:latin typeface="Space Grotesk"/>
              </a:rPr>
              <a:t>Build AI tools that make developers 10× more productive.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7240" y="4160520"/>
            <a:ext cx="10652760" cy="0"/>
          </a:xfrm>
          <a:prstGeom prst="line">
            <a:avLst/>
          </a:prstGeom>
          <a:ln w="6350">
            <a:solidFill>
              <a:srgbClr val="E0DD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77240" y="4251960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1A"/>
                </a:solidFill>
                <a:latin typeface="Cormorant Garamond"/>
              </a:rPr>
              <a:t>AI for GTM &amp; Growth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57200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888888"/>
                </a:solidFill>
                <a:latin typeface="Space Grotesk"/>
              </a:rPr>
              <a:t>Build AI tools for sales, marketing, and growth teams.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77240" y="5166360"/>
            <a:ext cx="10652760" cy="0"/>
          </a:xfrm>
          <a:prstGeom prst="line">
            <a:avLst/>
          </a:prstGeom>
          <a:ln w="6350">
            <a:solidFill>
              <a:srgbClr val="E0DD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777240" y="5276088"/>
            <a:ext cx="27432" cy="502920"/>
          </a:xfrm>
          <a:prstGeom prst="rect">
            <a:avLst/>
          </a:prstGeom>
          <a:solidFill>
            <a:srgbClr val="C4B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52578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  <a:latin typeface="Cormorant Garamond"/>
              </a:rPr>
              <a:t>Work in progress — this is the core work of the collaboration. Example: "My ICP is primarily startup founders (Series A and below) — do you have a sense of the demographics of the attendees?" · 15k attendees list · Portfolio for reference · Last past event: high interest in Live Demo format · 120 attendees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41908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AAA8A4"/>
                </a:solidFill>
                <a:latin typeface="Space Grotesk"/>
              </a:rPr>
              <a:t>Blooming × Bond.ai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641908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 i="0">
                <a:solidFill>
                  <a:srgbClr val="AAA8A4"/>
                </a:solidFill>
                <a:latin typeface="Space Grotesk"/>
              </a:rPr>
              <a:t>weareblooming.co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777240" y="987552"/>
            <a:ext cx="292608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77240" y="749808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C6B5A"/>
                </a:solidFill>
                <a:latin typeface="Space Grotesk"/>
              </a:rPr>
              <a:t>ONCE CONTRACT SIGNED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972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1">
                <a:solidFill>
                  <a:srgbClr val="5C6B5A"/>
                </a:solidFill>
                <a:latin typeface="Cormorant Garamond"/>
              </a:rPr>
              <a:t>Immediate</a:t>
            </a:r>
          </a:p>
          <a:p>
            <a:pPr algn="l"/>
            <a:r>
              <a:rPr sz="3000" b="0" i="0">
                <a:solidFill>
                  <a:srgbClr val="1A1A1A"/>
                </a:solidFill>
                <a:latin typeface="Cormorant Garamond"/>
              </a:rPr>
              <a:t>deliverables.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40280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C6B5A"/>
                </a:solidFill>
                <a:latin typeface="Cormorant Garamond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6888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ormorant Garamond"/>
              </a:rPr>
              <a:t>Overall Schedule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907792"/>
            <a:ext cx="3566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  <a:latin typeface="Space Grotesk"/>
              </a:rPr>
              <a:t>–  Sharing trusted inputs about pre-event, day-of, and post-event milestones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36008" y="2240280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C6B5A"/>
                </a:solidFill>
                <a:latin typeface="Cormorant Garamond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36008" y="246888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ormorant Garamond"/>
              </a:rPr>
              <a:t>Operations 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8" y="2907792"/>
            <a:ext cx="3566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  <a:latin typeface="Space Grotesk"/>
              </a:rPr>
              <a:t>–  Pre-event coordination — venue, sponsors, judges, mentors, platforms</a:t>
            </a:r>
          </a:p>
          <a:p>
            <a:pPr algn="l">
              <a:spcBef>
                <a:spcPts val="500"/>
              </a:spcBef>
            </a:pPr>
            <a:r>
              <a:rPr sz="850" b="0" i="0">
                <a:solidFill>
                  <a:srgbClr val="555555"/>
                </a:solidFill>
                <a:latin typeface="Space Grotesk"/>
              </a:rPr>
              <a:t>–  Day-of execution — setup, programming, logistics</a:t>
            </a:r>
          </a:p>
          <a:p>
            <a:pPr algn="l">
              <a:spcBef>
                <a:spcPts val="500"/>
              </a:spcBef>
            </a:pPr>
            <a:r>
              <a:rPr sz="850" b="0" i="0">
                <a:solidFill>
                  <a:srgbClr val="555555"/>
                </a:solidFill>
                <a:latin typeface="Space Grotesk"/>
              </a:rPr>
              <a:t>–  Post-event wrap — deliverables, follow-ups, reporting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94776" y="2240280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C6B5A"/>
                </a:solidFill>
                <a:latin typeface="Cormorant Garamond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94776" y="246888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ormorant Garamond"/>
              </a:rPr>
              <a:t>Work Session: Define the Hackathon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94776" y="2907792"/>
            <a:ext cx="3566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  <a:latin typeface="Space Grotesk"/>
              </a:rPr>
              <a:t>–  Final theme selection — Agents, Dev Productivity, or GTM</a:t>
            </a:r>
          </a:p>
          <a:p>
            <a:pPr algn="l">
              <a:spcBef>
                <a:spcPts val="500"/>
              </a:spcBef>
            </a:pPr>
            <a:r>
              <a:rPr sz="850" b="0" i="0">
                <a:solidFill>
                  <a:srgbClr val="555555"/>
                </a:solidFill>
                <a:latin typeface="Space Grotesk"/>
              </a:rPr>
              <a:t>–  Challenge structure and prerequisites</a:t>
            </a:r>
          </a:p>
          <a:p>
            <a:pPr algn="l">
              <a:spcBef>
                <a:spcPts val="500"/>
              </a:spcBef>
            </a:pPr>
            <a:r>
              <a:rPr sz="850" b="0" i="0">
                <a:solidFill>
                  <a:srgbClr val="555555"/>
                </a:solidFill>
                <a:latin typeface="Space Grotesk"/>
              </a:rPr>
              <a:t>–  Launch publication and messaging</a:t>
            </a:r>
          </a:p>
          <a:p>
            <a:pPr algn="l">
              <a:spcBef>
                <a:spcPts val="500"/>
              </a:spcBef>
            </a:pPr>
            <a:r>
              <a:rPr sz="850" b="0" i="0">
                <a:solidFill>
                  <a:srgbClr val="555555"/>
                </a:solidFill>
                <a:latin typeface="Space Grotesk"/>
              </a:rPr>
              <a:t>–  Sponsor outreach strategy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41908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AAA8A4"/>
                </a:solidFill>
                <a:latin typeface="Space Grotesk"/>
              </a:rPr>
              <a:t>Blooming × Bond.ai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641908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 i="0">
                <a:solidFill>
                  <a:srgbClr val="AAA8A4"/>
                </a:solidFill>
                <a:latin typeface="Space Grotesk"/>
              </a:rPr>
              <a:t>weareblooming.co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777240" y="987552"/>
            <a:ext cx="292608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77240" y="749808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C6B5A"/>
                </a:solidFill>
                <a:latin typeface="Space Grotesk"/>
              </a:rPr>
              <a:t>SPONSORSHIP PACKAGE — STARTING AT $2K · PILOT TEST · AIMING FOR $5K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972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1A1A1A"/>
                </a:solidFill>
                <a:latin typeface="Cormorant Garamond"/>
              </a:rPr>
              <a:t>80 qualified builders.</a:t>
            </a:r>
          </a:p>
          <a:p>
            <a:pPr algn="l">
              <a:spcBef>
                <a:spcPts val="400"/>
              </a:spcBef>
            </a:pPr>
            <a:r>
              <a:rPr sz="3000" b="0" i="1">
                <a:solidFill>
                  <a:srgbClr val="5C6B5A"/>
                </a:solidFill>
                <a:latin typeface="Cormorant Garamond"/>
              </a:rPr>
              <a:t>8 hours. One room.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7744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C6B5A"/>
                </a:solidFill>
                <a:latin typeface="Cormorant Garamond"/>
              </a:rPr>
              <a:t>Visibility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706624"/>
            <a:ext cx="3657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Space Grotesk"/>
              </a:rPr>
              <a:t>–  Equal logo on all materials — website, emails, signage, excellent &amp; unique atmosphere</a:t>
            </a:r>
          </a:p>
          <a:p>
            <a:pPr algn="l">
              <a:spcBef>
                <a:spcPts val="400"/>
              </a:spcBef>
            </a:pPr>
            <a:r>
              <a:rPr sz="800" b="0" i="0">
                <a:solidFill>
                  <a:srgbClr val="555555"/>
                </a:solidFill>
                <a:latin typeface="Space Grotesk"/>
              </a:rPr>
              <a:t>–  Event co-branding: 'AI Hackathon powered by [Sponsors]'</a:t>
            </a:r>
          </a:p>
          <a:p>
            <a:pPr algn="l">
              <a:spcBef>
                <a:spcPts val="400"/>
              </a:spcBef>
            </a:pPr>
            <a:r>
              <a:rPr sz="800" b="0" i="0">
                <a:solidFill>
                  <a:srgbClr val="555555"/>
                </a:solidFill>
                <a:latin typeface="Space Grotesk"/>
              </a:rPr>
              <a:t>–  LinkedIn, newsletter &amp; X mentions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36008" y="237744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C6B5A"/>
                </a:solidFill>
                <a:latin typeface="Cormorant Garamond"/>
              </a:rPr>
              <a:t>Engagement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36008" y="2706624"/>
            <a:ext cx="3657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Space Grotesk"/>
              </a:rPr>
              <a:t>–  10-minute speaking slot — demo, API walkthrough, or use case</a:t>
            </a:r>
          </a:p>
          <a:p>
            <a:pPr algn="l">
              <a:spcBef>
                <a:spcPts val="400"/>
              </a:spcBef>
            </a:pPr>
            <a:r>
              <a:rPr sz="800" b="0" i="0">
                <a:solidFill>
                  <a:srgbClr val="555555"/>
                </a:solidFill>
                <a:latin typeface="Space Grotesk"/>
              </a:rPr>
              <a:t>–  Booth space with good placement</a:t>
            </a:r>
          </a:p>
          <a:p>
            <a:pPr algn="l">
              <a:spcBef>
                <a:spcPts val="400"/>
              </a:spcBef>
            </a:pPr>
            <a:r>
              <a:rPr sz="800" b="0" i="0">
                <a:solidFill>
                  <a:srgbClr val="555555"/>
                </a:solidFill>
                <a:latin typeface="Space Grotesk"/>
              </a:rPr>
              <a:t>–  Optional: 'Best use of [Company] API' prize ($500–$1,500)</a:t>
            </a:r>
          </a:p>
          <a:p>
            <a:pPr algn="l">
              <a:spcBef>
                <a:spcPts val="400"/>
              </a:spcBef>
            </a:pPr>
            <a:r>
              <a:rPr sz="800" b="0" i="0">
                <a:solidFill>
                  <a:srgbClr val="555555"/>
                </a:solidFill>
                <a:latin typeface="Space Grotesk"/>
              </a:rPr>
              <a:t>–  API credits distributed to all participants</a:t>
            </a:r>
          </a:p>
          <a:p>
            <a:pPr algn="l">
              <a:spcBef>
                <a:spcPts val="400"/>
              </a:spcBef>
            </a:pPr>
            <a:r>
              <a:rPr sz="800" b="0" i="0">
                <a:solidFill>
                  <a:srgbClr val="555555"/>
                </a:solidFill>
                <a:latin typeface="Space Grotesk"/>
              </a:rPr>
              <a:t>–  Dedicated Discord channel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94776" y="237744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C6B5A"/>
                </a:solidFill>
                <a:latin typeface="Cormorant Garamond"/>
              </a:rPr>
              <a:t>Data &amp; Access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94776" y="2706624"/>
            <a:ext cx="3657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Space Grotesk"/>
              </a:rPr>
              <a:t>–  Opt-in attendee list — names, emails, LinkedIn</a:t>
            </a:r>
          </a:p>
          <a:p>
            <a:pPr algn="l">
              <a:spcBef>
                <a:spcPts val="400"/>
              </a:spcBef>
            </a:pPr>
            <a:r>
              <a:rPr sz="800" b="0" i="0">
                <a:solidFill>
                  <a:srgbClr val="555555"/>
                </a:solidFill>
                <a:latin typeface="Space Grotesk"/>
              </a:rPr>
              <a:t>–  Warm intros to winning teams</a:t>
            </a:r>
          </a:p>
          <a:p>
            <a:pPr algn="l">
              <a:spcBef>
                <a:spcPts val="400"/>
              </a:spcBef>
            </a:pPr>
            <a:r>
              <a:rPr sz="800" b="0" i="0">
                <a:solidFill>
                  <a:srgbClr val="555555"/>
                </a:solidFill>
                <a:latin typeface="Space Grotesk"/>
              </a:rPr>
              <a:t>–  Post-event report — photos, metrics, feedback</a:t>
            </a:r>
          </a:p>
          <a:p>
            <a:pPr algn="l">
              <a:spcBef>
                <a:spcPts val="400"/>
              </a:spcBef>
            </a:pPr>
            <a:r>
              <a:rPr sz="800" b="0" i="0">
                <a:solidFill>
                  <a:srgbClr val="555555"/>
                </a:solidFill>
                <a:latin typeface="Space Grotesk"/>
              </a:rPr>
              <a:t>–  Recruiting pipeline — access to top talent in the room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7240" y="5074920"/>
            <a:ext cx="10652760" cy="0"/>
          </a:xfrm>
          <a:prstGeom prst="line">
            <a:avLst/>
          </a:prstGeom>
          <a:ln w="6350">
            <a:solidFill>
              <a:srgbClr val="E0DD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77240" y="518464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88888"/>
                </a:solidFill>
                <a:latin typeface="Cormorant Garamond"/>
              </a:rPr>
              <a:t>Prizes are paid directly by sponsors outside the sponsor fee. Each sponsor defines their own prize amount, format, and category — cash, API credits, or product licenses.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41908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AAA8A4"/>
                </a:solidFill>
                <a:latin typeface="Space Grotesk"/>
              </a:rPr>
              <a:t>Blooming × Bond.ai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641908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 i="0">
                <a:solidFill>
                  <a:srgbClr val="AAA8A4"/>
                </a:solidFill>
                <a:latin typeface="Space Grotesk"/>
              </a:rPr>
              <a:t>weareblooming.co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777240" y="987552"/>
            <a:ext cx="292608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77240" y="749808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C6B5A"/>
                </a:solidFill>
                <a:latin typeface="Space Grotesk"/>
              </a:rPr>
              <a:t>BLOOMING — SCOPE OF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972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1A1A1A"/>
                </a:solidFill>
                <a:latin typeface="Cormorant Garamond"/>
              </a:rPr>
              <a:t>The</a:t>
            </a:r>
          </a:p>
          <a:p>
            <a:pPr algn="l"/>
            <a:r>
              <a:rPr sz="3000" b="0" i="1">
                <a:solidFill>
                  <a:srgbClr val="5C6B5A"/>
                </a:solidFill>
                <a:latin typeface="Cormorant Garamond"/>
              </a:rPr>
              <a:t>Event Engine.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2140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ormorant Garamond"/>
              </a:rPr>
              <a:t>Pre-Event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77240" y="2423160"/>
            <a:ext cx="3474720" cy="0"/>
          </a:xfrm>
          <a:prstGeom prst="line">
            <a:avLst/>
          </a:prstGeom>
          <a:ln w="6350">
            <a:solidFill>
              <a:srgbClr val="E0DD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77240" y="2514600"/>
            <a:ext cx="365760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  <a:latin typeface="Space Grotesk"/>
              </a:rPr>
              <a:t>–  Venue sourcing, negotiation &amp; contract</a:t>
            </a:r>
          </a:p>
          <a:p>
            <a:pPr algn="l">
              <a:spcBef>
                <a:spcPts val="300"/>
              </a:spcBef>
            </a:pPr>
            <a:r>
              <a:rPr sz="750" b="0" i="0">
                <a:solidFill>
                  <a:srgbClr val="555555"/>
                </a:solidFill>
                <a:latin typeface="Space Grotesk"/>
              </a:rPr>
              <a:t>–  Catering coordination (80 attendees)</a:t>
            </a:r>
          </a:p>
          <a:p>
            <a:pPr algn="l">
              <a:spcBef>
                <a:spcPts val="300"/>
              </a:spcBef>
            </a:pPr>
            <a:r>
              <a:rPr sz="750" b="0" i="0">
                <a:solidFill>
                  <a:srgbClr val="555555"/>
                </a:solidFill>
                <a:latin typeface="Space Grotesk"/>
              </a:rPr>
              <a:t>–  AV/tech setup &amp; recording</a:t>
            </a:r>
          </a:p>
          <a:p>
            <a:pPr algn="l">
              <a:spcBef>
                <a:spcPts val="300"/>
              </a:spcBef>
            </a:pPr>
            <a:r>
              <a:rPr sz="750" b="0" i="0">
                <a:solidFill>
                  <a:srgbClr val="555555"/>
                </a:solidFill>
                <a:latin typeface="Space Grotesk"/>
              </a:rPr>
              <a:t>–  Secondary sponsor outreach via Alison network</a:t>
            </a:r>
          </a:p>
          <a:p>
            <a:pPr algn="l">
              <a:spcBef>
                <a:spcPts val="300"/>
              </a:spcBef>
            </a:pPr>
            <a:r>
              <a:rPr sz="750" b="0" i="0">
                <a:solidFill>
                  <a:srgbClr val="555555"/>
                </a:solidFill>
                <a:latin typeface="Space Grotesk"/>
              </a:rPr>
              <a:t>–  Sponsor coordination — challenges, prizes</a:t>
            </a:r>
          </a:p>
          <a:p>
            <a:pPr algn="l">
              <a:spcBef>
                <a:spcPts val="300"/>
              </a:spcBef>
            </a:pPr>
            <a:r>
              <a:rPr sz="750" b="0" i="0">
                <a:solidFill>
                  <a:srgbClr val="555555"/>
                </a:solidFill>
                <a:latin typeface="Space Grotesk"/>
              </a:rPr>
              <a:t>–  Curated database outreach &amp; registration</a:t>
            </a:r>
          </a:p>
          <a:p>
            <a:pPr algn="l">
              <a:spcBef>
                <a:spcPts val="300"/>
              </a:spcBef>
            </a:pPr>
            <a:r>
              <a:rPr sz="750" b="0" i="0">
                <a:solidFill>
                  <a:srgbClr val="555555"/>
                </a:solidFill>
                <a:latin typeface="Space Grotesk"/>
              </a:rPr>
              <a:t>–  Devpost setup for submissions &amp; judging</a:t>
            </a:r>
          </a:p>
          <a:p>
            <a:pPr algn="l">
              <a:spcBef>
                <a:spcPts val="300"/>
              </a:spcBef>
            </a:pPr>
            <a:r>
              <a:rPr sz="750" b="0" i="0">
                <a:solidFill>
                  <a:srgbClr val="555555"/>
                </a:solidFill>
                <a:latin typeface="Space Grotesk"/>
              </a:rPr>
              <a:t>–  Discord server — participant channels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36008" y="212140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ormorant Garamond"/>
              </a:rPr>
              <a:t>Day-Of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636008" y="2423160"/>
            <a:ext cx="3474720" cy="0"/>
          </a:xfrm>
          <a:prstGeom prst="line">
            <a:avLst/>
          </a:prstGeom>
          <a:ln w="6350">
            <a:solidFill>
              <a:srgbClr val="E0DD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636008" y="2514600"/>
            <a:ext cx="365760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  <a:latin typeface="Space Grotesk"/>
              </a:rPr>
              <a:t>–  7am: Setup — tables, chairs, signage, AV</a:t>
            </a:r>
          </a:p>
          <a:p>
            <a:pPr algn="l">
              <a:spcBef>
                <a:spcPts val="300"/>
              </a:spcBef>
            </a:pPr>
            <a:r>
              <a:rPr sz="750" b="0" i="0">
                <a:solidFill>
                  <a:srgbClr val="555555"/>
                </a:solidFill>
                <a:latin typeface="Space Grotesk"/>
              </a:rPr>
              <a:t>–  Registration desk — check-in, badges, swag</a:t>
            </a:r>
          </a:p>
          <a:p>
            <a:pPr algn="l">
              <a:spcBef>
                <a:spcPts val="300"/>
              </a:spcBef>
            </a:pPr>
            <a:r>
              <a:rPr sz="750" b="0" i="0">
                <a:solidFill>
                  <a:srgbClr val="555555"/>
                </a:solidFill>
                <a:latin typeface="Space Grotesk"/>
              </a:rPr>
              <a:t>–  Emcee/host coordination</a:t>
            </a:r>
          </a:p>
          <a:p>
            <a:pPr algn="l">
              <a:spcBef>
                <a:spcPts val="300"/>
              </a:spcBef>
            </a:pPr>
            <a:r>
              <a:rPr sz="750" b="0" i="0">
                <a:solidFill>
                  <a:srgbClr val="555555"/>
                </a:solidFill>
                <a:latin typeface="Space Grotesk"/>
              </a:rPr>
              <a:t>–  Speaker &amp; workshop timing management</a:t>
            </a:r>
          </a:p>
          <a:p>
            <a:pPr algn="l">
              <a:spcBef>
                <a:spcPts val="300"/>
              </a:spcBef>
            </a:pPr>
            <a:r>
              <a:rPr sz="750" b="0" i="0">
                <a:solidFill>
                  <a:srgbClr val="555555"/>
                </a:solidFill>
                <a:latin typeface="Space Grotesk"/>
              </a:rPr>
              <a:t>–  Mentor circulation coordination</a:t>
            </a:r>
          </a:p>
          <a:p>
            <a:pPr algn="l">
              <a:spcBef>
                <a:spcPts val="300"/>
              </a:spcBef>
            </a:pPr>
            <a:r>
              <a:rPr sz="750" b="0" i="0">
                <a:solidFill>
                  <a:srgbClr val="555555"/>
                </a:solidFill>
                <a:latin typeface="Space Grotesk"/>
              </a:rPr>
              <a:t>–  Real-time troubleshooting</a:t>
            </a:r>
          </a:p>
          <a:p>
            <a:pPr algn="l">
              <a:spcBef>
                <a:spcPts val="300"/>
              </a:spcBef>
            </a:pPr>
            <a:r>
              <a:rPr sz="750" b="0" i="0">
                <a:solidFill>
                  <a:srgbClr val="555555"/>
                </a:solidFill>
                <a:latin typeface="Space Grotesk"/>
              </a:rPr>
              <a:t>–  Demo &amp; judging logistics (5pm–7pm)</a:t>
            </a:r>
          </a:p>
          <a:p>
            <a:pPr algn="l">
              <a:spcBef>
                <a:spcPts val="300"/>
              </a:spcBef>
            </a:pPr>
            <a:r>
              <a:rPr sz="750" b="0" i="0">
                <a:solidFill>
                  <a:srgbClr val="555555"/>
                </a:solidFill>
                <a:latin typeface="Space Grotesk"/>
              </a:rPr>
              <a:t>–  Winner announcements &amp; prize handoff</a:t>
            </a:r>
          </a:p>
          <a:p>
            <a:pPr algn="l">
              <a:spcBef>
                <a:spcPts val="300"/>
              </a:spcBef>
            </a:pPr>
            <a:r>
              <a:rPr sz="750" b="0" i="0">
                <a:solidFill>
                  <a:srgbClr val="555555"/>
                </a:solidFill>
                <a:latin typeface="Space Grotesk"/>
              </a:rPr>
              <a:t>–  Venue teardown &amp; equipment return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94776" y="212140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ormorant Garamond"/>
              </a:rPr>
              <a:t>Post-Event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494776" y="2423160"/>
            <a:ext cx="3474720" cy="0"/>
          </a:xfrm>
          <a:prstGeom prst="line">
            <a:avLst/>
          </a:prstGeom>
          <a:ln w="6350">
            <a:solidFill>
              <a:srgbClr val="E0DD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494776" y="2514600"/>
            <a:ext cx="365760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  <a:latin typeface="Space Grotesk"/>
              </a:rPr>
              <a:t>–  Event report — attendance, photos, folder, metrics</a:t>
            </a:r>
          </a:p>
          <a:p>
            <a:pPr algn="l">
              <a:spcBef>
                <a:spcPts val="300"/>
              </a:spcBef>
            </a:pPr>
            <a:r>
              <a:rPr sz="750" b="0" i="0">
                <a:solidFill>
                  <a:srgbClr val="555555"/>
                </a:solidFill>
                <a:latin typeface="Space Grotesk"/>
              </a:rPr>
              <a:t>–  Opt-in attendee list to sponsors</a:t>
            </a:r>
          </a:p>
          <a:p>
            <a:pPr algn="l">
              <a:spcBef>
                <a:spcPts val="300"/>
              </a:spcBef>
            </a:pPr>
            <a:r>
              <a:rPr sz="750" b="0" i="0">
                <a:solidFill>
                  <a:srgbClr val="555555"/>
                </a:solidFill>
                <a:latin typeface="Space Grotesk"/>
              </a:rPr>
              <a:t>–  Intro emails — sponsors to winning teams</a:t>
            </a:r>
          </a:p>
          <a:p>
            <a:pPr algn="l">
              <a:spcBef>
                <a:spcPts val="300"/>
              </a:spcBef>
            </a:pPr>
            <a:r>
              <a:rPr sz="750" b="0" i="0">
                <a:solidFill>
                  <a:srgbClr val="555555"/>
                </a:solidFill>
                <a:latin typeface="Space Grotesk"/>
              </a:rPr>
              <a:t>–  Thank you emails to all participants</a:t>
            </a:r>
          </a:p>
          <a:p>
            <a:pPr algn="l">
              <a:spcBef>
                <a:spcPts val="300"/>
              </a:spcBef>
            </a:pPr>
            <a:r>
              <a:rPr sz="750" b="0" i="0">
                <a:solidFill>
                  <a:srgbClr val="555555"/>
                </a:solidFill>
                <a:latin typeface="Space Grotesk"/>
              </a:rPr>
              <a:t>–  Post-event survey &amp; feedback collection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77240" y="5047488"/>
            <a:ext cx="10652760" cy="0"/>
          </a:xfrm>
          <a:prstGeom prst="line">
            <a:avLst/>
          </a:prstGeom>
          <a:ln w="6350">
            <a:solidFill>
              <a:srgbClr val="E0DD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77240" y="5157216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5C6B5A"/>
                </a:solidFill>
                <a:latin typeface="Space Grotesk"/>
              </a:rPr>
              <a:t>TEAM ONSITE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340096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Space Grotesk"/>
              </a:rPr>
              <a:t>–  1 lead operator</a:t>
            </a:r>
          </a:p>
          <a:p>
            <a:pPr algn="l">
              <a:spcBef>
                <a:spcPts val="300"/>
              </a:spcBef>
            </a:pPr>
            <a:r>
              <a:rPr sz="750" b="0" i="0">
                <a:solidFill>
                  <a:srgbClr val="888888"/>
                </a:solidFill>
                <a:latin typeface="Space Grotesk"/>
              </a:rPr>
              <a:t>–  Volunteers: Morning (Set Up) · Launch (Catering) · Evening (Final Demo)</a:t>
            </a:r>
          </a:p>
          <a:p>
            <a:pPr algn="l">
              <a:spcBef>
                <a:spcPts val="300"/>
              </a:spcBef>
            </a:pPr>
            <a:r>
              <a:rPr sz="750" b="0" i="0">
                <a:solidFill>
                  <a:srgbClr val="888888"/>
                </a:solidFill>
                <a:latin typeface="Space Grotesk"/>
              </a:rPr>
              <a:t>–  Curation of trusted partners: F&amp;B, AV, Venues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5157216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5C6B5A"/>
                </a:solidFill>
                <a:latin typeface="Space Grotesk"/>
              </a:rPr>
              <a:t>SCOPE TO BE DEFINED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5340096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Space Grotesk"/>
              </a:rPr>
              <a:t>–  Judges &amp; mentors recruitment &amp; briefing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5157216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5C6B5A"/>
                </a:solidFill>
                <a:latin typeface="Space Grotesk"/>
              </a:rPr>
              <a:t>ADD-ON DELIVERABLES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5340096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Space Grotesk"/>
              </a:rPr>
              <a:t>–  Social media content — LinkedIn &amp; X</a:t>
            </a:r>
          </a:p>
          <a:p>
            <a:pPr algn="l">
              <a:spcBef>
                <a:spcPts val="300"/>
              </a:spcBef>
            </a:pPr>
            <a:r>
              <a:rPr sz="750" b="0" i="0">
                <a:solidFill>
                  <a:srgbClr val="888888"/>
                </a:solidFill>
                <a:latin typeface="Space Grotesk"/>
              </a:rPr>
              <a:t>–  Videos &amp; photos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641908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AAA8A4"/>
                </a:solidFill>
                <a:latin typeface="Space Grotesk"/>
              </a:rPr>
              <a:t>Blooming × Bond.ai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641908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 i="0">
                <a:solidFill>
                  <a:srgbClr val="AAA8A4"/>
                </a:solidFill>
                <a:latin typeface="Space Grotesk"/>
              </a:rPr>
              <a:t>weareblooming.co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777240" y="987552"/>
            <a:ext cx="292608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77240" y="749808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C6B5A"/>
                </a:solidFill>
                <a:latin typeface="Space Grotesk"/>
              </a:rPr>
              <a:t>INVESTMENT &amp; REVENUE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972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1A1A1A"/>
                </a:solidFill>
                <a:latin typeface="Cormorant Garamond"/>
              </a:rPr>
              <a:t>The Pilot.</a:t>
            </a:r>
          </a:p>
          <a:p>
            <a:pPr algn="l">
              <a:spcBef>
                <a:spcPts val="400"/>
              </a:spcBef>
            </a:pPr>
            <a:r>
              <a:rPr sz="3000" b="0" i="1">
                <a:solidFill>
                  <a:srgbClr val="5C6B5A"/>
                </a:solidFill>
                <a:latin typeface="Cormorant Garamond"/>
              </a:rPr>
              <a:t>Let's make it work.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148840"/>
            <a:ext cx="10652760" cy="347472"/>
          </a:xfrm>
          <a:prstGeom prst="rect">
            <a:avLst/>
          </a:prstGeom>
          <a:noFill/>
          <a:ln w="6350">
            <a:solidFill>
              <a:srgbClr val="E0D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1284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5C6B5A"/>
                </a:solidFill>
                <a:latin typeface="Space Grotesk"/>
              </a:rPr>
              <a:t>BLOOMING FLAT FEE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176272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1A"/>
                </a:solidFill>
                <a:latin typeface="Cormorant Garamond"/>
              </a:rPr>
              <a:t>$1,000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221992"/>
            <a:ext cx="6583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Space Grotesk"/>
              </a:rPr>
              <a:t>Covers Alison pre-event management, online day-of production support &amp; post-event deliverables.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5176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C6B5A"/>
                </a:solidFill>
                <a:latin typeface="Cormorant Garamond"/>
              </a:rPr>
              <a:t>Starting Point — $2–2.5k / sponsor · 4 sponsors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2944368"/>
            <a:ext cx="5303520" cy="0"/>
          </a:xfrm>
          <a:prstGeom prst="line">
            <a:avLst/>
          </a:prstGeom>
          <a:ln w="6350">
            <a:solidFill>
              <a:srgbClr val="E0DD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77240" y="2999232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  <a:latin typeface="Space Grotesk"/>
              </a:rPr>
              <a:t>Venue (free — cleaning fee)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2999232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1A1A1A"/>
                </a:solidFill>
                <a:latin typeface="Cormorant Garamond"/>
              </a:rPr>
              <a:t>$300–$500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77240" y="3246120"/>
            <a:ext cx="5303520" cy="0"/>
          </a:xfrm>
          <a:prstGeom prst="line">
            <a:avLst/>
          </a:prstGeom>
          <a:ln w="6350">
            <a:solidFill>
              <a:srgbClr val="E0DD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77240" y="3300984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  <a:latin typeface="Space Grotesk"/>
              </a:rPr>
              <a:t>Venue (paid)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3300984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1A1A1A"/>
                </a:solidFill>
                <a:latin typeface="Cormorant Garamond"/>
              </a:rPr>
              <a:t>$1,500–$5,000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77240" y="3547872"/>
            <a:ext cx="5303520" cy="0"/>
          </a:xfrm>
          <a:prstGeom prst="line">
            <a:avLst/>
          </a:prstGeom>
          <a:ln w="6350">
            <a:solidFill>
              <a:srgbClr val="E0DD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77240" y="3602736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  <a:latin typeface="Space Grotesk"/>
              </a:rPr>
              <a:t>Catering (80 ppl)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3602736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1A1A1A"/>
                </a:solidFill>
                <a:latin typeface="Cormorant Garamond"/>
              </a:rPr>
              <a:t>$2,500–$3,000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77240" y="3849624"/>
            <a:ext cx="5303520" cy="0"/>
          </a:xfrm>
          <a:prstGeom prst="line">
            <a:avLst/>
          </a:prstGeom>
          <a:ln w="6350">
            <a:solidFill>
              <a:srgbClr val="E0DD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77240" y="3904488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  <a:latin typeface="Space Grotesk"/>
              </a:rPr>
              <a:t>Contingency (10%)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3904488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1A1A1A"/>
                </a:solidFill>
                <a:latin typeface="Cormorant Garamond"/>
              </a:rPr>
              <a:t>$250–$900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77240" y="4151376"/>
            <a:ext cx="5303520" cy="0"/>
          </a:xfrm>
          <a:prstGeom prst="line">
            <a:avLst/>
          </a:prstGeom>
          <a:ln w="6350">
            <a:solidFill>
              <a:srgbClr val="E0DD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77240" y="4206240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  <a:latin typeface="Space Grotesk"/>
              </a:rPr>
              <a:t>On-site production team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4206240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1A1A1A"/>
                </a:solidFill>
                <a:latin typeface="Cormorant Garamond"/>
              </a:rPr>
              <a:t>$1,225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77240" y="4453128"/>
            <a:ext cx="530352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77240" y="450799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Space Grotesk"/>
              </a:rPr>
              <a:t>Revenue (4 sponsors)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450799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C6B5A"/>
                </a:solidFill>
                <a:latin typeface="Cormorant Garamond"/>
              </a:rPr>
              <a:t>$8,000–$10,000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4855464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5C6B5A"/>
                </a:solidFill>
                <a:latin typeface="Space Grotesk"/>
              </a:rPr>
              <a:t>PROFIT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77240" y="5056632"/>
            <a:ext cx="5303520" cy="0"/>
          </a:xfrm>
          <a:prstGeom prst="line">
            <a:avLst/>
          </a:prstGeom>
          <a:ln w="6350">
            <a:solidFill>
              <a:srgbClr val="E0DD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77240" y="5102352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  <a:latin typeface="Space Grotesk"/>
              </a:rPr>
              <a:t>Best case (free venue)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43400" y="510235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1A1A1A"/>
                </a:solidFill>
                <a:latin typeface="Cormorant Garamond"/>
              </a:rPr>
              <a:t>~$3,000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77240" y="5330952"/>
            <a:ext cx="5303520" cy="0"/>
          </a:xfrm>
          <a:prstGeom prst="line">
            <a:avLst/>
          </a:prstGeom>
          <a:ln w="6350">
            <a:solidFill>
              <a:srgbClr val="E0DD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77240" y="5376672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  <a:latin typeface="Space Grotesk"/>
              </a:rPr>
              <a:t>Standard (paid venue)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537667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1A1A1A"/>
                </a:solidFill>
                <a:latin typeface="Cormorant Garamond"/>
              </a:rPr>
              <a:t>Up to $2,000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77240" y="5605272"/>
            <a:ext cx="5303520" cy="0"/>
          </a:xfrm>
          <a:prstGeom prst="line">
            <a:avLst/>
          </a:prstGeom>
          <a:ln w="6350">
            <a:solidFill>
              <a:srgbClr val="E0DD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777240" y="5650992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  <a:latin typeface="Space Grotesk"/>
              </a:rPr>
              <a:t>Break-even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43400" y="565099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1A1A1A"/>
                </a:solidFill>
                <a:latin typeface="Cormorant Garamond"/>
              </a:rPr>
              <a:t>2–4 sponsors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265176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C6B5A"/>
                </a:solidFill>
                <a:latin typeface="Cormorant Garamond"/>
              </a:rPr>
              <a:t>Expected Scenario — $5k / sponsor · 3–5 sponsors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492240" y="2944368"/>
            <a:ext cx="5303520" cy="0"/>
          </a:xfrm>
          <a:prstGeom prst="line">
            <a:avLst/>
          </a:prstGeom>
          <a:ln w="6350">
            <a:solidFill>
              <a:srgbClr val="E0DD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492240" y="2999232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  <a:latin typeface="Space Grotesk"/>
              </a:rPr>
              <a:t>Venue (free — cleaning fee)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58400" y="2999232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1A1A1A"/>
                </a:solidFill>
                <a:latin typeface="Cormorant Garamond"/>
              </a:rPr>
              <a:t>$300–$500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492240" y="3246120"/>
            <a:ext cx="5303520" cy="0"/>
          </a:xfrm>
          <a:prstGeom prst="line">
            <a:avLst/>
          </a:prstGeom>
          <a:ln w="6350">
            <a:solidFill>
              <a:srgbClr val="E0DD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6492240" y="3300984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  <a:latin typeface="Space Grotesk"/>
              </a:rPr>
              <a:t>Venue (paid)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58400" y="3300984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1A1A1A"/>
                </a:solidFill>
                <a:latin typeface="Cormorant Garamond"/>
              </a:rPr>
              <a:t>$3,500–$6,000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6492240" y="3547872"/>
            <a:ext cx="5303520" cy="0"/>
          </a:xfrm>
          <a:prstGeom prst="line">
            <a:avLst/>
          </a:prstGeom>
          <a:ln w="6350">
            <a:solidFill>
              <a:srgbClr val="E0DD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6492240" y="3602736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  <a:latin typeface="Space Grotesk"/>
              </a:rPr>
              <a:t>Catering (80 ppl)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0" y="3602736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1A1A1A"/>
                </a:solidFill>
                <a:latin typeface="Cormorant Garamond"/>
              </a:rPr>
              <a:t>$3,000–$5,000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6492240" y="3849624"/>
            <a:ext cx="5303520" cy="0"/>
          </a:xfrm>
          <a:prstGeom prst="line">
            <a:avLst/>
          </a:prstGeom>
          <a:ln w="6350">
            <a:solidFill>
              <a:srgbClr val="E0DD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6492240" y="3904488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  <a:latin typeface="Space Grotesk"/>
              </a:rPr>
              <a:t>Contingency (10%)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058400" y="3904488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1A1A1A"/>
                </a:solidFill>
                <a:latin typeface="Cormorant Garamond"/>
              </a:rPr>
              <a:t>$650–$1,100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6492240" y="4151376"/>
            <a:ext cx="5303520" cy="0"/>
          </a:xfrm>
          <a:prstGeom prst="line">
            <a:avLst/>
          </a:prstGeom>
          <a:ln w="6350">
            <a:solidFill>
              <a:srgbClr val="E0DD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6492240" y="4206240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  <a:latin typeface="Space Grotesk"/>
              </a:rPr>
              <a:t>On-site production team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058400" y="4206240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1A1A1A"/>
                </a:solidFill>
                <a:latin typeface="Cormorant Garamond"/>
              </a:rPr>
              <a:t>$2,000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6492240" y="4453128"/>
            <a:ext cx="530352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6492240" y="450799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Space Grotesk"/>
              </a:rPr>
              <a:t>Revenue (3–5 sponsors)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058400" y="450799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5C6B5A"/>
                </a:solidFill>
                <a:latin typeface="Cormorant Garamond"/>
              </a:rPr>
              <a:t>$15,000–$25,000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92240" y="4855464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5C6B5A"/>
                </a:solidFill>
                <a:latin typeface="Space Grotesk"/>
              </a:rPr>
              <a:t>PROFIT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6492240" y="5056632"/>
            <a:ext cx="5303520" cy="0"/>
          </a:xfrm>
          <a:prstGeom prst="line">
            <a:avLst/>
          </a:prstGeom>
          <a:ln w="6350">
            <a:solidFill>
              <a:srgbClr val="E0DD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6492240" y="5102352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  <a:latin typeface="Space Grotesk"/>
              </a:rPr>
              <a:t>Best case (free venue)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058400" y="510235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1A1A1A"/>
                </a:solidFill>
                <a:latin typeface="Cormorant Garamond"/>
              </a:rPr>
              <a:t>$7,960–$17,960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6492240" y="5330952"/>
            <a:ext cx="5303520" cy="0"/>
          </a:xfrm>
          <a:prstGeom prst="line">
            <a:avLst/>
          </a:prstGeom>
          <a:ln w="6350">
            <a:solidFill>
              <a:srgbClr val="E0DD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6492240" y="5376672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  <a:latin typeface="Space Grotesk"/>
              </a:rPr>
              <a:t>Standard (paid venue)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058400" y="537667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1A1A1A"/>
                </a:solidFill>
                <a:latin typeface="Cormorant Garamond"/>
              </a:rPr>
              <a:t>$3,175–$13,175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6492240" y="5605272"/>
            <a:ext cx="5303520" cy="0"/>
          </a:xfrm>
          <a:prstGeom prst="line">
            <a:avLst/>
          </a:prstGeom>
          <a:ln w="6350">
            <a:solidFill>
              <a:srgbClr val="E0DD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6492240" y="5650992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  <a:latin typeface="Space Grotesk"/>
              </a:rPr>
              <a:t>Break-even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058400" y="565099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1A1A1A"/>
                </a:solidFill>
                <a:latin typeface="Cormorant Garamond"/>
              </a:rPr>
              <a:t>2–3 sponsors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777240" y="5742432"/>
            <a:ext cx="10652760" cy="0"/>
          </a:xfrm>
          <a:prstGeom prst="line">
            <a:avLst/>
          </a:prstGeom>
          <a:ln w="6350">
            <a:solidFill>
              <a:srgbClr val="E0DD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777240" y="5833872"/>
            <a:ext cx="1645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5C6B5A"/>
                </a:solidFill>
                <a:latin typeface="Space Grotesk"/>
              </a:rPr>
              <a:t>PROFIT SPLIT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606040" y="5815584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  <a:latin typeface="Cormorant Garamond"/>
              </a:rPr>
              <a:t>80%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606040" y="6108192"/>
            <a:ext cx="1097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5C6B5A"/>
                </a:solidFill>
                <a:latin typeface="Space Grotesk"/>
              </a:rPr>
              <a:t>Bond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886200" y="5815584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  <a:latin typeface="Cormorant Garamond"/>
              </a:rPr>
              <a:t>20%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886200" y="6108192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5C6B5A"/>
                </a:solidFill>
                <a:latin typeface="Space Grotesk"/>
              </a:rPr>
              <a:t>Blooming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943600" y="5879592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1">
                <a:solidFill>
                  <a:srgbClr val="888888"/>
                </a:solidFill>
                <a:latin typeface="Cormorant Garamond"/>
              </a:rPr>
              <a:t>Media production: price on demand  ·  $1.5k–$3k pocket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77240" y="641908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AAA8A4"/>
                </a:solidFill>
                <a:latin typeface="Space Grotesk"/>
              </a:rPr>
              <a:t>Blooming × Bond.ai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315200" y="641908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 i="0">
                <a:solidFill>
                  <a:srgbClr val="AAA8A4"/>
                </a:solidFill>
                <a:latin typeface="Space Grotesk"/>
              </a:rPr>
              <a:t>weareblooming.co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029097" y="927202"/>
            <a:ext cx="130759" cy="321868"/>
          </a:xfrm>
          <a:prstGeom prst="ellipse">
            <a:avLst/>
          </a:prstGeom>
          <a:solidFill>
            <a:srgbClr val="5C6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029097" y="1128370"/>
            <a:ext cx="130759" cy="321868"/>
          </a:xfrm>
          <a:prstGeom prst="ellipse">
            <a:avLst/>
          </a:prstGeom>
          <a:solidFill>
            <a:srgbClr val="5C6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752491" y="1123341"/>
            <a:ext cx="321868" cy="130759"/>
          </a:xfrm>
          <a:prstGeom prst="ellipse">
            <a:avLst/>
          </a:prstGeom>
          <a:solidFill>
            <a:srgbClr val="8B7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114592" y="1123341"/>
            <a:ext cx="321868" cy="130759"/>
          </a:xfrm>
          <a:prstGeom prst="ellipse">
            <a:avLst/>
          </a:prstGeom>
          <a:solidFill>
            <a:srgbClr val="8B7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029097" y="1123341"/>
            <a:ext cx="130758" cy="130758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1691640"/>
            <a:ext cx="9418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 i="0">
                <a:solidFill>
                  <a:srgbClr val="1A1A1A"/>
                </a:solidFill>
                <a:latin typeface="Cormorant Garamond"/>
              </a:rPr>
              <a:t>1 pilot event.</a:t>
            </a:r>
          </a:p>
          <a:p>
            <a:pPr algn="ctr">
              <a:spcBef>
                <a:spcPts val="400"/>
              </a:spcBef>
            </a:pPr>
            <a:r>
              <a:rPr sz="3800" b="0" i="1">
                <a:solidFill>
                  <a:srgbClr val="5C6B5A"/>
                </a:solidFill>
                <a:latin typeface="Cormorant Garamond"/>
              </a:rPr>
              <a:t>Crash test the format.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401568"/>
            <a:ext cx="9418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888888"/>
                </a:solidFill>
                <a:latin typeface="Cormorant Garamond"/>
              </a:rPr>
              <a:t>Let's ship what we do best.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3767328"/>
            <a:ext cx="8138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1">
                <a:solidFill>
                  <a:srgbClr val="555555"/>
                </a:solidFill>
                <a:latin typeface="Cormorant Garamond"/>
              </a:rPr>
              <a:t>The ideal way to validate a partnership is to do the work. One hackathon in SF — ideally mid or end of May. Date to be confirmed upon validation.</a:t>
            </a:r>
          </a:p>
        </p:txBody>
      </p:sp>
      <p:sp>
        <p:nvSpPr>
          <p:cNvPr id="11" name="Oval 10"/>
          <p:cNvSpPr/>
          <p:nvPr/>
        </p:nvSpPr>
        <p:spPr>
          <a:xfrm>
            <a:off x="3913632" y="4599432"/>
            <a:ext cx="64008" cy="64008"/>
          </a:xfrm>
          <a:prstGeom prst="ellipse">
            <a:avLst/>
          </a:prstGeom>
          <a:solidFill>
            <a:srgbClr val="5C6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69080" y="452628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  <a:latin typeface="Space Grotesk"/>
              </a:rPr>
              <a:t>Align on hackathon theme — pick the one with the strongest sponsor momentum</a:t>
            </a:r>
          </a:p>
        </p:txBody>
      </p:sp>
      <p:sp>
        <p:nvSpPr>
          <p:cNvPr id="13" name="Oval 12"/>
          <p:cNvSpPr/>
          <p:nvPr/>
        </p:nvSpPr>
        <p:spPr>
          <a:xfrm>
            <a:off x="3913632" y="4910328"/>
            <a:ext cx="64008" cy="64008"/>
          </a:xfrm>
          <a:prstGeom prst="ellipse">
            <a:avLst/>
          </a:prstGeom>
          <a:solidFill>
            <a:srgbClr val="5C6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69080" y="4837176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  <a:latin typeface="Space Grotesk"/>
              </a:rPr>
              <a:t>Bond leads sponsor outreach, Blooming starts venue sourcing in parallel</a:t>
            </a:r>
          </a:p>
        </p:txBody>
      </p:sp>
      <p:sp>
        <p:nvSpPr>
          <p:cNvPr id="15" name="Oval 14"/>
          <p:cNvSpPr/>
          <p:nvPr/>
        </p:nvSpPr>
        <p:spPr>
          <a:xfrm>
            <a:off x="3913632" y="5221224"/>
            <a:ext cx="64008" cy="64008"/>
          </a:xfrm>
          <a:prstGeom prst="ellipse">
            <a:avLst/>
          </a:prstGeom>
          <a:solidFill>
            <a:srgbClr val="5C6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69080" y="5148072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  <a:latin typeface="Space Grotesk"/>
              </a:rPr>
              <a:t>Lock 2 sponsors to confirm the pilot — go from there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5577840"/>
            <a:ext cx="9418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5555"/>
                </a:solidFill>
                <a:latin typeface="Space Grotesk"/>
              </a:rPr>
              <a:t>alison@weareblooming.co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852160"/>
            <a:ext cx="9418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5C6B5A"/>
                </a:solidFill>
                <a:latin typeface="Space Grotesk"/>
              </a:rPr>
              <a:t>WEAREBLOOMING.CO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641908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AAA8A4"/>
                </a:solidFill>
                <a:latin typeface="Space Grotesk"/>
              </a:rPr>
              <a:t>Blooming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641908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00" b="0" i="0">
                <a:solidFill>
                  <a:srgbClr val="AAA8A4"/>
                </a:solidFill>
                <a:latin typeface="Space Grotesk"/>
              </a:rPr>
              <a:t>Growth that matters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