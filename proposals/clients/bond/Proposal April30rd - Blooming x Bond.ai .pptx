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88950"/>
  <p:notesSz cx="6858000" cy="9144000"/>
  <p:embeddedFontLst>
    <p:embeddedFont>
      <p:font typeface="Cormorant Garamond"/>
      <p:regular r:id="rId15"/>
      <p:bold r:id="rId16"/>
      <p:italic r:id="rId17"/>
      <p:boldItalic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rmorantGaramond-regular.fntdata"/><Relationship Id="rId14" Type="http://schemas.openxmlformats.org/officeDocument/2006/relationships/slide" Target="slides/slide9.xml"/><Relationship Id="rId17" Type="http://schemas.openxmlformats.org/officeDocument/2006/relationships/font" Target="fonts/CormorantGaramond-italic.fntdata"/><Relationship Id="rId16" Type="http://schemas.openxmlformats.org/officeDocument/2006/relationships/font" Target="fonts/CormorantGaramon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1.xml"/><Relationship Id="rId18" Type="http://schemas.openxmlformats.org/officeDocument/2006/relationships/font" Target="fonts/Cormorant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b4ba2c2b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b4ba2c2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eareblooming.c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uma.com/user/usr-68RxDaDQTWqU3WU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0Apy_RUCR9Z6bCfisONSO5pDgzbFTSkL/edit?slide=id.p1#slide=id.p1" TargetMode="External"/><Relationship Id="rId4" Type="http://schemas.openxmlformats.org/officeDocument/2006/relationships/hyperlink" Target="https://docs.google.com/presentation/d/10Apy_RUCR9Z6bCfisONSO5pDgzbFTSkL/edit?slide=id.p1#slide=id.p1" TargetMode="External"/><Relationship Id="rId5" Type="http://schemas.openxmlformats.org/officeDocument/2006/relationships/hyperlink" Target="https://www.linkedin.com/posts/alison-granger-ganansia_%F0%9D%90%92%F0%9D%90%A1%F0%9D%90%A2%F0%9D%90%A9-%F0%9D%90%83%F0%9D%90%9E%F0%9D%90%A6%F0%9D%90%A8-%F0%9D%90%83%F0%9D%90%9A%F0%9D%90%B2-from-workshops-activity-7453850937921568768-fnuI?utm_source=share&amp;utm_medium=member_desktop&amp;rcm=ACoAAAbO_J0Bsd8012Ah3vppvJimfrGTTGqTyz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22376" y="438912"/>
            <a:ext cx="109800" cy="109800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22376" y="768096"/>
            <a:ext cx="109800" cy="109800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57784" y="603504"/>
            <a:ext cx="109800" cy="109800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86968" y="603504"/>
            <a:ext cx="109800" cy="109800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31520" y="612648"/>
            <a:ext cx="91500" cy="91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05840" y="594360"/>
            <a:ext cx="274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</a:t>
            </a:r>
            <a:endParaRPr sz="2500"/>
          </a:p>
        </p:txBody>
      </p:sp>
      <p:sp>
        <p:nvSpPr>
          <p:cNvPr id="90" name="Google Shape;90;p13"/>
          <p:cNvSpPr txBox="1"/>
          <p:nvPr/>
        </p:nvSpPr>
        <p:spPr>
          <a:xfrm>
            <a:off x="777253" y="1463050"/>
            <a:ext cx="110784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cap="none" strike="noStrike">
                <a:latin typeface="Cormorant Garamond"/>
                <a:ea typeface="Cormorant Garamond"/>
                <a:cs typeface="Cormorant Garamond"/>
                <a:sym typeface="Cormorant Garamond"/>
              </a:rPr>
              <a:t>Bond.ai</a:t>
            </a:r>
            <a:r>
              <a:rPr b="0" i="0" lang="en-US" sz="55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Community × Blooming</a:t>
            </a:r>
            <a:endParaRPr sz="2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55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Pilot Partnership.</a:t>
            </a:r>
            <a:endParaRPr sz="2500"/>
          </a:p>
        </p:txBody>
      </p:sp>
      <p:sp>
        <p:nvSpPr>
          <p:cNvPr id="91" name="Google Shape;91;p13"/>
          <p:cNvSpPr txBox="1"/>
          <p:nvPr/>
        </p:nvSpPr>
        <p:spPr>
          <a:xfrm>
            <a:off x="777240" y="3566160"/>
            <a:ext cx="73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Hackathon  ·  San Francisco  ·  May 2026</a:t>
            </a:r>
            <a:endParaRPr sz="2500"/>
          </a:p>
        </p:txBody>
      </p:sp>
      <p:sp>
        <p:nvSpPr>
          <p:cNvPr id="92" name="Google Shape;92;p13"/>
          <p:cNvSpPr/>
          <p:nvPr/>
        </p:nvSpPr>
        <p:spPr>
          <a:xfrm>
            <a:off x="777240" y="4114800"/>
            <a:ext cx="1371600" cy="255900"/>
          </a:xfrm>
          <a:prstGeom prst="rect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96775" y="4142223"/>
            <a:ext cx="356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 sz="1600"/>
          </a:p>
        </p:txBody>
      </p:sp>
      <p:sp>
        <p:nvSpPr>
          <p:cNvPr id="94" name="Google Shape;94;p13"/>
          <p:cNvSpPr txBox="1"/>
          <p:nvPr/>
        </p:nvSpPr>
        <p:spPr>
          <a:xfrm>
            <a:off x="734375" y="5626425"/>
            <a:ext cx="651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Prepared by Alison Granger, Co-Founder &amp; CEO</a:t>
            </a:r>
            <a:endParaRPr sz="2500"/>
          </a:p>
        </p:txBody>
      </p:sp>
      <p:sp>
        <p:nvSpPr>
          <p:cNvPr id="95" name="Google Shape;95;p13"/>
          <p:cNvSpPr txBox="1"/>
          <p:nvPr/>
        </p:nvSpPr>
        <p:spPr>
          <a:xfrm>
            <a:off x="8138175" y="5566410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</a:t>
            </a:r>
            <a:r>
              <a:rPr b="0" i="0" lang="en-US" sz="2000" u="none" cap="none" strike="noStrike">
                <a:solidFill>
                  <a:srgbClr val="CCCCCC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×  </a:t>
            </a:r>
            <a:r>
              <a:rPr b="0" i="0" lang="en-US" sz="1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BOND.AI</a:t>
            </a:r>
            <a:endParaRPr sz="2500"/>
          </a:p>
        </p:txBody>
      </p:sp>
      <p:sp>
        <p:nvSpPr>
          <p:cNvPr id="96" name="Google Shape;96;p13"/>
          <p:cNvSpPr txBox="1"/>
          <p:nvPr/>
        </p:nvSpPr>
        <p:spPr>
          <a:xfrm>
            <a:off x="731520" y="6037898"/>
            <a:ext cx="365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</a:t>
            </a:r>
            <a:endParaRPr sz="2500"/>
          </a:p>
        </p:txBody>
      </p:sp>
      <p:sp>
        <p:nvSpPr>
          <p:cNvPr id="97" name="Google Shape;97;p13"/>
          <p:cNvSpPr txBox="1"/>
          <p:nvPr/>
        </p:nvSpPr>
        <p:spPr>
          <a:xfrm>
            <a:off x="7678103" y="5977890"/>
            <a:ext cx="365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weareblooming.co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731520" y="1005840"/>
            <a:ext cx="32004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14"/>
          <p:cNvSpPr txBox="1"/>
          <p:nvPr/>
        </p:nvSpPr>
        <p:spPr>
          <a:xfrm>
            <a:off x="731520" y="7772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OPPORTUNITY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77240" y="1143000"/>
            <a:ext cx="8686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Two operators.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One gap worth closing.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7240" y="2468880"/>
            <a:ext cx="36576" cy="777240"/>
          </a:xfrm>
          <a:prstGeom prst="rect">
            <a:avLst/>
          </a:prstGeom>
          <a:solidFill>
            <a:srgbClr val="C4B8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60120" y="2450592"/>
            <a:ext cx="777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>
                <a:solidFill>
                  <a:srgbClr val="55555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This Tuesday, Sahar and I met for the first time,  which is great encounter, considering how many events we've both been at on the same </a:t>
            </a:r>
            <a:r>
              <a:rPr lang="en-US" sz="9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9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Luma Page</a:t>
            </a:r>
            <a:r>
              <a:rPr i="1" lang="en-US">
                <a:solidFill>
                  <a:srgbClr val="55555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</a:t>
            </a:r>
            <a:endParaRPr i="1">
              <a:solidFill>
                <a:srgbClr val="555555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>
                <a:solidFill>
                  <a:srgbClr val="55555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We've been orbiting the same ecosystem for </a:t>
            </a:r>
            <a:r>
              <a:rPr i="1" lang="en-US">
                <a:solidFill>
                  <a:srgbClr val="55555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several</a:t>
            </a:r>
            <a:r>
              <a:rPr i="1" lang="en-US">
                <a:solidFill>
                  <a:srgbClr val="55555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years. This is a good momentum. </a:t>
            </a:r>
            <a:endParaRPr i="1" sz="1100">
              <a:solidFill>
                <a:srgbClr val="555555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7724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What Bond brings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77240" y="3730752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Audience trust — companies follow AI Tidbits, attend Bond events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Sponsor relationships built over years in the SF AI ecosystem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Inbound demand from companies who can't replicate that reach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3504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What Blooming brings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35040" y="3730752"/>
            <a:ext cx="45720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Production engine — 150+ events: IBM, NVIDIA, Google, Canva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Alison Granger AI Ecosystem network</a:t>
            </a: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— 70K+ 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reach</a:t>
            </a: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, 15k dev community credibility in SF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Flawless execution under tight timelines, every time, each timezo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ne. </a:t>
            </a:r>
            <a:endParaRPr/>
          </a:p>
        </p:txBody>
      </p:sp>
      <p:cxnSp>
        <p:nvCxnSpPr>
          <p:cNvPr id="112" name="Google Shape;112;p14"/>
          <p:cNvCxnSpPr/>
          <p:nvPr/>
        </p:nvCxnSpPr>
        <p:spPr>
          <a:xfrm>
            <a:off x="777240" y="4983480"/>
            <a:ext cx="1065276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3" name="Google Shape;113;p14"/>
          <p:cNvSpPr txBox="1"/>
          <p:nvPr/>
        </p:nvSpPr>
        <p:spPr>
          <a:xfrm>
            <a:off x="777240" y="5074920"/>
            <a:ext cx="100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88888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Sahar brings audience reach and sponsor relationships. Alison brings production excellence and developer community credibility. </a:t>
            </a:r>
            <a:endParaRPr i="1" sz="1500">
              <a:solidFill>
                <a:srgbClr val="888888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88888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Together, we deliver what companies we know expect at the level they demand.</a:t>
            </a:r>
            <a:endParaRPr b="1" i="1" sz="1500">
              <a:solidFill>
                <a:srgbClr val="888888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5"/>
          <p:cNvCxnSpPr/>
          <p:nvPr/>
        </p:nvCxnSpPr>
        <p:spPr>
          <a:xfrm>
            <a:off x="731520" y="1005840"/>
            <a:ext cx="32004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2" name="Google Shape;122;p15"/>
          <p:cNvSpPr txBox="1"/>
          <p:nvPr/>
        </p:nvSpPr>
        <p:spPr>
          <a:xfrm>
            <a:off x="731520" y="7772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PILOT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7240" y="114300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One event to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test the format.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724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7240" y="2542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1-Day AI Hackathon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01752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ATTENDEES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017520" y="2542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80 Qualified Builders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25780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LOCATION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257800" y="25420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San Francisco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49808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TIMING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498080" y="2542032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Mid-End-Of-May 2026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738360" y="23317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SPONSORS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738360" y="2542032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Starting at 2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Companies</a:t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777240" y="2971800"/>
            <a:ext cx="1065276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5" name="Google Shape;135;p15"/>
          <p:cNvSpPr txBox="1"/>
          <p:nvPr/>
        </p:nvSpPr>
        <p:spPr>
          <a:xfrm>
            <a:off x="777240" y="310896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Bon</a:t>
            </a:r>
            <a:r>
              <a:rPr i="1"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 - Aitibits 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77240" y="3429000"/>
            <a:ext cx="4755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Leads sponsor outreach and closes deals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Pays event expenses upfront to Blooming Events. 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Brings Bond audience and AI Tidbits community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217920" y="310896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Blooming Event</a:t>
            </a:r>
            <a:r>
              <a:rPr i="1"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 by Alison Granger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217920" y="3429000"/>
            <a:ext cx="4755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Leads full production and logistics online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Brings  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curated attendees list</a:t>
            </a: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 for participant outreach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Manage</a:t>
            </a:r>
            <a:r>
              <a:rPr lang="en-US" sz="9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n-US" sz="9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 of presence the day of the hackathon</a:t>
            </a:r>
            <a:endParaRPr sz="900">
              <a:solidFill>
                <a:srgbClr val="55555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139" name="Google Shape;139;p15"/>
          <p:cNvCxnSpPr/>
          <p:nvPr/>
        </p:nvCxnSpPr>
        <p:spPr>
          <a:xfrm>
            <a:off x="777240" y="4709160"/>
            <a:ext cx="1065276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0" name="Google Shape;140;p15"/>
          <p:cNvSpPr txBox="1"/>
          <p:nvPr/>
        </p:nvSpPr>
        <p:spPr>
          <a:xfrm>
            <a:off x="777240" y="48463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80%+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77240" y="5394960"/>
            <a:ext cx="3200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ATTENDEE SATISFACTION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343400" y="4846320"/>
            <a:ext cx="320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100</a:t>
            </a:r>
            <a:r>
              <a:rPr b="0" i="0" lang="en-US" sz="26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+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523422" y="5394960"/>
            <a:ext cx="3200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EVENTS </a:t>
            </a: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ARCHITECTS</a:t>
            </a:r>
            <a:endParaRPr sz="1700"/>
          </a:p>
        </p:txBody>
      </p:sp>
      <p:sp>
        <p:nvSpPr>
          <p:cNvPr id="144" name="Google Shape;144;p1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298173" y="4726310"/>
            <a:ext cx="3000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10+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YEARS OPERATING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16"/>
          <p:cNvCxnSpPr/>
          <p:nvPr/>
        </p:nvCxnSpPr>
        <p:spPr>
          <a:xfrm>
            <a:off x="731520" y="1005840"/>
            <a:ext cx="32004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16"/>
          <p:cNvSpPr txBox="1"/>
          <p:nvPr/>
        </p:nvSpPr>
        <p:spPr>
          <a:xfrm>
            <a:off x="731520" y="7772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HACKATHON THEMES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77240" y="1143000"/>
            <a:ext cx="8686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Three directions</a:t>
            </a:r>
            <a:endParaRPr sz="32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cxnSp>
        <p:nvCxnSpPr>
          <p:cNvPr id="154" name="Google Shape;154;p16"/>
          <p:cNvCxnSpPr/>
          <p:nvPr/>
        </p:nvCxnSpPr>
        <p:spPr>
          <a:xfrm>
            <a:off x="777240" y="2331720"/>
            <a:ext cx="10652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5" name="Google Shape;155;p16"/>
          <p:cNvSpPr txBox="1"/>
          <p:nvPr/>
        </p:nvSpPr>
        <p:spPr>
          <a:xfrm>
            <a:off x="777240" y="2441448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AI Agents in Production</a:t>
            </a:r>
            <a:endParaRPr b="1"/>
          </a:p>
        </p:txBody>
      </p:sp>
      <p:sp>
        <p:nvSpPr>
          <p:cNvPr id="156" name="Google Shape;156;p16"/>
          <p:cNvSpPr txBox="1"/>
          <p:nvPr/>
        </p:nvSpPr>
        <p:spPr>
          <a:xfrm>
            <a:off x="777240" y="2788920"/>
            <a:ext cx="50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agents that ship real impact through demos.</a:t>
            </a:r>
            <a:endParaRPr/>
          </a:p>
        </p:txBody>
      </p:sp>
      <p:cxnSp>
        <p:nvCxnSpPr>
          <p:cNvPr id="157" name="Google Shape;157;p16"/>
          <p:cNvCxnSpPr/>
          <p:nvPr/>
        </p:nvCxnSpPr>
        <p:spPr>
          <a:xfrm>
            <a:off x="777240" y="3557016"/>
            <a:ext cx="10652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6"/>
          <p:cNvSpPr txBox="1"/>
          <p:nvPr/>
        </p:nvSpPr>
        <p:spPr>
          <a:xfrm>
            <a:off x="777240" y="3666744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AI for Developer Productivity</a:t>
            </a:r>
            <a:endParaRPr b="1"/>
          </a:p>
        </p:txBody>
      </p:sp>
      <p:sp>
        <p:nvSpPr>
          <p:cNvPr id="159" name="Google Shape;159;p16"/>
          <p:cNvSpPr txBox="1"/>
          <p:nvPr/>
        </p:nvSpPr>
        <p:spPr>
          <a:xfrm>
            <a:off x="777240" y="401421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AI tools that make developers 10× more productive.</a:t>
            </a:r>
            <a:endParaRPr/>
          </a:p>
        </p:txBody>
      </p:sp>
      <p:cxnSp>
        <p:nvCxnSpPr>
          <p:cNvPr id="160" name="Google Shape;160;p16"/>
          <p:cNvCxnSpPr/>
          <p:nvPr/>
        </p:nvCxnSpPr>
        <p:spPr>
          <a:xfrm>
            <a:off x="777240" y="4782312"/>
            <a:ext cx="10652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16"/>
          <p:cNvSpPr txBox="1"/>
          <p:nvPr/>
        </p:nvSpPr>
        <p:spPr>
          <a:xfrm>
            <a:off x="777240" y="4892040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AI for GTM &amp; Growth</a:t>
            </a:r>
            <a:endParaRPr b="1"/>
          </a:p>
        </p:txBody>
      </p:sp>
      <p:sp>
        <p:nvSpPr>
          <p:cNvPr id="162" name="Google Shape;162;p16"/>
          <p:cNvSpPr txBox="1"/>
          <p:nvPr/>
        </p:nvSpPr>
        <p:spPr>
          <a:xfrm>
            <a:off x="777240" y="523951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AI tools for sales, marketing, and growth teams.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313173" y="22628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Work in Progress.</a:t>
            </a:r>
            <a:endParaRPr b="1"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This is the core work of the collaboration. </a:t>
            </a:r>
            <a:endParaRPr b="1"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5700740" y="5024611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Example 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Challenge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“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My ICP is primarily startup founders (Series A and below) - do you have a sense of the demographics of the attendees” </a:t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5806440" y="3726748"/>
            <a:ext cx="502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15k attendees list 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3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Portfolio</a:t>
            </a:r>
            <a:r>
              <a:rPr lang="en-US" sz="9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4"/>
              </a:rPr>
              <a:t> </a:t>
            </a:r>
            <a:r>
              <a:rPr lang="en-US" sz="9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-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for reference</a:t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5806451" y="2560150"/>
            <a:ext cx="5623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ormorant Garamond"/>
                <a:ea typeface="Cormorant Garamond"/>
                <a:cs typeface="Cormorant Garamond"/>
                <a:sym typeface="Cormorant Garamond"/>
                <a:hlinkClick r:id="rId5"/>
              </a:rPr>
              <a:t>Last Past Event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demonstrated</a:t>
            </a: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high interest in the format of “Live Demo”. </a:t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120 attendees </a:t>
            </a:r>
            <a:endParaRPr sz="16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4131250" y="960113"/>
            <a:ext cx="5064900" cy="4531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ONCE CONTRACT SIGNED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 Deliverables: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Overall Schedule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Sharing trusted inputs about pre-event, day-of, post-event milestones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Operations Plan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Detailed breakdown of: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Pre-event coordination (venue, sponsors, judges, mentors, platforms)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Day-of execution (setup, programming, logistics)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Post-event wrap (deliverables, follow-ups, reporting)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Work Session: Define the Hackathon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Joint planning meeting to align on: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 theme selection (Agents, Dev Productivity, or GTM)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 structure and prerequisites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Launch publication and messaging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Sponsor outreach strategy</a:t>
            </a:r>
            <a:endParaRPr sz="11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9150" y="0"/>
            <a:ext cx="12189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8"/>
          <p:cNvCxnSpPr/>
          <p:nvPr/>
        </p:nvCxnSpPr>
        <p:spPr>
          <a:xfrm>
            <a:off x="731520" y="1005840"/>
            <a:ext cx="32004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0" name="Google Shape;180;p18"/>
          <p:cNvSpPr txBox="1"/>
          <p:nvPr/>
        </p:nvSpPr>
        <p:spPr>
          <a:xfrm>
            <a:off x="731520" y="674370"/>
            <a:ext cx="7315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SPONSORSHIP PACKAGE — </a:t>
            </a: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Starting at $2k (FOR </a:t>
            </a: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PILOT</a:t>
            </a:r>
            <a:r>
              <a:rPr lang="en-US" sz="11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TEST - THEN AIMING FOR 5K)</a:t>
            </a:r>
            <a:endParaRPr sz="1800"/>
          </a:p>
        </p:txBody>
      </p:sp>
      <p:sp>
        <p:nvSpPr>
          <p:cNvPr id="181" name="Google Shape;181;p18"/>
          <p:cNvSpPr txBox="1"/>
          <p:nvPr/>
        </p:nvSpPr>
        <p:spPr>
          <a:xfrm>
            <a:off x="777240" y="114300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80 qualified builders.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3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8 hours. One room.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77240" y="24231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Visibility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77240" y="2761488"/>
            <a:ext cx="3383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Equal logo on all materials — website, emails, signage, 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Excellent &amp;/or unique 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atmosphere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l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Event co-branding: 'AI Hackathon powered by [Sponsors]'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LinkedIn, newsletter &amp; 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X </a:t>
            </a: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mentions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572000" y="24231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Engagement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72000" y="2761488"/>
            <a:ext cx="33834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10-min speaking slot — demo, API walkthrough, or use case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Booth space with good placement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Optional: 'Best use of [Company] API' prize ($500–$1,500)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API credits distributed to all participants</a:t>
            </a:r>
            <a:endParaRPr b="0" i="0" sz="800" u="none" cap="none" strike="noStrike">
              <a:solidFill>
                <a:srgbClr val="555555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Dedicated Discord Channel</a:t>
            </a:r>
            <a:endParaRPr sz="800">
              <a:solidFill>
                <a:srgbClr val="55555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366760" y="24231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Data &amp; Access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366760" y="2761488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Opt-in attendee list — names, emails, LinkedIn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Warm intros to winning teams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Post-event report — photos, metrics, feedback</a:t>
            </a:r>
            <a:endParaRPr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Recruiting pipeline — access to top talent</a:t>
            </a:r>
            <a:endParaRPr/>
          </a:p>
        </p:txBody>
      </p:sp>
      <p:cxnSp>
        <p:nvCxnSpPr>
          <p:cNvPr id="188" name="Google Shape;188;p18"/>
          <p:cNvCxnSpPr/>
          <p:nvPr/>
        </p:nvCxnSpPr>
        <p:spPr>
          <a:xfrm>
            <a:off x="777240" y="5029200"/>
            <a:ext cx="1065276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9" name="Google Shape;189;p18"/>
          <p:cNvSpPr txBox="1"/>
          <p:nvPr/>
        </p:nvSpPr>
        <p:spPr>
          <a:xfrm>
            <a:off x="777240" y="5138928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88888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Prizes are paid directly by sponsors outside the Sponsor  fee. </a:t>
            </a:r>
            <a:endParaRPr i="1" sz="1500">
              <a:solidFill>
                <a:srgbClr val="888888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88888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Each sponsor defines their own prize amount, format, and category:  cash, API credits, or product licenses</a:t>
            </a:r>
            <a:r>
              <a:rPr b="1" i="1" lang="en-US" sz="1300" u="none" cap="none" strike="noStrike">
                <a:solidFill>
                  <a:srgbClr val="88888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. </a:t>
            </a:r>
            <a:endParaRPr b="1" sz="1700"/>
          </a:p>
        </p:txBody>
      </p:sp>
      <p:sp>
        <p:nvSpPr>
          <p:cNvPr id="190" name="Google Shape;190;p1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19"/>
          <p:cNvCxnSpPr/>
          <p:nvPr/>
        </p:nvCxnSpPr>
        <p:spPr>
          <a:xfrm>
            <a:off x="731520" y="1005840"/>
            <a:ext cx="32004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19"/>
          <p:cNvSpPr txBox="1"/>
          <p:nvPr/>
        </p:nvSpPr>
        <p:spPr>
          <a:xfrm>
            <a:off x="731520" y="77724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OF WORK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77240" y="1100138"/>
            <a:ext cx="8686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Event Engine</a:t>
            </a:r>
            <a:endParaRPr sz="32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77240" y="2240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Pre-Event</a:t>
            </a:r>
            <a:endParaRPr/>
          </a:p>
        </p:txBody>
      </p:sp>
      <p:cxnSp>
        <p:nvCxnSpPr>
          <p:cNvPr id="201" name="Google Shape;201;p19"/>
          <p:cNvCxnSpPr/>
          <p:nvPr/>
        </p:nvCxnSpPr>
        <p:spPr>
          <a:xfrm>
            <a:off x="777240" y="2578608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2" name="Google Shape;202;p19"/>
          <p:cNvSpPr txBox="1"/>
          <p:nvPr/>
        </p:nvSpPr>
        <p:spPr>
          <a:xfrm>
            <a:off x="777240" y="2697480"/>
            <a:ext cx="3474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Venue sourcing, negotiation &amp; contract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Catering coordination (80 attendees)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AV/tech setup &amp; recording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Secondary sponsor outreach via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 Alison network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Sponsor coordination — challenges, prizes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Curated </a:t>
            </a:r>
            <a:r>
              <a:rPr lang="en-US" sz="800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atabase outreach &amp; registration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Devpost setup for submissions &amp; judging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Discord server — participant channels</a:t>
            </a:r>
            <a:endParaRPr b="0" i="0" sz="800" u="none" cap="none" strike="noStrike">
              <a:solidFill>
                <a:srgbClr val="555555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55555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572000" y="2240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Day-Of</a:t>
            </a:r>
            <a:endParaRPr/>
          </a:p>
        </p:txBody>
      </p:sp>
      <p:cxnSp>
        <p:nvCxnSpPr>
          <p:cNvPr id="204" name="Google Shape;204;p19"/>
          <p:cNvCxnSpPr/>
          <p:nvPr/>
        </p:nvCxnSpPr>
        <p:spPr>
          <a:xfrm>
            <a:off x="4572000" y="2578608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5" name="Google Shape;205;p19"/>
          <p:cNvSpPr txBox="1"/>
          <p:nvPr/>
        </p:nvSpPr>
        <p:spPr>
          <a:xfrm>
            <a:off x="4572000" y="2697480"/>
            <a:ext cx="3474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7am: Setup — tables, chairs, signage, AV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Registration desk — check-in, badges, swag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Emcee/host coordination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Speaker &amp; workshop timing management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Mentor circulation coordination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Real-time troubleshooting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Demo &amp; judging logistics (5pm–7pm)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Winner announcements &amp; prize handoff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Venue teardown &amp; equipment return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366760" y="2240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Post-Event</a:t>
            </a:r>
            <a:endParaRPr/>
          </a:p>
        </p:txBody>
      </p:sp>
      <p:cxnSp>
        <p:nvCxnSpPr>
          <p:cNvPr id="207" name="Google Shape;207;p19"/>
          <p:cNvCxnSpPr/>
          <p:nvPr/>
        </p:nvCxnSpPr>
        <p:spPr>
          <a:xfrm>
            <a:off x="8366760" y="2578608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8" name="Google Shape;208;p19"/>
          <p:cNvSpPr txBox="1"/>
          <p:nvPr/>
        </p:nvSpPr>
        <p:spPr>
          <a:xfrm>
            <a:off x="8366760" y="2697480"/>
            <a:ext cx="34746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Event report — attendance, photos, folder, metrics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Opt-in attendee list to sponsors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Intro emails — sponsors to winning teams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Thank you emails to all participants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Post-event survey &amp; feedback collection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4750800" y="4426150"/>
            <a:ext cx="1747800" cy="2126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Team-Onsite: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b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1 lead operator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- Volunteers</a:t>
            </a: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for key session: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- Morning: Set Up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- Launch: Catering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- Evening: Final Demo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Curation of trusted partners: F&amp;B, AV, Venues.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903400" y="4249100"/>
            <a:ext cx="1747800" cy="795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to be defined: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Judges &amp; mentors recruitment &amp; briefing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313173" y="226285"/>
            <a:ext cx="50292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 in Progress.</a:t>
            </a:r>
            <a:endParaRPr sz="18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FULL SLIDE RELEASED ONCE AGREEMENT</a:t>
            </a:r>
            <a:endParaRPr b="1" sz="27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7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8529600" y="3868329"/>
            <a:ext cx="1747800" cy="1062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Add-On Deliverables</a:t>
            </a: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 Social media content creation—LinkedIn &amp; X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- </a:t>
            </a: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Videos - photos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0"/>
          <p:cNvCxnSpPr/>
          <p:nvPr/>
        </p:nvCxnSpPr>
        <p:spPr>
          <a:xfrm>
            <a:off x="731520" y="363855"/>
            <a:ext cx="3201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0" name="Google Shape;220;p20"/>
          <p:cNvSpPr txBox="1"/>
          <p:nvPr/>
        </p:nvSpPr>
        <p:spPr>
          <a:xfrm>
            <a:off x="731520" y="135255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INVESTMENT &amp; REVENUE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77240" y="501015"/>
            <a:ext cx="86868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PILOT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Let’s make it work 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77240" y="1717358"/>
            <a:ext cx="10652700" cy="384000"/>
          </a:xfrm>
          <a:prstGeom prst="rect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14400" y="1824228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F</a:t>
            </a: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LAT FEE</a:t>
            </a:r>
            <a:endParaRPr sz="1600"/>
          </a:p>
        </p:txBody>
      </p:sp>
      <p:sp>
        <p:nvSpPr>
          <p:cNvPr id="224" name="Google Shape;224;p20"/>
          <p:cNvSpPr txBox="1"/>
          <p:nvPr/>
        </p:nvSpPr>
        <p:spPr>
          <a:xfrm>
            <a:off x="2743200" y="1702499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$1,000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4754880" y="1808226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Covers Alison pre-event management, </a:t>
            </a:r>
            <a:r>
              <a:rPr lang="en-US" sz="800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online </a:t>
            </a:r>
            <a:r>
              <a:rPr b="0" i="0" lang="en-US" sz="800" u="none" cap="none" strike="noStrike">
                <a:solidFill>
                  <a:srgbClr val="88888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day-of production support &amp; post-event deliverables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777240" y="2317433"/>
            <a:ext cx="530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Starting Point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— $</a:t>
            </a: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2-2.5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K / sponsor × 4 sponsors</a:t>
            </a:r>
            <a:endParaRPr/>
          </a:p>
        </p:txBody>
      </p:sp>
      <p:cxnSp>
        <p:nvCxnSpPr>
          <p:cNvPr id="227" name="Google Shape;227;p20"/>
          <p:cNvCxnSpPr/>
          <p:nvPr/>
        </p:nvCxnSpPr>
        <p:spPr>
          <a:xfrm>
            <a:off x="777240" y="2655761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20"/>
          <p:cNvSpPr txBox="1"/>
          <p:nvPr/>
        </p:nvSpPr>
        <p:spPr>
          <a:xfrm>
            <a:off x="777240" y="2710625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Venue (free venue scenario)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343400" y="2710625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300-$500 (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cleaning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fee)</a:t>
            </a:r>
            <a:endParaRPr/>
          </a:p>
        </p:txBody>
      </p:sp>
      <p:cxnSp>
        <p:nvCxnSpPr>
          <p:cNvPr id="230" name="Google Shape;230;p20"/>
          <p:cNvCxnSpPr/>
          <p:nvPr/>
        </p:nvCxnSpPr>
        <p:spPr>
          <a:xfrm>
            <a:off x="777240" y="2984945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1" name="Google Shape;231;p20"/>
          <p:cNvSpPr txBox="1"/>
          <p:nvPr/>
        </p:nvSpPr>
        <p:spPr>
          <a:xfrm>
            <a:off x="777240" y="3039809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Venue (paid venue scenario)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343400" y="3039809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,500–$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,000</a:t>
            </a:r>
            <a:endParaRPr/>
          </a:p>
        </p:txBody>
      </p:sp>
      <p:cxnSp>
        <p:nvCxnSpPr>
          <p:cNvPr id="233" name="Google Shape;233;p20"/>
          <p:cNvCxnSpPr/>
          <p:nvPr/>
        </p:nvCxnSpPr>
        <p:spPr>
          <a:xfrm>
            <a:off x="777240" y="3314129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20"/>
          <p:cNvSpPr txBox="1"/>
          <p:nvPr/>
        </p:nvSpPr>
        <p:spPr>
          <a:xfrm>
            <a:off x="777240" y="3368993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Catering (80 ppl)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343400" y="336899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$2,500–$3,000</a:t>
            </a:r>
            <a:endParaRPr/>
          </a:p>
        </p:txBody>
      </p:sp>
      <p:cxnSp>
        <p:nvCxnSpPr>
          <p:cNvPr id="236" name="Google Shape;236;p20"/>
          <p:cNvCxnSpPr/>
          <p:nvPr/>
        </p:nvCxnSpPr>
        <p:spPr>
          <a:xfrm>
            <a:off x="777240" y="3643313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7" name="Google Shape;237;p20"/>
          <p:cNvSpPr txBox="1"/>
          <p:nvPr/>
        </p:nvSpPr>
        <p:spPr>
          <a:xfrm>
            <a:off x="777240" y="3698177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Contingency (10%)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4343400" y="369817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$250–$900</a:t>
            </a:r>
            <a:endParaRPr/>
          </a:p>
        </p:txBody>
      </p:sp>
      <p:cxnSp>
        <p:nvCxnSpPr>
          <p:cNvPr id="239" name="Google Shape;239;p20"/>
          <p:cNvCxnSpPr/>
          <p:nvPr/>
        </p:nvCxnSpPr>
        <p:spPr>
          <a:xfrm>
            <a:off x="777240" y="3963924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0" name="Google Shape;240;p20"/>
          <p:cNvSpPr txBox="1"/>
          <p:nvPr/>
        </p:nvSpPr>
        <p:spPr>
          <a:xfrm>
            <a:off x="777240" y="4009228"/>
            <a:ext cx="34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On site </a:t>
            </a: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Team  Fee Pocket: </a:t>
            </a:r>
            <a:endParaRPr b="0" i="0" sz="800" u="none" cap="none" strike="noStrike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Space Grotesk"/>
              <a:buChar char="-"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1 MC - LEAD OPERATOR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Space Grotesk"/>
              <a:buChar char="-"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2 VOLUNTEERS 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343400" y="3991095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$1,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225</a:t>
            </a:r>
            <a:endParaRPr/>
          </a:p>
        </p:txBody>
      </p:sp>
      <p:cxnSp>
        <p:nvCxnSpPr>
          <p:cNvPr id="242" name="Google Shape;242;p20"/>
          <p:cNvCxnSpPr/>
          <p:nvPr/>
        </p:nvCxnSpPr>
        <p:spPr>
          <a:xfrm>
            <a:off x="811540" y="4901751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20"/>
          <p:cNvSpPr txBox="1"/>
          <p:nvPr/>
        </p:nvSpPr>
        <p:spPr>
          <a:xfrm>
            <a:off x="777240" y="4956620"/>
            <a:ext cx="3474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 (4 sponsors)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4343400" y="4888040"/>
            <a:ext cx="15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$8,000 - </a:t>
            </a:r>
            <a:r>
              <a:rPr b="0" i="0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10</a:t>
            </a:r>
            <a:r>
              <a:rPr b="0" i="0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,000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77240" y="5299520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PROFIT</a:t>
            </a:r>
            <a:endParaRPr/>
          </a:p>
        </p:txBody>
      </p:sp>
      <p:cxnSp>
        <p:nvCxnSpPr>
          <p:cNvPr id="246" name="Google Shape;246;p20"/>
          <p:cNvCxnSpPr/>
          <p:nvPr/>
        </p:nvCxnSpPr>
        <p:spPr>
          <a:xfrm>
            <a:off x="777240" y="5528120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20"/>
          <p:cNvSpPr txBox="1"/>
          <p:nvPr/>
        </p:nvSpPr>
        <p:spPr>
          <a:xfrm>
            <a:off x="777240" y="5582984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Best case (free venue)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343400" y="5514404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~$3000</a:t>
            </a:r>
            <a:endParaRPr/>
          </a:p>
        </p:txBody>
      </p:sp>
      <p:cxnSp>
        <p:nvCxnSpPr>
          <p:cNvPr id="249" name="Google Shape;249;p20"/>
          <p:cNvCxnSpPr/>
          <p:nvPr/>
        </p:nvCxnSpPr>
        <p:spPr>
          <a:xfrm>
            <a:off x="777240" y="5839016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0"/>
          <p:cNvSpPr txBox="1"/>
          <p:nvPr/>
        </p:nvSpPr>
        <p:spPr>
          <a:xfrm>
            <a:off x="777240" y="5893880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(paid venue)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4343400" y="5825300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Up  to $2,000</a:t>
            </a:r>
            <a:endParaRPr/>
          </a:p>
        </p:txBody>
      </p:sp>
      <p:cxnSp>
        <p:nvCxnSpPr>
          <p:cNvPr id="252" name="Google Shape;252;p20"/>
          <p:cNvCxnSpPr/>
          <p:nvPr/>
        </p:nvCxnSpPr>
        <p:spPr>
          <a:xfrm>
            <a:off x="777240" y="6149912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3" name="Google Shape;253;p20"/>
          <p:cNvSpPr txBox="1"/>
          <p:nvPr/>
        </p:nvSpPr>
        <p:spPr>
          <a:xfrm>
            <a:off x="777240" y="6204776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Break-even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4343400" y="6136196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2-4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sponsors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492240" y="2317433"/>
            <a:ext cx="530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Expected Scenario once the engine action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— $</a:t>
            </a: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K / sponsor × </a:t>
            </a: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–</a:t>
            </a:r>
            <a:r>
              <a:rPr i="1" lang="en-US" sz="12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  <a:r>
              <a:rPr b="0" i="1" lang="en-US" sz="12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sponsors</a:t>
            </a:r>
            <a:endParaRPr/>
          </a:p>
        </p:txBody>
      </p:sp>
      <p:cxnSp>
        <p:nvCxnSpPr>
          <p:cNvPr id="256" name="Google Shape;256;p20"/>
          <p:cNvCxnSpPr/>
          <p:nvPr/>
        </p:nvCxnSpPr>
        <p:spPr>
          <a:xfrm>
            <a:off x="6492240" y="2655761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7" name="Google Shape;257;p20"/>
          <p:cNvSpPr txBox="1"/>
          <p:nvPr/>
        </p:nvSpPr>
        <p:spPr>
          <a:xfrm>
            <a:off x="6492240" y="2710625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Venue (free venue scenario)</a:t>
            </a:r>
            <a:endParaRPr/>
          </a:p>
        </p:txBody>
      </p:sp>
      <p:cxnSp>
        <p:nvCxnSpPr>
          <p:cNvPr id="258" name="Google Shape;258;p20"/>
          <p:cNvCxnSpPr/>
          <p:nvPr/>
        </p:nvCxnSpPr>
        <p:spPr>
          <a:xfrm>
            <a:off x="6492240" y="2984945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20"/>
          <p:cNvSpPr txBox="1"/>
          <p:nvPr/>
        </p:nvSpPr>
        <p:spPr>
          <a:xfrm>
            <a:off x="6492240" y="3039809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Venue (paid venue scenario)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0058400" y="3039809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$3,500–$6,000</a:t>
            </a:r>
            <a:endParaRPr/>
          </a:p>
        </p:txBody>
      </p:sp>
      <p:cxnSp>
        <p:nvCxnSpPr>
          <p:cNvPr id="261" name="Google Shape;261;p20"/>
          <p:cNvCxnSpPr/>
          <p:nvPr/>
        </p:nvCxnSpPr>
        <p:spPr>
          <a:xfrm>
            <a:off x="6492240" y="3314129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20"/>
          <p:cNvSpPr txBox="1"/>
          <p:nvPr/>
        </p:nvSpPr>
        <p:spPr>
          <a:xfrm>
            <a:off x="6492240" y="3368993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Catering (80 ppl)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0058400" y="336899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30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00–$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,000</a:t>
            </a:r>
            <a:endParaRPr/>
          </a:p>
        </p:txBody>
      </p:sp>
      <p:cxnSp>
        <p:nvCxnSpPr>
          <p:cNvPr id="264" name="Google Shape;264;p20"/>
          <p:cNvCxnSpPr/>
          <p:nvPr/>
        </p:nvCxnSpPr>
        <p:spPr>
          <a:xfrm>
            <a:off x="6492240" y="3643313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20"/>
          <p:cNvSpPr txBox="1"/>
          <p:nvPr/>
        </p:nvSpPr>
        <p:spPr>
          <a:xfrm>
            <a:off x="6492240" y="3698177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Contingency (10%)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0058400" y="369817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650-1100</a:t>
            </a:r>
            <a:endParaRPr/>
          </a:p>
        </p:txBody>
      </p:sp>
      <p:cxnSp>
        <p:nvCxnSpPr>
          <p:cNvPr id="267" name="Google Shape;267;p20"/>
          <p:cNvCxnSpPr/>
          <p:nvPr/>
        </p:nvCxnSpPr>
        <p:spPr>
          <a:xfrm>
            <a:off x="6492240" y="3972497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20"/>
          <p:cNvSpPr txBox="1"/>
          <p:nvPr/>
        </p:nvSpPr>
        <p:spPr>
          <a:xfrm>
            <a:off x="6492240" y="4027361"/>
            <a:ext cx="347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On site Production Team  Fee Pocket: 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- </a:t>
            </a: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1 MC 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- LEAD OPERATOR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2 VOLUNTEERS </a:t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0058400" y="4027361"/>
            <a:ext cx="155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$2000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cxnSp>
        <p:nvCxnSpPr>
          <p:cNvPr id="270" name="Google Shape;270;p20"/>
          <p:cNvCxnSpPr/>
          <p:nvPr/>
        </p:nvCxnSpPr>
        <p:spPr>
          <a:xfrm>
            <a:off x="6492240" y="4927297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 txBox="1"/>
          <p:nvPr/>
        </p:nvSpPr>
        <p:spPr>
          <a:xfrm>
            <a:off x="6492240" y="4964522"/>
            <a:ext cx="3474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 (</a:t>
            </a:r>
            <a:r>
              <a:rPr b="1" lang="en-US" sz="90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r>
              <a:rPr b="1" i="0" lang="en-US" sz="9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</a:t>
            </a:r>
            <a:r>
              <a:rPr b="1" lang="en-US" sz="900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r>
              <a:rPr b="1" i="0" lang="en-US" sz="900" u="none" cap="none" strike="noStrike">
                <a:solidFill>
                  <a:srgbClr val="1A1A1A"/>
                </a:solidFill>
                <a:latin typeface="Space Grotesk"/>
                <a:ea typeface="Space Grotesk"/>
                <a:cs typeface="Space Grotesk"/>
                <a:sym typeface="Space Grotesk"/>
              </a:rPr>
              <a:t> sponsors)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10058400" y="4911605"/>
            <a:ext cx="15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15,000</a:t>
            </a:r>
            <a:r>
              <a:rPr b="0" i="0" lang="en-US" sz="14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–</a:t>
            </a:r>
            <a:r>
              <a:rPr lang="en-US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$25,000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492240" y="5287807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PROFIT</a:t>
            </a:r>
            <a:endParaRPr/>
          </a:p>
        </p:txBody>
      </p:sp>
      <p:cxnSp>
        <p:nvCxnSpPr>
          <p:cNvPr id="274" name="Google Shape;274;p20"/>
          <p:cNvCxnSpPr/>
          <p:nvPr/>
        </p:nvCxnSpPr>
        <p:spPr>
          <a:xfrm>
            <a:off x="6492240" y="5516407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20"/>
          <p:cNvSpPr txBox="1"/>
          <p:nvPr/>
        </p:nvSpPr>
        <p:spPr>
          <a:xfrm>
            <a:off x="6492240" y="5571271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Best case (free venue)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0058400" y="5571271"/>
            <a:ext cx="155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~$7,960–$17,960</a:t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cxnSp>
        <p:nvCxnSpPr>
          <p:cNvPr id="277" name="Google Shape;277;p20"/>
          <p:cNvCxnSpPr/>
          <p:nvPr/>
        </p:nvCxnSpPr>
        <p:spPr>
          <a:xfrm>
            <a:off x="6492240" y="5827303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8" name="Google Shape;278;p20"/>
          <p:cNvSpPr txBox="1"/>
          <p:nvPr/>
        </p:nvSpPr>
        <p:spPr>
          <a:xfrm>
            <a:off x="6492240" y="5882167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Standard (paid venue)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10058400" y="588216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~$3,175 - ~$13,175</a:t>
            </a:r>
            <a:endParaRPr/>
          </a:p>
        </p:txBody>
      </p:sp>
      <p:cxnSp>
        <p:nvCxnSpPr>
          <p:cNvPr id="280" name="Google Shape;280;p20"/>
          <p:cNvCxnSpPr/>
          <p:nvPr/>
        </p:nvCxnSpPr>
        <p:spPr>
          <a:xfrm>
            <a:off x="6492240" y="6138199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p20"/>
          <p:cNvSpPr txBox="1"/>
          <p:nvPr/>
        </p:nvSpPr>
        <p:spPr>
          <a:xfrm>
            <a:off x="6492240" y="6193063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Break-even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10058400" y="6193063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2-3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sponsors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731520" y="6500813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 × Bond.ai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7992886" y="6540288"/>
            <a:ext cx="365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Confidential</a:t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8496850" y="543100"/>
            <a:ext cx="3298800" cy="795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PROFIT MARGIN REPARTITION: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A"/>
              </a:buClr>
              <a:buSzPts val="900"/>
              <a:buFont typeface="Space Grotesk"/>
              <a:buChar char="-"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BOND: 80% 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A"/>
              </a:buClr>
              <a:buSzPts val="900"/>
              <a:buFont typeface="Space Grotesk"/>
              <a:buChar char="-"/>
            </a:pPr>
            <a:r>
              <a:rPr lang="en-US" sz="900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BLOOMING: 20%</a:t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6B5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10058400" y="2749187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$</a:t>
            </a: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300-$500 (cleaning fee)</a:t>
            </a:r>
            <a:endParaRPr/>
          </a:p>
        </p:txBody>
      </p:sp>
      <p:cxnSp>
        <p:nvCxnSpPr>
          <p:cNvPr id="287" name="Google Shape;287;p20"/>
          <p:cNvCxnSpPr/>
          <p:nvPr/>
        </p:nvCxnSpPr>
        <p:spPr>
          <a:xfrm>
            <a:off x="811540" y="4478084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88" name="Google Shape;288;p20"/>
          <p:cNvSpPr txBox="1"/>
          <p:nvPr/>
        </p:nvSpPr>
        <p:spPr>
          <a:xfrm>
            <a:off x="823015" y="4558317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Media Production 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4953675" y="4525629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Price on demand.</a:t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828623" y="4657982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Pocket: 1.5k - 3k</a:t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cxnSp>
        <p:nvCxnSpPr>
          <p:cNvPr id="291" name="Google Shape;291;p20"/>
          <p:cNvCxnSpPr/>
          <p:nvPr/>
        </p:nvCxnSpPr>
        <p:spPr>
          <a:xfrm>
            <a:off x="6476104" y="4604020"/>
            <a:ext cx="5120700" cy="0"/>
          </a:xfrm>
          <a:prstGeom prst="straightConnector1">
            <a:avLst/>
          </a:prstGeom>
          <a:noFill/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92" name="Google Shape;292;p20"/>
          <p:cNvSpPr txBox="1"/>
          <p:nvPr/>
        </p:nvSpPr>
        <p:spPr>
          <a:xfrm>
            <a:off x="6492240" y="4649129"/>
            <a:ext cx="34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Media Production 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10666942" y="4669904"/>
            <a:ext cx="1554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Price on demand.</a:t>
            </a:r>
            <a:endParaRPr sz="1000">
              <a:solidFill>
                <a:srgbClr val="1A1A1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6030468" y="1014984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030468" y="1417320"/>
            <a:ext cx="128016" cy="128016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5829300" y="1216152"/>
            <a:ext cx="128016" cy="128016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231636" y="1216152"/>
            <a:ext cx="128016" cy="128016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6039612" y="1225296"/>
            <a:ext cx="109728" cy="109728"/>
          </a:xfrm>
          <a:prstGeom prst="ellipse">
            <a:avLst/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371600" y="1737360"/>
            <a:ext cx="94182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A1A1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 pilot Event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US" sz="40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  <a:r>
              <a:rPr i="1" lang="en-US" sz="40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</a:t>
            </a:r>
            <a:r>
              <a:rPr b="0" i="1" lang="en-US" sz="4000" u="none" cap="none" strike="noStrike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 c</a:t>
            </a:r>
            <a:r>
              <a:rPr i="1" lang="en-US" sz="40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rash test the format </a:t>
            </a:r>
            <a:endParaRPr i="1" sz="4000">
              <a:solidFill>
                <a:srgbClr val="5C6B5A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5C6B5A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Let’s ship what we do best 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1842575" y="3922967"/>
            <a:ext cx="850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</a:t>
            </a:r>
            <a:r>
              <a:rPr i="1" lang="en-US" sz="1200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ideal</a:t>
            </a:r>
            <a:r>
              <a:rPr b="0" i="1" lang="en-US" sz="1200" u="none" cap="none" strike="noStrike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way to validate a partnership is to do the work. One hackathon</a:t>
            </a:r>
            <a:r>
              <a:rPr i="1" lang="en-US" sz="1200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in </a:t>
            </a:r>
            <a:r>
              <a:rPr b="0" i="1" lang="en-US" sz="1200" u="none" cap="none" strike="noStrike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SF</a:t>
            </a:r>
            <a:r>
              <a:rPr i="1" lang="en-US" sz="1200">
                <a:solidFill>
                  <a:srgbClr val="666666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(Ideally mid or end of May. Date to be confirmed upon validation). </a:t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3931920" y="4407408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114800" y="4343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Align on hackathon theme — pick the one with the strongest sponsor momentum</a:t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3931920" y="4754880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114800" y="46908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Bond leads sponsor outreach, Blooming starts venue sourcing in parallel</a:t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3931920" y="5102352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114800" y="50383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Lock 2 sponsors to confirm the pilot — go from there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1371600" y="5532120"/>
            <a:ext cx="9418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alison@weareblooming.co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1371600" y="5833872"/>
            <a:ext cx="9418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5C6B5A"/>
                </a:solidFill>
                <a:latin typeface="Space Grotesk"/>
                <a:ea typeface="Space Grotesk"/>
                <a:cs typeface="Space Grotesk"/>
                <a:sym typeface="Space Grotesk"/>
              </a:rPr>
              <a:t>WEAREBLOOMING.CO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Blooming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AAA8A4"/>
                </a:solidFill>
                <a:latin typeface="Space Grotesk"/>
                <a:ea typeface="Space Grotesk"/>
                <a:cs typeface="Space Grotesk"/>
                <a:sym typeface="Space Grotesk"/>
              </a:rPr>
              <a:t>Growth that matters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