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4060" y="444399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4060" y="608991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7746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4011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4060" y="604876"/>
            <a:ext cx="106984" cy="10698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66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Space Grotesk"/>
              </a:rPr>
              <a:t>BLOOMING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1A1A1A"/>
                </a:solidFill>
                <a:latin typeface="Cormorant Garamond"/>
              </a:rPr>
              <a:t>BLOOMING × EventGen</a:t>
            </a:r>
          </a:p>
          <a:p>
            <a:pPr algn="l">
              <a:spcBef>
                <a:spcPts val="400"/>
              </a:spcBef>
            </a:pPr>
            <a:r>
              <a:rPr sz="4200" b="0" i="1">
                <a:solidFill>
                  <a:srgbClr val="5C6B5A"/>
                </a:solidFill>
                <a:latin typeface="Cormorant Garamond"/>
              </a:rPr>
              <a:t>Summary of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Space Grotesk"/>
              </a:rPr>
              <a:t>April 18 – June 5,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05072"/>
            <a:ext cx="1371600" cy="237744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325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Space Grotesk"/>
              </a:rPr>
              <a:t>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pace Grotesk"/>
              </a:rPr>
              <a:t>Prepared by Alison Granger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Pipeline Metrics Review.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As of June 5,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VENUES SOURCED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97180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03580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~15  CONFIRMED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~18  IN DISCUSSION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~35  EMAILED / OUTREACH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~12  FORM SENT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~3  NOT INTERESTED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Space Grotesk"/>
              </a:rPr>
              <a:t>SF · LA · Austin · NY · Toronto · London · Paris · Berlin · Singapore — 9 cities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128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MEDIA VENDORS SOURCED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97180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303580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~18  CONFIRMED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~4  IN DISCUSSION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~8  EMAILED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434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Space Grotesk"/>
              </a:rPr>
              <a:t>SF · LA · NY · Toronto · London · Paris · Berlin · Seattle · Austin · Singapore — 10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128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432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TOTAL CONTACTS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297180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75320" y="3035808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~33  CONFIRMED RELATIONSHIPS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~22  ACTIVE PIPELINE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~27%  CONVERSION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434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Space Grotesk"/>
              </a:rPr>
              <a:t>Combined venues + media vendors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95604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0657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KEY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Space Grotesk"/>
              </a:rPr>
              <a:t>–  Strong confirmation rate at 27%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Berlin and Singapore fully sourced with confirmed vendors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NY and LA have the deepest venue pipelines</a:t>
            </a:r>
          </a:p>
          <a:p>
            <a:pPr algn="l">
              <a:spcBef>
                <a:spcPts val="3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Media vendor network already operational in all 9 markets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CITIES IN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  <a:latin typeface="Cormorant Garamond"/>
              </a:rPr>
              <a:t>United States.</a:t>
            </a:r>
          </a:p>
          <a:p>
            <a:pPr algn="l">
              <a:spcBef>
                <a:spcPts val="400"/>
              </a:spcBef>
            </a:pPr>
            <a:r>
              <a:rPr sz="2800" b="0" i="1">
                <a:solidFill>
                  <a:srgbClr val="5C6B5A"/>
                </a:solidFill>
                <a:latin typeface="Cormorant Garamond"/>
              </a:rPr>
              <a:t>Venue Pipeline.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0195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975104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7510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VENUES &amp; 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26771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San Francisco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67712"/>
            <a:ext cx="8961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Digital Garage — need to work on layout, partnership 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587752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670048"/>
            <a:ext cx="1691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New York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70048"/>
            <a:ext cx="8961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The Box House Hotel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VESPER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⇒ Call Tuesday to streamline details — catering in-house, AV: TBC (not confirmed if included)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337560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419856"/>
            <a:ext cx="16916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Los Angeles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419856"/>
            <a:ext cx="8961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Hype Studios — great venue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Hot Shot Muffler — too small but great AV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Skyline Penthouse — waiting for specs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087368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169664"/>
            <a:ext cx="169164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Austin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169664"/>
            <a:ext cx="89611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Wanderlust — Shady Lane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Wanderlust — Downtown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Wanderlust — Barton Springs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Regal Room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dadaLab — call on Wednesday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184648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266944"/>
            <a:ext cx="1691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Seattle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66944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1712 Studios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Block 41 — need to send the layout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760720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CITIES OUT OF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  <a:latin typeface="Cormorant Garamond"/>
              </a:rPr>
              <a:t>International.</a:t>
            </a:r>
          </a:p>
          <a:p>
            <a:pPr algn="l">
              <a:spcBef>
                <a:spcPts val="400"/>
              </a:spcBef>
            </a:pPr>
            <a:r>
              <a:rPr sz="2800" b="0" i="1">
                <a:solidFill>
                  <a:srgbClr val="5C6B5A"/>
                </a:solidFill>
                <a:latin typeface="Cormorant Garamond"/>
              </a:rPr>
              <a:t>Venue Pipeline.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0195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975104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7510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VENUES &amp; 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26771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London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67712"/>
            <a:ext cx="8961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Tobacco Dock — complex venue (must work with their caterer). Call with sales director June 5th — want to work with us but several rounds needed. Commission: 8%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New venue recommendations not yet contacted (from vendors): acceleratorcentre.com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779776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862072"/>
            <a:ext cx="1691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62072"/>
            <a:ext cx="8961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0 fully confirmed (150+ pax) — warm lead with Station F, coming back week of June 8th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Equiria — 50 pax in theater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mk2 — call on Wednesday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La Maison (lamaison.ai) — need to circle back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739896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82219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Berlin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822192"/>
            <a:ext cx="8961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SpaceShack — confirmed partner, very happy to work with us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Forum Factory + Backspace Berlin — same entity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334256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41655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Toronto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16552"/>
            <a:ext cx="8961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Startuptive — 75 pax in theater style (too small)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CSI — warm lead, busy this week, coming back week of June 8th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928616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010912"/>
            <a:ext cx="1691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Singapore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010912"/>
            <a:ext cx="89611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1 confirmed (small venue)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1 in conversation — call on Wednesday</a:t>
            </a:r>
          </a:p>
          <a:p>
            <a:pPr algn="l">
              <a:spcBef>
                <a:spcPts val="2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Need to reactivate additional contact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705856"/>
            <a:ext cx="10652760" cy="0"/>
          </a:xfrm>
          <a:prstGeom prst="line">
            <a:avLst/>
          </a:prstGeom>
          <a:ln w="381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CATERERS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Catering.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Sourcing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0652760" cy="502920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ormorant Garamond"/>
              </a:rPr>
              <a:t>~45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C6B5A"/>
                </a:solidFill>
                <a:latin typeface="Space Grotesk"/>
              </a:rPr>
              <a:t>TOTAL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4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ormorant Garamond"/>
              </a:rPr>
              <a:t>~27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8833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C6B5A"/>
                </a:solidFill>
                <a:latin typeface="Space Grotesk"/>
              </a:rPr>
              <a:t>EMAILED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4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ormorant Garamond"/>
              </a:rPr>
              <a:t>~15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8833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C6B5A"/>
                </a:solidFill>
                <a:latin typeface="Space Grotesk"/>
              </a:rPr>
              <a:t>FORM 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40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  <a:latin typeface="Cormorant Garamond"/>
              </a:rPr>
              <a:t>~3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8833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C6B5A"/>
                </a:solidFill>
                <a:latin typeface="Space Grotesk"/>
              </a:rPr>
              <a:t>CONFIRMED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294436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063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Los Angeles — MBM Hospitality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Los Angeles — Pino's Sandwiches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Berlin — Bellabona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063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In-House (venue-provided)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3649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London (Tobacco Dock)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New York (Box House Hotel / VESPER)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63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Next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649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Austin — recommendations from Regal Room pending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12064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77240" y="5230368"/>
            <a:ext cx="36576" cy="502920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  <a:latin typeface="Cormorant Garamond"/>
              </a:rPr>
              <a:t>Catering has been harder to source — requires catching contacts at the right time. In-house catering at London and NYC venues simplifies logistics for those markets.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MEDIA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Media.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Photo &amp; Video sourcing.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TOTAL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402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IN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2402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~8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7432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EMAILED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03580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154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CITIES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San Francisco  ·  Los Angeles  ·  Paris  ·  New York  ·  Toronto  ·  London  ·  Berlin  ·  Seattle  ·  Austin  ·  Singapore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pace Grotesk"/>
              </a:rPr>
              <a:t>10 cities — full media vendor coverage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06908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" y="4160520"/>
            <a:ext cx="36576" cy="548640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Media vendor network is already operational across all 10 markets. ~60% confirmation rate across sourced contacts — the strongest track in the overall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EventGen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