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34060" y="444399"/>
            <a:ext cx="106984" cy="263347"/>
          </a:xfrm>
          <a:prstGeom prst="ellipse">
            <a:avLst/>
          </a:prstGeom>
          <a:solidFill>
            <a:srgbClr val="5C6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4060" y="608991"/>
            <a:ext cx="106984" cy="263347"/>
          </a:xfrm>
          <a:prstGeom prst="ellipse">
            <a:avLst/>
          </a:prstGeom>
          <a:solidFill>
            <a:srgbClr val="5C6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07746" y="604876"/>
            <a:ext cx="263347" cy="106984"/>
          </a:xfrm>
          <a:prstGeom prst="ellipse">
            <a:avLst/>
          </a:prstGeom>
          <a:solidFill>
            <a:srgbClr val="8B7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4011" y="604876"/>
            <a:ext cx="263347" cy="106984"/>
          </a:xfrm>
          <a:prstGeom prst="ellipse">
            <a:avLst/>
          </a:prstGeom>
          <a:solidFill>
            <a:srgbClr val="8B7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4060" y="604876"/>
            <a:ext cx="106984" cy="106984"/>
          </a:xfrm>
          <a:prstGeom prst="ellipse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61872" y="56692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  <a:latin typeface="Space Grotesk"/>
              </a:rPr>
              <a:t>BLOOMING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37160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0" i="0">
                <a:solidFill>
                  <a:srgbClr val="1A1A1A"/>
                </a:solidFill>
                <a:latin typeface="Cormorant Garamond"/>
              </a:rPr>
              <a:t>EventGen × Blooming</a:t>
            </a:r>
          </a:p>
          <a:p>
            <a:pPr algn="l">
              <a:spcBef>
                <a:spcPts val="400"/>
              </a:spcBef>
            </a:pPr>
            <a:r>
              <a:rPr sz="4200" b="0" i="1">
                <a:solidFill>
                  <a:srgbClr val="5C6B5A"/>
                </a:solidFill>
                <a:latin typeface="Cormorant Garamond"/>
              </a:rPr>
              <a:t>Venues &amp; Vendors Sourcing.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520440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Space Grotesk"/>
              </a:rPr>
              <a:t>Multi-City Event Infrastructure  ·  10+ Cities  ·  2-Week Delivery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4005072"/>
            <a:ext cx="1188720" cy="237744"/>
          </a:xfrm>
          <a:prstGeom prst="rect">
            <a:avLst/>
          </a:prstGeom>
          <a:noFill/>
          <a:ln w="6350">
            <a:solidFill>
              <a:srgbClr val="E0D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4032504"/>
            <a:ext cx="1051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888888"/>
                </a:solidFill>
                <a:latin typeface="Space Grotesk"/>
              </a:rPr>
              <a:t>MAY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943600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Space Grotesk"/>
              </a:rPr>
              <a:t>Prepared by Alison Granger, Co-Founder &amp; CEO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594360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888888"/>
                </a:solidFill>
                <a:latin typeface="Space Grotesk"/>
              </a:rPr>
              <a:t>BLOOMING  ×  EVENTGEN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41908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AAA8A4"/>
                </a:solidFill>
                <a:latin typeface="Space Grotesk"/>
              </a:rPr>
              <a:t>Blooming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641908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0" i="0">
                <a:solidFill>
                  <a:srgbClr val="AAA8A4"/>
                </a:solidFill>
                <a:latin typeface="Space Grotesk"/>
              </a:rPr>
              <a:t>weareblooming.co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777240" y="987552"/>
            <a:ext cx="292608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77240" y="749808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C6B5A"/>
                </a:solidFill>
                <a:latin typeface="Space Grotesk"/>
              </a:rPr>
              <a:t>THE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97280"/>
            <a:ext cx="9144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1A1A1A"/>
                </a:solidFill>
                <a:latin typeface="Cormorant Garamond"/>
              </a:rPr>
              <a:t>One platform.</a:t>
            </a:r>
          </a:p>
          <a:p>
            <a:pPr algn="l">
              <a:spcBef>
                <a:spcPts val="400"/>
              </a:spcBef>
            </a:pPr>
            <a:r>
              <a:rPr sz="3000" b="0" i="1">
                <a:solidFill>
                  <a:srgbClr val="5C6B5A"/>
                </a:solidFill>
                <a:latin typeface="Cormorant Garamond"/>
              </a:rPr>
              <a:t>Every city. Every format.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395728"/>
            <a:ext cx="36576" cy="658368"/>
          </a:xfrm>
          <a:prstGeom prst="rect">
            <a:avLst/>
          </a:prstGeom>
          <a:solidFill>
            <a:srgbClr val="C4B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37744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555555"/>
                </a:solidFill>
                <a:latin typeface="Cormorant Garamond"/>
              </a:rPr>
              <a:t>EventGen is an integrated booking system combining venue selection, catering, photography/video, printing, and badge systems — all synced with Google Calendar. The goal: organize any event in ~5 minutes, consistently, across 10+ cities globally.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24612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C6B5A"/>
                </a:solidFill>
                <a:latin typeface="Cormorant Garamond"/>
              </a:rPr>
              <a:t>What EventGen brings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56616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5555"/>
                </a:solidFill>
                <a:latin typeface="Space Grotesk"/>
              </a:rPr>
              <a:t>–  Integrated booking engine — venue, catering, AV, badges in one platform</a:t>
            </a:r>
          </a:p>
          <a:p>
            <a:pPr algn="l">
              <a:spcBef>
                <a:spcPts val="400"/>
              </a:spcBef>
            </a:pPr>
            <a:r>
              <a:rPr sz="850" b="0" i="0">
                <a:solidFill>
                  <a:srgbClr val="555555"/>
                </a:solidFill>
                <a:latin typeface="Space Grotesk"/>
              </a:rPr>
              <a:t>–  Google Calendar sync for real-time availability across all cities</a:t>
            </a:r>
          </a:p>
          <a:p>
            <a:pPr algn="l">
              <a:spcBef>
                <a:spcPts val="400"/>
              </a:spcBef>
            </a:pPr>
            <a:r>
              <a:rPr sz="850" b="0" i="0">
                <a:solidFill>
                  <a:srgbClr val="555555"/>
                </a:solidFill>
                <a:latin typeface="Space Grotesk"/>
              </a:rPr>
              <a:t>–  Scalable model: Meetup · Workshop · Hackathon — up to 200 attendees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24612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C6B5A"/>
                </a:solidFill>
                <a:latin typeface="Cormorant Garamond"/>
              </a:rPr>
              <a:t>What Blooming brings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56616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5555"/>
                </a:solidFill>
                <a:latin typeface="Space Grotesk"/>
              </a:rPr>
              <a:t>–  Alison knows Digital Jungle and its stakeholders — she was part of the launch via BeMyApp / AI User Group</a:t>
            </a:r>
          </a:p>
          <a:p>
            <a:pPr algn="l">
              <a:spcBef>
                <a:spcPts val="400"/>
              </a:spcBef>
            </a:pPr>
            <a:r>
              <a:rPr sz="850" b="0" i="0">
                <a:solidFill>
                  <a:srgbClr val="555555"/>
                </a:solidFill>
                <a:latin typeface="Space Grotesk"/>
              </a:rPr>
              <a:t>–  Network in SF, LatAm, and Paris tech ecosystems — sourcing at speed</a:t>
            </a:r>
          </a:p>
          <a:p>
            <a:pPr algn="l">
              <a:spcBef>
                <a:spcPts val="400"/>
              </a:spcBef>
            </a:pPr>
            <a:r>
              <a:rPr sz="850" b="0" i="0">
                <a:solidFill>
                  <a:srgbClr val="555555"/>
                </a:solidFill>
                <a:latin typeface="Space Grotesk"/>
              </a:rPr>
              <a:t>–  Continuity in the collaboration means execution from day one.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77240" y="4846320"/>
            <a:ext cx="10652760" cy="0"/>
          </a:xfrm>
          <a:prstGeom prst="line">
            <a:avLst/>
          </a:prstGeom>
          <a:ln w="6350">
            <a:solidFill>
              <a:srgbClr val="E0DD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77240" y="495604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88888"/>
                </a:solidFill>
                <a:latin typeface="Cormorant Garamond"/>
              </a:rPr>
              <a:t>EventGen needs a trusted sourcing partner with real relationships in each city. Blooming has the network, the execution track record, and the continuity with Digital Jungle to move fast.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641908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AAA8A4"/>
                </a:solidFill>
                <a:latin typeface="Space Grotesk"/>
              </a:rPr>
              <a:t>Blooming × EventGen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641908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0" i="0">
                <a:solidFill>
                  <a:srgbClr val="AAA8A4"/>
                </a:solidFill>
                <a:latin typeface="Space Grotesk"/>
              </a:rPr>
              <a:t>weareblooming.co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777240" y="987552"/>
            <a:ext cx="292608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77240" y="749808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C6B5A"/>
                </a:solidFill>
                <a:latin typeface="Space Grotesk"/>
              </a:rPr>
              <a:t>THE MISSION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9728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1A1A1A"/>
                </a:solidFill>
                <a:latin typeface="Cormorant Garamond"/>
              </a:rPr>
              <a:t>Build the supplier ecosystem.</a:t>
            </a:r>
          </a:p>
          <a:p>
            <a:pPr algn="l">
              <a:spcBef>
                <a:spcPts val="400"/>
              </a:spcBef>
            </a:pPr>
            <a:r>
              <a:rPr sz="3000" b="0" i="1">
                <a:solidFill>
                  <a:srgbClr val="5C6B5A"/>
                </a:solidFill>
                <a:latin typeface="Cormorant Garamond"/>
              </a:rPr>
              <a:t>2 weeks.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67712"/>
            <a:ext cx="2194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5C6B5A"/>
                </a:solidFill>
                <a:latin typeface="Space Grotesk"/>
              </a:rPr>
              <a:t>TIMELINE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450592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ormorant Garamond"/>
              </a:rPr>
              <a:t>2 Weeks — from May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2267712"/>
            <a:ext cx="2194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5C6B5A"/>
                </a:solidFill>
                <a:latin typeface="Space Grotesk"/>
              </a:rPr>
              <a:t>PILOT CITY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2450592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ormorant Garamond"/>
              </a:rPr>
              <a:t>San Francisco / Digital Jungle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57800" y="2267712"/>
            <a:ext cx="2194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5C6B5A"/>
                </a:solidFill>
                <a:latin typeface="Space Grotesk"/>
              </a:rPr>
              <a:t>CITIES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57800" y="2450592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ormorant Garamond"/>
              </a:rPr>
              <a:t>10 Cities Globally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0" y="2267712"/>
            <a:ext cx="2194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5C6B5A"/>
                </a:solidFill>
                <a:latin typeface="Space Grotesk"/>
              </a:rPr>
              <a:t>FORMATS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0" y="2450592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ormorant Garamond"/>
              </a:rPr>
              <a:t>Meetup · Workshop · Hackathon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38360" y="2267712"/>
            <a:ext cx="2194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5C6B5A"/>
                </a:solidFill>
                <a:latin typeface="Space Grotesk"/>
              </a:rPr>
              <a:t>REVENUE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38360" y="2450592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ormorant Garamond"/>
              </a:rPr>
              <a:t>20% Commission Model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77240" y="2834640"/>
            <a:ext cx="10652760" cy="0"/>
          </a:xfrm>
          <a:prstGeom prst="line">
            <a:avLst/>
          </a:prstGeom>
          <a:ln w="6350">
            <a:solidFill>
              <a:srgbClr val="E0DD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77240" y="294436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C6B5A"/>
                </a:solidFill>
                <a:latin typeface="Cormorant Garamond"/>
              </a:rPr>
              <a:t>City Targets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273552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5555"/>
                </a:solidFill>
                <a:latin typeface="Space Grotesk"/>
              </a:rPr>
              <a:t>–  London · Paris · Berlin</a:t>
            </a:r>
          </a:p>
          <a:p>
            <a:pPr algn="l">
              <a:spcBef>
                <a:spcPts val="400"/>
              </a:spcBef>
            </a:pPr>
            <a:r>
              <a:rPr sz="850" b="0" i="0">
                <a:solidFill>
                  <a:srgbClr val="555555"/>
                </a:solidFill>
                <a:latin typeface="Space Grotesk"/>
              </a:rPr>
              <a:t>–  San Francisco · New York · Los Angeles · Austin · Seattle</a:t>
            </a:r>
          </a:p>
          <a:p>
            <a:pPr algn="l">
              <a:spcBef>
                <a:spcPts val="400"/>
              </a:spcBef>
            </a:pPr>
            <a:r>
              <a:rPr sz="850" b="0" i="0">
                <a:solidFill>
                  <a:srgbClr val="555555"/>
                </a:solidFill>
                <a:latin typeface="Space Grotesk"/>
              </a:rPr>
              <a:t>–  Toronto · Singapore (TBD — timezone friction)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94436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C6B5A"/>
                </a:solidFill>
                <a:latin typeface="Cormorant Garamond"/>
              </a:rPr>
              <a:t>Event Format Requirements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273552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5555"/>
                </a:solidFill>
                <a:latin typeface="Space Grotesk"/>
              </a:rPr>
              <a:t>–  Meetup — 4pm to 9pm</a:t>
            </a:r>
          </a:p>
          <a:p>
            <a:pPr algn="l">
              <a:spcBef>
                <a:spcPts val="400"/>
              </a:spcBef>
            </a:pPr>
            <a:r>
              <a:rPr sz="850" b="0" i="0">
                <a:solidFill>
                  <a:srgbClr val="555555"/>
                </a:solidFill>
                <a:latin typeface="Space Grotesk"/>
              </a:rPr>
              <a:t>–  Workshop — 9am to 5pm</a:t>
            </a:r>
          </a:p>
          <a:p>
            <a:pPr algn="l">
              <a:spcBef>
                <a:spcPts val="400"/>
              </a:spcBef>
            </a:pPr>
            <a:r>
              <a:rPr sz="850" b="0" i="0">
                <a:solidFill>
                  <a:srgbClr val="555555"/>
                </a:solidFill>
                <a:latin typeface="Space Grotesk"/>
              </a:rPr>
              <a:t>–  Hackathon — 1 day (8am–9pm) or 2 days</a:t>
            </a:r>
          </a:p>
          <a:p>
            <a:pPr algn="l">
              <a:spcBef>
                <a:spcPts val="400"/>
              </a:spcBef>
            </a:pPr>
            <a:r>
              <a:rPr sz="850" b="0" i="0">
                <a:solidFill>
                  <a:srgbClr val="555555"/>
                </a:solidFill>
                <a:latin typeface="Space Grotesk"/>
              </a:rPr>
              <a:t>–  Up to 150–200 attendees per format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77240" y="4553712"/>
            <a:ext cx="10652760" cy="0"/>
          </a:xfrm>
          <a:prstGeom prst="line">
            <a:avLst/>
          </a:prstGeom>
          <a:ln w="6350">
            <a:solidFill>
              <a:srgbClr val="E0DD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77240" y="4681728"/>
            <a:ext cx="3200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ormorant Garamond"/>
              </a:rPr>
              <a:t>10+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193792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5C6B5A"/>
                </a:solidFill>
                <a:latin typeface="Space Grotesk"/>
              </a:rPr>
              <a:t>CITIES GLOBALLY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4681728"/>
            <a:ext cx="3200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ormorant Garamond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5193792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5C6B5A"/>
                </a:solidFill>
                <a:latin typeface="Space Grotesk"/>
              </a:rPr>
              <a:t>EVENT FORMATS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92440" y="4681728"/>
            <a:ext cx="3200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ormorant Garamond"/>
              </a:rPr>
              <a:t>2wk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2440" y="5193792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5C6B5A"/>
                </a:solidFill>
                <a:latin typeface="Space Grotesk"/>
              </a:rPr>
              <a:t>DELIVERY TIMELINE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641908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AAA8A4"/>
                </a:solidFill>
                <a:latin typeface="Space Grotesk"/>
              </a:rPr>
              <a:t>Blooming × EventGen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0" y="641908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0" i="0">
                <a:solidFill>
                  <a:srgbClr val="AAA8A4"/>
                </a:solidFill>
                <a:latin typeface="Space Grotesk"/>
              </a:rPr>
              <a:t>weareblooming.co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777240" y="987552"/>
            <a:ext cx="292608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77240" y="749808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C6B5A"/>
                </a:solidFill>
                <a:latin typeface="Space Grotesk"/>
              </a:rPr>
              <a:t>SCOPE OF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972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1A1A1A"/>
                </a:solidFill>
                <a:latin typeface="Cormorant Garamond"/>
              </a:rPr>
              <a:t>Three tracks.</a:t>
            </a:r>
          </a:p>
          <a:p>
            <a:pPr algn="l"/>
            <a:r>
              <a:rPr sz="3000" b="0" i="1">
                <a:solidFill>
                  <a:srgbClr val="5C6B5A"/>
                </a:solidFill>
                <a:latin typeface="Cormorant Garamond"/>
              </a:rPr>
              <a:t>One deadline.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12140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ormorant Garamond"/>
              </a:rPr>
              <a:t>Venues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77240" y="2423160"/>
            <a:ext cx="3474720" cy="0"/>
          </a:xfrm>
          <a:prstGeom prst="line">
            <a:avLst/>
          </a:prstGeom>
          <a:ln w="6350">
            <a:solidFill>
              <a:srgbClr val="E0DD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77240" y="2514600"/>
            <a:ext cx="3657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  <a:latin typeface="Space Grotesk"/>
              </a:rPr>
              <a:t>–  2–3 venue options per city</a:t>
            </a:r>
          </a:p>
          <a:p>
            <a:pPr algn="l">
              <a:spcBef>
                <a:spcPts val="300"/>
              </a:spcBef>
            </a:pPr>
            <a:r>
              <a:rPr sz="750" b="0" i="0">
                <a:solidFill>
                  <a:srgbClr val="555555"/>
                </a:solidFill>
                <a:latin typeface="Space Grotesk"/>
              </a:rPr>
              <a:t>–  Floorplan for each venue</a:t>
            </a:r>
          </a:p>
          <a:p>
            <a:pPr algn="l">
              <a:spcBef>
                <a:spcPts val="300"/>
              </a:spcBef>
            </a:pPr>
            <a:r>
              <a:rPr sz="750" b="0" i="0">
                <a:solidFill>
                  <a:srgbClr val="555555"/>
                </a:solidFill>
                <a:latin typeface="Space Grotesk"/>
              </a:rPr>
              <a:t>–  Equipment &amp; furniture inventory</a:t>
            </a:r>
          </a:p>
          <a:p>
            <a:pPr algn="l">
              <a:spcBef>
                <a:spcPts val="300"/>
              </a:spcBef>
            </a:pPr>
            <a:r>
              <a:rPr sz="750" b="0" i="0">
                <a:solidFill>
                  <a:srgbClr val="555555"/>
                </a:solidFill>
                <a:latin typeface="Space Grotesk"/>
              </a:rPr>
              <a:t>–  Fixed pricing per format (meetup / workshop / hackathon)</a:t>
            </a:r>
          </a:p>
          <a:p>
            <a:pPr algn="l">
              <a:spcBef>
                <a:spcPts val="300"/>
              </a:spcBef>
            </a:pPr>
            <a:r>
              <a:rPr sz="750" b="0" i="0">
                <a:solidFill>
                  <a:srgbClr val="555555"/>
                </a:solidFill>
                <a:latin typeface="Space Grotesk"/>
              </a:rPr>
              <a:t>–  50 / 100 / 200-person configuration templates</a:t>
            </a:r>
          </a:p>
          <a:p>
            <a:pPr algn="l">
              <a:spcBef>
                <a:spcPts val="300"/>
              </a:spcBef>
            </a:pPr>
            <a:r>
              <a:rPr sz="750" b="0" i="0">
                <a:solidFill>
                  <a:srgbClr val="555555"/>
                </a:solidFill>
                <a:latin typeface="Space Grotesk"/>
              </a:rPr>
              <a:t>–  Google Calendar access (or 1h response backup — 1h text/email yes/no)</a:t>
            </a:r>
          </a:p>
          <a:p>
            <a:pPr algn="l">
              <a:spcBef>
                <a:spcPts val="300"/>
              </a:spcBef>
            </a:pPr>
            <a:r>
              <a:rPr sz="750" b="0" i="0">
                <a:solidFill>
                  <a:srgbClr val="555555"/>
                </a:solidFill>
                <a:latin typeface="Space Grotesk"/>
              </a:rPr>
              <a:t>–  iPad + badge printer as incentive for calendar access (500-unit pricing negotiation)</a:t>
            </a:r>
          </a:p>
          <a:p>
            <a:pPr algn="l">
              <a:spcBef>
                <a:spcPts val="300"/>
              </a:spcBef>
            </a:pPr>
            <a:r>
              <a:rPr sz="750" b="0" i="0">
                <a:solidFill>
                  <a:srgbClr val="555555"/>
                </a:solidFill>
                <a:latin typeface="Space Grotesk"/>
              </a:rPr>
              <a:t>–  Chatbot integration in venue website as additional contrepartie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36008" y="212140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ormorant Garamond"/>
              </a:rPr>
              <a:t>Catering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636008" y="2423160"/>
            <a:ext cx="3474720" cy="0"/>
          </a:xfrm>
          <a:prstGeom prst="line">
            <a:avLst/>
          </a:prstGeom>
          <a:ln w="6350">
            <a:solidFill>
              <a:srgbClr val="E0DD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636008" y="2514600"/>
            <a:ext cx="3657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  <a:latin typeface="Space Grotesk"/>
              </a:rPr>
              <a:t>–  3–5 food options per city</a:t>
            </a:r>
          </a:p>
          <a:p>
            <a:pPr algn="l">
              <a:spcBef>
                <a:spcPts val="300"/>
              </a:spcBef>
            </a:pPr>
            <a:r>
              <a:rPr sz="750" b="0" i="0">
                <a:solidFill>
                  <a:srgbClr val="555555"/>
                </a:solidFill>
                <a:latin typeface="Space Grotesk"/>
              </a:rPr>
              <a:t>–  Low-cost: pizza &amp; salad</a:t>
            </a:r>
          </a:p>
          <a:p>
            <a:pPr algn="l">
              <a:spcBef>
                <a:spcPts val="300"/>
              </a:spcBef>
            </a:pPr>
            <a:r>
              <a:rPr sz="750" b="0" i="0">
                <a:solidFill>
                  <a:srgbClr val="555555"/>
                </a:solidFill>
                <a:latin typeface="Space Grotesk"/>
              </a:rPr>
              <a:t>–  Middle: sandwich option</a:t>
            </a:r>
          </a:p>
          <a:p>
            <a:pPr algn="l">
              <a:spcBef>
                <a:spcPts val="300"/>
              </a:spcBef>
            </a:pPr>
            <a:r>
              <a:rPr sz="750" b="0" i="0">
                <a:solidFill>
                  <a:srgbClr val="555555"/>
                </a:solidFill>
                <a:latin typeface="Space Grotesk"/>
              </a:rPr>
              <a:t>–  High-end: elevated tacos or equivalent</a:t>
            </a:r>
          </a:p>
          <a:p>
            <a:pPr algn="l">
              <a:spcBef>
                <a:spcPts val="300"/>
              </a:spcBef>
            </a:pPr>
            <a:r>
              <a:rPr sz="750" b="0" i="0">
                <a:solidFill>
                  <a:srgbClr val="555555"/>
                </a:solidFill>
                <a:latin typeface="Space Grotesk"/>
              </a:rPr>
              <a:t>–  Additional: Asian food option</a:t>
            </a:r>
          </a:p>
          <a:p>
            <a:pPr algn="l">
              <a:spcBef>
                <a:spcPts val="300"/>
              </a:spcBef>
            </a:pPr>
            <a:r>
              <a:rPr sz="750" b="0" i="0">
                <a:solidFill>
                  <a:srgbClr val="555555"/>
                </a:solidFill>
                <a:latin typeface="Space Grotesk"/>
              </a:rPr>
              <a:t>–  Breakfast option</a:t>
            </a:r>
          </a:p>
          <a:p>
            <a:pPr algn="l">
              <a:spcBef>
                <a:spcPts val="300"/>
              </a:spcBef>
            </a:pPr>
            <a:r>
              <a:rPr sz="750" b="0" i="0">
                <a:solidFill>
                  <a:srgbClr val="555555"/>
                </a:solidFill>
                <a:latin typeface="Space Grotesk"/>
              </a:rPr>
              <a:t>–  Consistent menu across all cities for platform uniformity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94776" y="212140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ormorant Garamond"/>
              </a:rPr>
              <a:t>Media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494776" y="2423160"/>
            <a:ext cx="3474720" cy="0"/>
          </a:xfrm>
          <a:prstGeom prst="line">
            <a:avLst/>
          </a:prstGeom>
          <a:ln w="6350">
            <a:solidFill>
              <a:srgbClr val="E0DD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494776" y="2514600"/>
            <a:ext cx="3657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  <a:latin typeface="Space Grotesk"/>
              </a:rPr>
              <a:t>–  1 photographer / videographer per city</a:t>
            </a:r>
          </a:p>
          <a:p>
            <a:pPr algn="l">
              <a:spcBef>
                <a:spcPts val="300"/>
              </a:spcBef>
            </a:pPr>
            <a:r>
              <a:rPr sz="750" b="0" i="0">
                <a:solidFill>
                  <a:srgbClr val="555555"/>
                </a:solidFill>
                <a:latin typeface="Space Grotesk"/>
              </a:rPr>
              <a:t>–  50 edited photos — raw folder included</a:t>
            </a:r>
          </a:p>
          <a:p>
            <a:pPr algn="l">
              <a:spcBef>
                <a:spcPts val="300"/>
              </a:spcBef>
            </a:pPr>
            <a:r>
              <a:rPr sz="750" b="0" i="0">
                <a:solidFill>
                  <a:srgbClr val="555555"/>
                </a:solidFill>
                <a:latin typeface="Space Grotesk"/>
              </a:rPr>
              <a:t>–  Up to 3-minute sizzle reel</a:t>
            </a:r>
          </a:p>
          <a:p>
            <a:pPr algn="l">
              <a:spcBef>
                <a:spcPts val="300"/>
              </a:spcBef>
            </a:pPr>
            <a:r>
              <a:rPr sz="750" b="0" i="0">
                <a:solidFill>
                  <a:srgbClr val="555555"/>
                </a:solidFill>
                <a:latin typeface="Space Grotesk"/>
              </a:rPr>
              <a:t>–  Consistent brief across all cities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77240" y="5230368"/>
            <a:ext cx="10652760" cy="0"/>
          </a:xfrm>
          <a:prstGeom prst="line">
            <a:avLst/>
          </a:prstGeom>
          <a:ln w="6350">
            <a:solidFill>
              <a:srgbClr val="E0DD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777240" y="5340096"/>
            <a:ext cx="36576" cy="502920"/>
          </a:xfrm>
          <a:prstGeom prst="rect">
            <a:avLst/>
          </a:prstGeom>
          <a:solidFill>
            <a:srgbClr val="C4B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532180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888888"/>
                </a:solidFill>
                <a:latin typeface="Cormorant Garamond"/>
              </a:rPr>
              <a:t>All collected information will be compiled in a master spreadsheet with a linked folder of quotes. Each venue will receive a standardized floor plan template and equipment list per format configuration (50/100/200 pax).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641908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AAA8A4"/>
                </a:solidFill>
                <a:latin typeface="Space Grotesk"/>
              </a:rPr>
              <a:t>Blooming × EventGen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641908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0" i="0">
                <a:solidFill>
                  <a:srgbClr val="AAA8A4"/>
                </a:solidFill>
                <a:latin typeface="Space Grotesk"/>
              </a:rPr>
              <a:t>weareblooming.co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777240" y="987552"/>
            <a:ext cx="292608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77240" y="749808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C6B5A"/>
                </a:solidFill>
                <a:latin typeface="Space Grotesk"/>
              </a:rPr>
              <a:t>DELIVERABLES &amp;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972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1A1A1A"/>
                </a:solidFill>
                <a:latin typeface="Cormorant Garamond"/>
              </a:rPr>
              <a:t>What you get.</a:t>
            </a:r>
          </a:p>
          <a:p>
            <a:pPr algn="l"/>
            <a:r>
              <a:rPr sz="3000" b="0" i="1">
                <a:solidFill>
                  <a:srgbClr val="5C6B5A"/>
                </a:solidFill>
                <a:latin typeface="Cormorant Garamond"/>
              </a:rPr>
              <a:t>Ready to pitch.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40280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C6B5A"/>
                </a:solidFill>
                <a:latin typeface="Cormorant Garamond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468880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ormorant Garamond"/>
              </a:rPr>
              <a:t>Supplier Ecosystem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907792"/>
            <a:ext cx="3566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5555"/>
                </a:solidFill>
                <a:latin typeface="Space Grotesk"/>
              </a:rPr>
              <a:t>–  Master spreadsheet — all venues, caterers, media contacts per city</a:t>
            </a:r>
          </a:p>
          <a:p>
            <a:pPr algn="l">
              <a:spcBef>
                <a:spcPts val="500"/>
              </a:spcBef>
            </a:pPr>
            <a:r>
              <a:rPr sz="850" b="0" i="0">
                <a:solidFill>
                  <a:srgbClr val="555555"/>
                </a:solidFill>
                <a:latin typeface="Space Grotesk"/>
              </a:rPr>
              <a:t>–  Quote folder with all documentation received</a:t>
            </a:r>
          </a:p>
          <a:p>
            <a:pPr algn="l">
              <a:spcBef>
                <a:spcPts val="500"/>
              </a:spcBef>
            </a:pPr>
            <a:r>
              <a:rPr sz="850" b="0" i="0">
                <a:solidFill>
                  <a:srgbClr val="555555"/>
                </a:solidFill>
                <a:latin typeface="Space Grotesk"/>
              </a:rPr>
              <a:t>–  Floorplan templates for 50 / 100 / 200 person configurations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36008" y="2240280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C6B5A"/>
                </a:solidFill>
                <a:latin typeface="Cormorant Garamond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36008" y="2468880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ormorant Garamond"/>
              </a:rPr>
              <a:t>Digital Jungle Pilot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6008" y="2907792"/>
            <a:ext cx="3566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5555"/>
                </a:solidFill>
                <a:latin typeface="Space Grotesk"/>
              </a:rPr>
              <a:t>–  Pilot launch plan with Digital Jungle SF as anchor venue</a:t>
            </a:r>
          </a:p>
          <a:p>
            <a:pPr algn="l">
              <a:spcBef>
                <a:spcPts val="500"/>
              </a:spcBef>
            </a:pPr>
            <a:r>
              <a:rPr sz="850" b="0" i="0">
                <a:solidFill>
                  <a:srgbClr val="555555"/>
                </a:solidFill>
                <a:latin typeface="Space Grotesk"/>
              </a:rPr>
              <a:t>–  Branded materials and demo video structure</a:t>
            </a:r>
          </a:p>
          <a:p>
            <a:pPr algn="l">
              <a:spcBef>
                <a:spcPts val="500"/>
              </a:spcBef>
            </a:pPr>
            <a:r>
              <a:rPr sz="850" b="0" i="0">
                <a:solidFill>
                  <a:srgbClr val="555555"/>
                </a:solidFill>
                <a:latin typeface="Space Grotesk"/>
              </a:rPr>
              <a:t>–  Event format breakdown for each of the 3 formats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94776" y="2240280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C6B5A"/>
                </a:solidFill>
                <a:latin typeface="Cormorant Garamond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94776" y="2468880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ormorant Garamond"/>
              </a:rPr>
              <a:t>Investor-Ready Package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94776" y="2907792"/>
            <a:ext cx="3566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5555"/>
                </a:solidFill>
                <a:latin typeface="Space Grotesk"/>
              </a:rPr>
              <a:t>–  Fixed pricing catalog per city and format</a:t>
            </a:r>
          </a:p>
          <a:p>
            <a:pPr algn="l">
              <a:spcBef>
                <a:spcPts val="500"/>
              </a:spcBef>
            </a:pPr>
            <a:r>
              <a:rPr sz="850" b="0" i="0">
                <a:solidFill>
                  <a:srgbClr val="555555"/>
                </a:solidFill>
                <a:latin typeface="Space Grotesk"/>
              </a:rPr>
              <a:t>–  Proof of concept: venue partnerships concluded</a:t>
            </a:r>
          </a:p>
          <a:p>
            <a:pPr algn="l">
              <a:spcBef>
                <a:spcPts val="500"/>
              </a:spcBef>
            </a:pPr>
            <a:r>
              <a:rPr sz="850" b="0" i="0">
                <a:solidFill>
                  <a:srgbClr val="555555"/>
                </a:solidFill>
                <a:latin typeface="Space Grotesk"/>
              </a:rPr>
              <a:t>–  Google Calendar integration status per venue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77240" y="4846320"/>
            <a:ext cx="10652760" cy="0"/>
          </a:xfrm>
          <a:prstGeom prst="line">
            <a:avLst/>
          </a:prstGeom>
          <a:ln w="6350">
            <a:solidFill>
              <a:srgbClr val="E0DD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77240" y="495604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88888"/>
                </a:solidFill>
                <a:latin typeface="Cormorant Garamond"/>
              </a:rPr>
              <a:t>Sync cadence: daily or every 2 days alignment call throughout the 2-week sprint.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641908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AAA8A4"/>
                </a:solidFill>
                <a:latin typeface="Space Grotesk"/>
              </a:rPr>
              <a:t>Blooming × EventGen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641908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0" i="0">
                <a:solidFill>
                  <a:srgbClr val="AAA8A4"/>
                </a:solidFill>
                <a:latin typeface="Space Grotesk"/>
              </a:rPr>
              <a:t>weareblooming.co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777240" y="987552"/>
            <a:ext cx="292608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77240" y="749808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C6B5A"/>
                </a:solidFill>
                <a:latin typeface="Space Grotesk"/>
              </a:rPr>
              <a:t>INVESTMENT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9728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1A1A1A"/>
                </a:solidFill>
                <a:latin typeface="Cormorant Garamond"/>
              </a:rPr>
              <a:t>Flat fee.</a:t>
            </a:r>
          </a:p>
          <a:p>
            <a:pPr algn="l">
              <a:spcBef>
                <a:spcPts val="400"/>
              </a:spcBef>
            </a:pPr>
            <a:r>
              <a:rPr sz="3000" b="0" i="1">
                <a:solidFill>
                  <a:srgbClr val="5C6B5A"/>
                </a:solidFill>
                <a:latin typeface="Cormorant Garamond"/>
              </a:rPr>
              <a:t>Clean and simple.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10652760" cy="502920"/>
          </a:xfrm>
          <a:prstGeom prst="rect">
            <a:avLst/>
          </a:prstGeom>
          <a:noFill/>
          <a:ln w="6350">
            <a:solidFill>
              <a:srgbClr val="E0D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42316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5C6B5A"/>
                </a:solidFill>
                <a:latin typeface="Space Grotesk"/>
              </a:rPr>
              <a:t>BLOOMING FLAT FEE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2331720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ormorant Garamond"/>
              </a:rPr>
              <a:t>$5,000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2423160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Space Grotesk"/>
              </a:rPr>
              <a:t>Upon invoice. Covers 2 weeks of full sourcing across all 10 cities — venues, catering, and media.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03580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C6B5A"/>
                </a:solidFill>
                <a:latin typeface="Cormorant Garamond"/>
              </a:rPr>
              <a:t>Included in Flat Fee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337560"/>
            <a:ext cx="5303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5555"/>
                </a:solidFill>
                <a:latin typeface="Space Grotesk"/>
              </a:rPr>
              <a:t>–  2–3 venue options per city with full documentation</a:t>
            </a:r>
          </a:p>
          <a:p>
            <a:pPr algn="l">
              <a:spcBef>
                <a:spcPts val="400"/>
              </a:spcBef>
            </a:pPr>
            <a:r>
              <a:rPr sz="850" b="0" i="0">
                <a:solidFill>
                  <a:srgbClr val="555555"/>
                </a:solidFill>
                <a:latin typeface="Space Grotesk"/>
              </a:rPr>
              <a:t>–  3–5 catering options per city with fixed pricing</a:t>
            </a:r>
          </a:p>
          <a:p>
            <a:pPr algn="l">
              <a:spcBef>
                <a:spcPts val="400"/>
              </a:spcBef>
            </a:pPr>
            <a:r>
              <a:rPr sz="850" b="0" i="0">
                <a:solidFill>
                  <a:srgbClr val="555555"/>
                </a:solidFill>
                <a:latin typeface="Space Grotesk"/>
              </a:rPr>
              <a:t>–  1 photo/video contact per city with brief</a:t>
            </a:r>
          </a:p>
          <a:p>
            <a:pPr algn="l">
              <a:spcBef>
                <a:spcPts val="400"/>
              </a:spcBef>
            </a:pPr>
            <a:r>
              <a:rPr sz="850" b="0" i="0">
                <a:solidFill>
                  <a:srgbClr val="555555"/>
                </a:solidFill>
                <a:latin typeface="Space Grotesk"/>
              </a:rPr>
              <a:t>–  Master spreadsheet + complete quote folder</a:t>
            </a:r>
          </a:p>
          <a:p>
            <a:pPr algn="l">
              <a:spcBef>
                <a:spcPts val="400"/>
              </a:spcBef>
            </a:pPr>
            <a:r>
              <a:rPr sz="850" b="0" i="0">
                <a:solidFill>
                  <a:srgbClr val="555555"/>
                </a:solidFill>
                <a:latin typeface="Space Grotesk"/>
              </a:rPr>
              <a:t>–  Floor plan templates — 50 / 100 / 200 pax configs</a:t>
            </a:r>
          </a:p>
          <a:p>
            <a:pPr algn="l">
              <a:spcBef>
                <a:spcPts val="400"/>
              </a:spcBef>
            </a:pPr>
            <a:r>
              <a:rPr sz="850" b="0" i="0">
                <a:solidFill>
                  <a:srgbClr val="555555"/>
                </a:solidFill>
                <a:latin typeface="Space Grotesk"/>
              </a:rPr>
              <a:t>–  Pilot launch plan with Digital Jungle SF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03580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C6B5A"/>
                </a:solidFill>
                <a:latin typeface="Cormorant Garamond"/>
              </a:rPr>
              <a:t>Ongoing Revenue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337560"/>
            <a:ext cx="5303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5555"/>
                </a:solidFill>
                <a:latin typeface="Space Grotesk"/>
              </a:rPr>
              <a:t>–  20% commission on catalog pricing per booking</a:t>
            </a:r>
          </a:p>
          <a:p>
            <a:pPr algn="l">
              <a:spcBef>
                <a:spcPts val="400"/>
              </a:spcBef>
            </a:pPr>
            <a:r>
              <a:rPr sz="850" b="0" i="0">
                <a:solidFill>
                  <a:srgbClr val="555555"/>
                </a:solidFill>
                <a:latin typeface="Space Grotesk"/>
              </a:rPr>
              <a:t>–  Blooming manages supplier relationships as platform scales</a:t>
            </a:r>
          </a:p>
          <a:p>
            <a:pPr algn="l">
              <a:spcBef>
                <a:spcPts val="400"/>
              </a:spcBef>
            </a:pPr>
            <a:r>
              <a:rPr sz="850" b="0" i="0">
                <a:solidFill>
                  <a:srgbClr val="555555"/>
                </a:solidFill>
                <a:latin typeface="Space Grotesk"/>
              </a:rPr>
              <a:t>–  Additional cities sourced at same flat-fee model</a:t>
            </a:r>
          </a:p>
          <a:p>
            <a:pPr algn="l">
              <a:spcBef>
                <a:spcPts val="400"/>
              </a:spcBef>
            </a:pPr>
            <a:r>
              <a:rPr sz="850" b="0" i="0">
                <a:solidFill>
                  <a:srgbClr val="555555"/>
                </a:solidFill>
                <a:latin typeface="Space Grotesk"/>
              </a:rPr>
              <a:t>–  Cadence: daily or every 2 days sync call during sprint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77240" y="5230368"/>
            <a:ext cx="10652760" cy="0"/>
          </a:xfrm>
          <a:prstGeom prst="line">
            <a:avLst/>
          </a:prstGeom>
          <a:ln w="6350">
            <a:solidFill>
              <a:srgbClr val="E0DD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77240" y="5340096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88888"/>
                </a:solidFill>
                <a:latin typeface="Cormorant Garamond"/>
              </a:rPr>
              <a:t>Timeline: 2 weeks from May 16, 2026  ·  Deadline: May 30,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41908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AAA8A4"/>
                </a:solidFill>
                <a:latin typeface="Space Grotesk"/>
              </a:rPr>
              <a:t>Blooming × EventGen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641908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0" i="0">
                <a:solidFill>
                  <a:srgbClr val="AAA8A4"/>
                </a:solidFill>
                <a:latin typeface="Space Grotesk"/>
              </a:rPr>
              <a:t>weareblooming.co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029097" y="927202"/>
            <a:ext cx="130759" cy="321868"/>
          </a:xfrm>
          <a:prstGeom prst="ellipse">
            <a:avLst/>
          </a:prstGeom>
          <a:solidFill>
            <a:srgbClr val="5C6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029097" y="1128370"/>
            <a:ext cx="130759" cy="321868"/>
          </a:xfrm>
          <a:prstGeom prst="ellipse">
            <a:avLst/>
          </a:prstGeom>
          <a:solidFill>
            <a:srgbClr val="5C6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752491" y="1123341"/>
            <a:ext cx="321868" cy="130759"/>
          </a:xfrm>
          <a:prstGeom prst="ellipse">
            <a:avLst/>
          </a:prstGeom>
          <a:solidFill>
            <a:srgbClr val="8B7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114592" y="1123341"/>
            <a:ext cx="321868" cy="130759"/>
          </a:xfrm>
          <a:prstGeom prst="ellipse">
            <a:avLst/>
          </a:prstGeom>
          <a:solidFill>
            <a:srgbClr val="8B7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029097" y="1123341"/>
            <a:ext cx="130758" cy="130758"/>
          </a:xfrm>
          <a:prstGeom prst="ellipse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1691640"/>
            <a:ext cx="9418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 i="0">
                <a:solidFill>
                  <a:srgbClr val="1A1A1A"/>
                </a:solidFill>
                <a:latin typeface="Cormorant Garamond"/>
              </a:rPr>
              <a:t>2 weeks.</a:t>
            </a:r>
          </a:p>
          <a:p>
            <a:pPr algn="ctr">
              <a:spcBef>
                <a:spcPts val="400"/>
              </a:spcBef>
            </a:pPr>
            <a:r>
              <a:rPr sz="3800" b="0" i="1">
                <a:solidFill>
                  <a:srgbClr val="5C6B5A"/>
                </a:solidFill>
                <a:latin typeface="Cormorant Garamond"/>
              </a:rPr>
              <a:t>10 cities. Ready to pitch.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401568"/>
            <a:ext cx="9418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888888"/>
                </a:solidFill>
                <a:latin typeface="Cormorant Garamond"/>
              </a:rPr>
              <a:t>Let's build the infrastructure.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3767328"/>
            <a:ext cx="8138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1">
                <a:solidFill>
                  <a:srgbClr val="555555"/>
                </a:solidFill>
                <a:latin typeface="Cormorant Garamond"/>
              </a:rPr>
              <a:t>EventGen needs a supplier ecosystem to pitch to investors with a real event engine running. Blooming has the relationships, the execution track record, and the continuity with Digital Jungle to deliver — in two weeks.</a:t>
            </a:r>
          </a:p>
        </p:txBody>
      </p:sp>
      <p:sp>
        <p:nvSpPr>
          <p:cNvPr id="11" name="Oval 10"/>
          <p:cNvSpPr/>
          <p:nvPr/>
        </p:nvSpPr>
        <p:spPr>
          <a:xfrm>
            <a:off x="3913632" y="4599432"/>
            <a:ext cx="64008" cy="64008"/>
          </a:xfrm>
          <a:prstGeom prst="ellipse">
            <a:avLst/>
          </a:prstGeom>
          <a:solidFill>
            <a:srgbClr val="5C6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69080" y="4526280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5555"/>
                </a:solidFill>
                <a:latin typeface="Space Grotesk"/>
              </a:rPr>
              <a:t>Sign and kick off — sprint starts from day of signature</a:t>
            </a:r>
          </a:p>
        </p:txBody>
      </p:sp>
      <p:sp>
        <p:nvSpPr>
          <p:cNvPr id="13" name="Oval 12"/>
          <p:cNvSpPr/>
          <p:nvPr/>
        </p:nvSpPr>
        <p:spPr>
          <a:xfrm>
            <a:off x="3913632" y="4910328"/>
            <a:ext cx="64008" cy="64008"/>
          </a:xfrm>
          <a:prstGeom prst="ellipse">
            <a:avLst/>
          </a:prstGeom>
          <a:solidFill>
            <a:srgbClr val="5C6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69080" y="483717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5555"/>
                </a:solidFill>
                <a:latin typeface="Space Grotesk"/>
              </a:rPr>
              <a:t>Blooming begins outreach to Digital Jungle SF as anchor pilot venue</a:t>
            </a:r>
          </a:p>
        </p:txBody>
      </p:sp>
      <p:sp>
        <p:nvSpPr>
          <p:cNvPr id="15" name="Oval 14"/>
          <p:cNvSpPr/>
          <p:nvPr/>
        </p:nvSpPr>
        <p:spPr>
          <a:xfrm>
            <a:off x="3913632" y="5221224"/>
            <a:ext cx="64008" cy="64008"/>
          </a:xfrm>
          <a:prstGeom prst="ellipse">
            <a:avLst/>
          </a:prstGeom>
          <a:solidFill>
            <a:srgbClr val="5C6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69080" y="5148072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5555"/>
                </a:solidFill>
                <a:latin typeface="Space Grotesk"/>
              </a:rPr>
              <a:t>Parallel sourcing across all 10 cities — venues, catering, media</a:t>
            </a:r>
          </a:p>
        </p:txBody>
      </p:sp>
      <p:sp>
        <p:nvSpPr>
          <p:cNvPr id="17" name="Oval 16"/>
          <p:cNvSpPr/>
          <p:nvPr/>
        </p:nvSpPr>
        <p:spPr>
          <a:xfrm>
            <a:off x="3913632" y="5532120"/>
            <a:ext cx="64008" cy="64008"/>
          </a:xfrm>
          <a:prstGeom prst="ellipse">
            <a:avLst/>
          </a:prstGeom>
          <a:solidFill>
            <a:srgbClr val="5C6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69080" y="5458968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5555"/>
                </a:solidFill>
                <a:latin typeface="Space Grotesk"/>
              </a:rPr>
              <a:t>Delivery by May 30: master spreadsheet + complete quote folder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5669280"/>
            <a:ext cx="9418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5555"/>
                </a:solidFill>
                <a:latin typeface="Space Grotesk"/>
              </a:rPr>
              <a:t>alison@weareblooming.co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5943600"/>
            <a:ext cx="9418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5C6B5A"/>
                </a:solidFill>
                <a:latin typeface="Space Grotesk"/>
              </a:rPr>
              <a:t>WEAREBLOOMING.CO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641908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AAA8A4"/>
                </a:solidFill>
                <a:latin typeface="Space Grotesk"/>
              </a:rPr>
              <a:t>Blooming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641908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0" i="0">
                <a:solidFill>
                  <a:srgbClr val="AAA8A4"/>
                </a:solidFill>
                <a:latin typeface="Space Grotesk"/>
              </a:rPr>
              <a:t>Growth that matters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