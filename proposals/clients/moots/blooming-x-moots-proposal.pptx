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1097280"/>
            <a:ext cx="2743200" cy="365760"/>
          </a:xfrm>
          <a:prstGeom prst="rect">
            <a:avLst/>
          </a:prstGeom>
          <a:noFill/>
        </p:spPr>
        <p:txBody>
          <a:bodyPr wrap="square">
            <a:spAutoFit/>
          </a:bodyPr>
          <a:lstStyle/>
          <a:p>
            <a:pPr algn="l">
              <a:lnSpc>
                <a:spcPts val="1150"/>
              </a:lnSpc>
              <a:defRPr sz="1000" b="0" i="0">
                <a:solidFill>
                  <a:srgbClr val="1A1A1A"/>
                </a:solidFill>
                <a:latin typeface="Calibri"/>
              </a:defRPr>
            </a:pPr>
            <a:r>
              <a:t>BLOOMING</a:t>
            </a:r>
          </a:p>
        </p:txBody>
      </p:sp>
      <p:sp>
        <p:nvSpPr>
          <p:cNvPr id="3" name="TextBox 2"/>
          <p:cNvSpPr txBox="1"/>
          <p:nvPr/>
        </p:nvSpPr>
        <p:spPr>
          <a:xfrm>
            <a:off x="1097280" y="2743200"/>
            <a:ext cx="7315200" cy="1463040"/>
          </a:xfrm>
          <a:prstGeom prst="rect">
            <a:avLst/>
          </a:prstGeom>
          <a:noFill/>
        </p:spPr>
        <p:txBody>
          <a:bodyPr wrap="square">
            <a:spAutoFit/>
          </a:bodyPr>
          <a:lstStyle/>
          <a:p>
            <a:pPr algn="l">
              <a:lnSpc>
                <a:spcPts val="4620"/>
              </a:lnSpc>
              <a:defRPr sz="4200" b="0" i="0">
                <a:solidFill>
                  <a:srgbClr val="1A1A1A"/>
                </a:solidFill>
                <a:latin typeface="Georgia"/>
              </a:defRPr>
            </a:pPr>
            <a:r>
              <a:t>Bringing Moots to the</a:t>
            </a:r>
            <a:br/>
            <a:r>
              <a:t>AI ecosystem.</a:t>
            </a:r>
          </a:p>
        </p:txBody>
      </p:sp>
      <p:sp>
        <p:nvSpPr>
          <p:cNvPr id="4" name="TextBox 3"/>
          <p:cNvSpPr txBox="1"/>
          <p:nvPr/>
        </p:nvSpPr>
        <p:spPr>
          <a:xfrm>
            <a:off x="1097280" y="4572000"/>
            <a:ext cx="5486400" cy="365760"/>
          </a:xfrm>
          <a:prstGeom prst="rect">
            <a:avLst/>
          </a:prstGeom>
          <a:noFill/>
        </p:spPr>
        <p:txBody>
          <a:bodyPr wrap="square">
            <a:spAutoFit/>
          </a:bodyPr>
          <a:lstStyle/>
          <a:p>
            <a:pPr algn="l">
              <a:lnSpc>
                <a:spcPts val="1264"/>
              </a:lnSpc>
              <a:defRPr sz="1100" b="0" i="0">
                <a:solidFill>
                  <a:srgbClr val="6B6B6B"/>
                </a:solidFill>
                <a:latin typeface="Calibri"/>
              </a:defRPr>
            </a:pPr>
            <a:r>
              <a:t>Go-to-Market Partnership  ·  May – July 2026</a:t>
            </a:r>
          </a:p>
        </p:txBody>
      </p:sp>
      <p:sp>
        <p:nvSpPr>
          <p:cNvPr id="5" name="TextBox 4"/>
          <p:cNvSpPr txBox="1"/>
          <p:nvPr/>
        </p:nvSpPr>
        <p:spPr>
          <a:xfrm>
            <a:off x="1097280" y="5212080"/>
            <a:ext cx="1828800" cy="320040"/>
          </a:xfrm>
          <a:prstGeom prst="rect">
            <a:avLst/>
          </a:prstGeom>
          <a:noFill/>
        </p:spPr>
        <p:txBody>
          <a:bodyPr wrap="square">
            <a:spAutoFit/>
          </a:bodyPr>
          <a:lstStyle/>
          <a:p>
            <a:pPr algn="l">
              <a:lnSpc>
                <a:spcPts val="804"/>
              </a:lnSpc>
              <a:defRPr sz="700" b="0" i="0">
                <a:solidFill>
                  <a:srgbClr val="8B7D6B"/>
                </a:solidFill>
                <a:latin typeface="Calibri"/>
              </a:defRPr>
            </a:pPr>
            <a:r>
              <a:t>CONFIDENTIAL</a:t>
            </a:r>
          </a:p>
        </p:txBody>
      </p:sp>
      <p:sp>
        <p:nvSpPr>
          <p:cNvPr id="6" name="TextBox 5"/>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7" name="TextBox 6"/>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weareblooming.co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THE OPPORTUNITY</a:t>
            </a:r>
          </a:p>
        </p:txBody>
      </p:sp>
      <p:sp>
        <p:nvSpPr>
          <p:cNvPr id="3" name="TextBox 2"/>
          <p:cNvSpPr txBox="1"/>
          <p:nvPr/>
        </p:nvSpPr>
        <p:spPr>
          <a:xfrm>
            <a:off x="1097280" y="1371600"/>
            <a:ext cx="7863840" cy="914400"/>
          </a:xfrm>
          <a:prstGeom prst="rect">
            <a:avLst/>
          </a:prstGeom>
          <a:noFill/>
        </p:spPr>
        <p:txBody>
          <a:bodyPr wrap="square">
            <a:spAutoFit/>
          </a:bodyPr>
          <a:lstStyle/>
          <a:p>
            <a:pPr algn="l">
              <a:lnSpc>
                <a:spcPts val="3219"/>
              </a:lnSpc>
              <a:defRPr sz="2800" b="0" i="0">
                <a:solidFill>
                  <a:srgbClr val="1A1A1A"/>
                </a:solidFill>
                <a:latin typeface="Georgia"/>
              </a:defRPr>
            </a:pPr>
            <a:r>
              <a:t>Events are the last trust channel.</a:t>
            </a:r>
            <a:br/>
            <a:r>
              <a:t>Most companies waste them.</a:t>
            </a:r>
          </a:p>
        </p:txBody>
      </p:sp>
      <p:sp>
        <p:nvSpPr>
          <p:cNvPr id="4" name="TextBox 3"/>
          <p:cNvSpPr txBox="1"/>
          <p:nvPr/>
        </p:nvSpPr>
        <p:spPr>
          <a:xfrm>
            <a:off x="1097280" y="2560320"/>
            <a:ext cx="6858000" cy="1097280"/>
          </a:xfrm>
          <a:prstGeom prst="rect">
            <a:avLst/>
          </a:prstGeom>
          <a:noFill/>
        </p:spPr>
        <p:txBody>
          <a:bodyPr wrap="square">
            <a:spAutoFit/>
          </a:bodyPr>
          <a:lstStyle/>
          <a:p>
            <a:pPr algn="l">
              <a:lnSpc>
                <a:spcPts val="2039"/>
              </a:lnSpc>
              <a:defRPr sz="1200" b="0" i="1">
                <a:solidFill>
                  <a:srgbClr val="8B7D6B"/>
                </a:solidFill>
                <a:latin typeface="Georgia"/>
              </a:defRPr>
            </a:pPr>
            <a:r>
              <a:t>"Tonje, I saw Moots at HumanX — and I immediately understood what you’re building. As someone who has produced over fifty events, I know the pain firsthand: guest selection is manual, follow-ups fall through the cracks, and no one can tell you which conversation actually moved the needle. Moots solves exactly this. The timing couldn’t be better."</a:t>
            </a:r>
          </a:p>
        </p:txBody>
      </p:sp>
      <p:sp>
        <p:nvSpPr>
          <p:cNvPr id="5" name="TextBox 4"/>
          <p:cNvSpPr txBox="1"/>
          <p:nvPr/>
        </p:nvSpPr>
        <p:spPr>
          <a:xfrm>
            <a:off x="1097280" y="4114800"/>
            <a:ext cx="6858000" cy="822960"/>
          </a:xfrm>
          <a:prstGeom prst="rect">
            <a:avLst/>
          </a:prstGeom>
          <a:noFill/>
        </p:spPr>
        <p:txBody>
          <a:bodyPr wrap="square">
            <a:spAutoFit/>
          </a:bodyPr>
          <a:lstStyle/>
          <a:p>
            <a:pPr algn="l">
              <a:lnSpc>
                <a:spcPts val="1700"/>
              </a:lnSpc>
              <a:defRPr sz="1000" b="0" i="0">
                <a:solidFill>
                  <a:srgbClr val="6B6B6B"/>
                </a:solidFill>
                <a:latin typeface="Calibri"/>
              </a:defRPr>
            </a:pPr>
            <a:r>
              <a:t>AI is saturating every digital channel. Cold outreach is noise. But events remain one of the last high-signal ways to build real trust — yet most organizations treat them as one-off moments with no memory. Guest curation is reactive, attribution from event to pipeline is nonexistent, and every gathering starts from zero.</a:t>
            </a:r>
          </a:p>
        </p:txBody>
      </p:sp>
      <p:sp>
        <p:nvSpPr>
          <p:cNvPr id="6" name="TextBox 5"/>
          <p:cNvSpPr txBox="1"/>
          <p:nvPr/>
        </p:nvSpPr>
        <p:spPr>
          <a:xfrm>
            <a:off x="1097280" y="5303520"/>
            <a:ext cx="2286000" cy="320040"/>
          </a:xfrm>
          <a:prstGeom prst="rect">
            <a:avLst/>
          </a:prstGeom>
          <a:noFill/>
        </p:spPr>
        <p:txBody>
          <a:bodyPr wrap="square">
            <a:spAutoFit/>
          </a:bodyPr>
          <a:lstStyle/>
          <a:p>
            <a:pPr algn="l">
              <a:lnSpc>
                <a:spcPts val="1609"/>
              </a:lnSpc>
              <a:defRPr sz="1400" b="0" i="1">
                <a:solidFill>
                  <a:srgbClr val="8B7D6B"/>
                </a:solidFill>
                <a:latin typeface="Georgia"/>
              </a:defRPr>
            </a:pPr>
            <a:r>
              <a:t>The shift</a:t>
            </a:r>
          </a:p>
        </p:txBody>
      </p:sp>
      <p:sp>
        <p:nvSpPr>
          <p:cNvPr id="7" name="Rectangle 6"/>
          <p:cNvSpPr/>
          <p:nvPr/>
        </p:nvSpPr>
        <p:spPr>
          <a:xfrm>
            <a:off x="1097280" y="56692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5806440"/>
            <a:ext cx="2286000" cy="731520"/>
          </a:xfrm>
          <a:prstGeom prst="rect">
            <a:avLst/>
          </a:prstGeom>
          <a:noFill/>
        </p:spPr>
        <p:txBody>
          <a:bodyPr wrap="square">
            <a:spAutoFit/>
          </a:bodyPr>
          <a:lstStyle/>
          <a:p>
            <a:pPr algn="l">
              <a:lnSpc>
                <a:spcPts val="1440"/>
              </a:lnSpc>
              <a:defRPr sz="900" b="0" i="0">
                <a:solidFill>
                  <a:srgbClr val="6B6B6B"/>
                </a:solidFill>
                <a:latin typeface="Calibri"/>
              </a:defRPr>
            </a:pPr>
            <a:r>
              <a:t>Events are becoming the primary trust channel as AI saturates digital outreach. High-signal, high-touch, irreplaceable.</a:t>
            </a:r>
          </a:p>
        </p:txBody>
      </p:sp>
      <p:sp>
        <p:nvSpPr>
          <p:cNvPr id="9" name="TextBox 8"/>
          <p:cNvSpPr txBox="1"/>
          <p:nvPr/>
        </p:nvSpPr>
        <p:spPr>
          <a:xfrm>
            <a:off x="3749039" y="5303520"/>
            <a:ext cx="2286000" cy="320040"/>
          </a:xfrm>
          <a:prstGeom prst="rect">
            <a:avLst/>
          </a:prstGeom>
          <a:noFill/>
        </p:spPr>
        <p:txBody>
          <a:bodyPr wrap="square">
            <a:spAutoFit/>
          </a:bodyPr>
          <a:lstStyle/>
          <a:p>
            <a:pPr algn="l">
              <a:lnSpc>
                <a:spcPts val="1609"/>
              </a:lnSpc>
              <a:defRPr sz="1400" b="0" i="1">
                <a:solidFill>
                  <a:srgbClr val="8B7D6B"/>
                </a:solidFill>
                <a:latin typeface="Georgia"/>
              </a:defRPr>
            </a:pPr>
            <a:r>
              <a:t>The gap</a:t>
            </a:r>
          </a:p>
        </p:txBody>
      </p:sp>
      <p:sp>
        <p:nvSpPr>
          <p:cNvPr id="10" name="Rectangle 9"/>
          <p:cNvSpPr/>
          <p:nvPr/>
        </p:nvSpPr>
        <p:spPr>
          <a:xfrm>
            <a:off x="3749039" y="56692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39" y="5806440"/>
            <a:ext cx="2286000" cy="731520"/>
          </a:xfrm>
          <a:prstGeom prst="rect">
            <a:avLst/>
          </a:prstGeom>
          <a:noFill/>
        </p:spPr>
        <p:txBody>
          <a:bodyPr wrap="square">
            <a:spAutoFit/>
          </a:bodyPr>
          <a:lstStyle/>
          <a:p>
            <a:pPr algn="l">
              <a:lnSpc>
                <a:spcPts val="1440"/>
              </a:lnSpc>
              <a:defRPr sz="900" b="0" i="0">
                <a:solidFill>
                  <a:srgbClr val="6B6B6B"/>
                </a:solidFill>
                <a:latin typeface="Calibri"/>
              </a:defRPr>
            </a:pPr>
            <a:r>
              <a:t>Most organizations still treat events as one-off moments — no memory, no compounding, no attribution.</a:t>
            </a:r>
          </a:p>
        </p:txBody>
      </p:sp>
      <p:sp>
        <p:nvSpPr>
          <p:cNvPr id="12" name="TextBox 11"/>
          <p:cNvSpPr txBox="1"/>
          <p:nvPr/>
        </p:nvSpPr>
        <p:spPr>
          <a:xfrm>
            <a:off x="6400800" y="5303520"/>
            <a:ext cx="2286000" cy="320040"/>
          </a:xfrm>
          <a:prstGeom prst="rect">
            <a:avLst/>
          </a:prstGeom>
          <a:noFill/>
        </p:spPr>
        <p:txBody>
          <a:bodyPr wrap="square">
            <a:spAutoFit/>
          </a:bodyPr>
          <a:lstStyle/>
          <a:p>
            <a:pPr algn="l">
              <a:lnSpc>
                <a:spcPts val="1609"/>
              </a:lnSpc>
              <a:defRPr sz="1400" b="0" i="1">
                <a:solidFill>
                  <a:srgbClr val="8B7D6B"/>
                </a:solidFill>
                <a:latin typeface="Georgia"/>
              </a:defRPr>
            </a:pPr>
            <a:r>
              <a:t>The timing</a:t>
            </a:r>
          </a:p>
        </p:txBody>
      </p:sp>
      <p:sp>
        <p:nvSpPr>
          <p:cNvPr id="13" name="Rectangle 12"/>
          <p:cNvSpPr/>
          <p:nvPr/>
        </p:nvSpPr>
        <p:spPr>
          <a:xfrm>
            <a:off x="6400800" y="566928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806440"/>
            <a:ext cx="2286000" cy="731520"/>
          </a:xfrm>
          <a:prstGeom prst="rect">
            <a:avLst/>
          </a:prstGeom>
          <a:noFill/>
        </p:spPr>
        <p:txBody>
          <a:bodyPr wrap="square">
            <a:spAutoFit/>
          </a:bodyPr>
          <a:lstStyle/>
          <a:p>
            <a:pPr algn="l">
              <a:lnSpc>
                <a:spcPts val="1440"/>
              </a:lnSpc>
              <a:defRPr sz="900" b="0" i="0">
                <a:solidFill>
                  <a:srgbClr val="6B6B6B"/>
                </a:solidFill>
                <a:latin typeface="Calibri"/>
              </a:defRPr>
            </a:pPr>
            <a:r>
              <a:t>Moots is ready. The audience exists. Field marketing teams are actively looking for this solution.</a:t>
            </a:r>
          </a:p>
        </p:txBody>
      </p:sp>
      <p:sp>
        <p:nvSpPr>
          <p:cNvPr id="15" name="TextBox 14"/>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16" name="TextBox 15"/>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WHAT WE BRING</a:t>
            </a:r>
          </a:p>
        </p:txBody>
      </p:sp>
      <p:sp>
        <p:nvSpPr>
          <p:cNvPr id="3" name="TextBox 2"/>
          <p:cNvSpPr txBox="1"/>
          <p:nvPr/>
        </p:nvSpPr>
        <p:spPr>
          <a:xfrm>
            <a:off x="1097280" y="1371600"/>
            <a:ext cx="7863840" cy="914400"/>
          </a:xfrm>
          <a:prstGeom prst="rect">
            <a:avLst/>
          </a:prstGeom>
          <a:noFill/>
        </p:spPr>
        <p:txBody>
          <a:bodyPr wrap="square">
            <a:spAutoFit/>
          </a:bodyPr>
          <a:lstStyle/>
          <a:p>
            <a:pPr algn="l">
              <a:lnSpc>
                <a:spcPts val="3450"/>
              </a:lnSpc>
              <a:defRPr sz="3000" b="0" i="0">
                <a:solidFill>
                  <a:srgbClr val="1A1A1A"/>
                </a:solidFill>
                <a:latin typeface="Georgia"/>
              </a:defRPr>
            </a:pPr>
            <a:r>
              <a:t>Not a referral partner.</a:t>
            </a:r>
            <a:br/>
            <a:r>
              <a:t>A live proof of concept.</a:t>
            </a:r>
          </a:p>
        </p:txBody>
      </p:sp>
      <p:sp>
        <p:nvSpPr>
          <p:cNvPr id="4" name="TextBox 3"/>
          <p:cNvSpPr txBox="1"/>
          <p:nvPr/>
        </p:nvSpPr>
        <p:spPr>
          <a:xfrm>
            <a:off x="1097280" y="2560320"/>
            <a:ext cx="6400800" cy="914400"/>
          </a:xfrm>
          <a:prstGeom prst="rect">
            <a:avLst/>
          </a:prstGeom>
          <a:noFill/>
        </p:spPr>
        <p:txBody>
          <a:bodyPr wrap="square">
            <a:spAutoFit/>
          </a:bodyPr>
          <a:lstStyle/>
          <a:p>
            <a:pPr algn="l">
              <a:lnSpc>
                <a:spcPts val="1700"/>
              </a:lnSpc>
              <a:defRPr sz="1000" b="0" i="0">
                <a:solidFill>
                  <a:srgbClr val="6B6B6B"/>
                </a:solidFill>
                <a:latin typeface="Calibri"/>
              </a:defRPr>
            </a:pPr>
            <a:r>
              <a:t>Blooming produces curated events for AI and technology companies across three ecosystems. We don’t just make introductions — we put Moots in front of the right people through warm relationships, curated programming, and a live environment where the platform speaks for itself. Leaders from IBM, Nvidia, Neo4j, and Google already sit in our rooms.</a:t>
            </a:r>
          </a:p>
        </p:txBody>
      </p:sp>
      <p:sp>
        <p:nvSpPr>
          <p:cNvPr id="5" name="TextBox 4"/>
          <p:cNvSpPr txBox="1"/>
          <p:nvPr/>
        </p:nvSpPr>
        <p:spPr>
          <a:xfrm>
            <a:off x="109728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50+</a:t>
            </a:r>
          </a:p>
        </p:txBody>
      </p:sp>
      <p:sp>
        <p:nvSpPr>
          <p:cNvPr id="6" name="TextBox 5"/>
          <p:cNvSpPr txBox="1"/>
          <p:nvPr/>
        </p:nvSpPr>
        <p:spPr>
          <a:xfrm>
            <a:off x="109728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EVENTS PRODUCED</a:t>
            </a:r>
          </a:p>
        </p:txBody>
      </p:sp>
      <p:sp>
        <p:nvSpPr>
          <p:cNvPr id="7" name="TextBox 6"/>
          <p:cNvSpPr txBox="1"/>
          <p:nvPr/>
        </p:nvSpPr>
        <p:spPr>
          <a:xfrm>
            <a:off x="310896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70K+</a:t>
            </a:r>
          </a:p>
        </p:txBody>
      </p:sp>
      <p:sp>
        <p:nvSpPr>
          <p:cNvPr id="8" name="TextBox 7"/>
          <p:cNvSpPr txBox="1"/>
          <p:nvPr/>
        </p:nvSpPr>
        <p:spPr>
          <a:xfrm>
            <a:off x="310896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ATTENDEES REACHED</a:t>
            </a:r>
          </a:p>
        </p:txBody>
      </p:sp>
      <p:sp>
        <p:nvSpPr>
          <p:cNvPr id="9" name="TextBox 8"/>
          <p:cNvSpPr txBox="1"/>
          <p:nvPr/>
        </p:nvSpPr>
        <p:spPr>
          <a:xfrm>
            <a:off x="512064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30+</a:t>
            </a:r>
          </a:p>
        </p:txBody>
      </p:sp>
      <p:sp>
        <p:nvSpPr>
          <p:cNvPr id="10" name="TextBox 9"/>
          <p:cNvSpPr txBox="1"/>
          <p:nvPr/>
        </p:nvSpPr>
        <p:spPr>
          <a:xfrm>
            <a:off x="512064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WARM CONTACTS</a:t>
            </a:r>
          </a:p>
        </p:txBody>
      </p:sp>
      <p:sp>
        <p:nvSpPr>
          <p:cNvPr id="11" name="TextBox 10"/>
          <p:cNvSpPr txBox="1"/>
          <p:nvPr/>
        </p:nvSpPr>
        <p:spPr>
          <a:xfrm>
            <a:off x="7132320" y="3931920"/>
            <a:ext cx="1828800" cy="548640"/>
          </a:xfrm>
          <a:prstGeom prst="rect">
            <a:avLst/>
          </a:prstGeom>
          <a:noFill/>
        </p:spPr>
        <p:txBody>
          <a:bodyPr wrap="square">
            <a:spAutoFit/>
          </a:bodyPr>
          <a:lstStyle/>
          <a:p>
            <a:pPr algn="l">
              <a:lnSpc>
                <a:spcPts val="3219"/>
              </a:lnSpc>
              <a:defRPr sz="2800" b="0" i="0">
                <a:solidFill>
                  <a:srgbClr val="1A1A1A"/>
                </a:solidFill>
                <a:latin typeface="Georgia"/>
              </a:defRPr>
            </a:pPr>
            <a:r>
              <a:t>3</a:t>
            </a:r>
          </a:p>
        </p:txBody>
      </p:sp>
      <p:sp>
        <p:nvSpPr>
          <p:cNvPr id="12" name="TextBox 11"/>
          <p:cNvSpPr txBox="1"/>
          <p:nvPr/>
        </p:nvSpPr>
        <p:spPr>
          <a:xfrm>
            <a:off x="7132320" y="452628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ECOSYSTEMS</a:t>
            </a:r>
          </a:p>
        </p:txBody>
      </p:sp>
      <p:sp>
        <p:nvSpPr>
          <p:cNvPr id="13" name="TextBox 12"/>
          <p:cNvSpPr txBox="1"/>
          <p:nvPr/>
        </p:nvSpPr>
        <p:spPr>
          <a:xfrm>
            <a:off x="1097280" y="5212080"/>
            <a:ext cx="5486400" cy="365760"/>
          </a:xfrm>
          <a:prstGeom prst="rect">
            <a:avLst/>
          </a:prstGeom>
          <a:noFill/>
        </p:spPr>
        <p:txBody>
          <a:bodyPr wrap="square">
            <a:spAutoFit/>
          </a:bodyPr>
          <a:lstStyle/>
          <a:p>
            <a:pPr algn="l">
              <a:lnSpc>
                <a:spcPts val="1839"/>
              </a:lnSpc>
              <a:defRPr sz="1600" b="0" i="1">
                <a:solidFill>
                  <a:srgbClr val="8B7D6B"/>
                </a:solidFill>
                <a:latin typeface="Georgia"/>
              </a:defRPr>
            </a:pPr>
            <a:r>
              <a:t>Speed  ·  Quality  ·  Trust</a:t>
            </a:r>
          </a:p>
        </p:txBody>
      </p:sp>
      <p:sp>
        <p:nvSpPr>
          <p:cNvPr id="14" name="TextBox 13"/>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15" name="TextBox 14"/>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THE PLAN</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Three phases. One clear path.</a:t>
            </a:r>
          </a:p>
        </p:txBody>
      </p:sp>
      <p:sp>
        <p:nvSpPr>
          <p:cNvPr id="4" name="TextBox 3"/>
          <p:cNvSpPr txBox="1"/>
          <p:nvPr/>
        </p:nvSpPr>
        <p:spPr>
          <a:xfrm>
            <a:off x="1097280" y="256032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01</a:t>
            </a:r>
          </a:p>
        </p:txBody>
      </p:sp>
      <p:sp>
        <p:nvSpPr>
          <p:cNvPr id="5" name="Rectangle 4"/>
          <p:cNvSpPr/>
          <p:nvPr/>
        </p:nvSpPr>
        <p:spPr>
          <a:xfrm>
            <a:off x="1097280" y="288036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01752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Awareness</a:t>
            </a:r>
          </a:p>
        </p:txBody>
      </p:sp>
      <p:sp>
        <p:nvSpPr>
          <p:cNvPr id="7" name="TextBox 6"/>
          <p:cNvSpPr txBox="1"/>
          <p:nvPr/>
        </p:nvSpPr>
        <p:spPr>
          <a:xfrm>
            <a:off x="1097280" y="3474720"/>
            <a:ext cx="2286000" cy="228600"/>
          </a:xfrm>
          <a:prstGeom prst="rect">
            <a:avLst/>
          </a:prstGeom>
          <a:noFill/>
        </p:spPr>
        <p:txBody>
          <a:bodyPr wrap="square">
            <a:spAutoFit/>
          </a:bodyPr>
          <a:lstStyle/>
          <a:p>
            <a:pPr algn="l">
              <a:lnSpc>
                <a:spcPts val="804"/>
              </a:lnSpc>
              <a:defRPr sz="700" b="0" i="0">
                <a:solidFill>
                  <a:srgbClr val="8B7D6B"/>
                </a:solidFill>
                <a:latin typeface="Calibri"/>
              </a:defRPr>
            </a:pPr>
            <a:r>
              <a:t>MAY 2026</a:t>
            </a:r>
          </a:p>
        </p:txBody>
      </p:sp>
      <p:sp>
        <p:nvSpPr>
          <p:cNvPr id="8" name="TextBox 7"/>
          <p:cNvSpPr txBox="1"/>
          <p:nvPr/>
        </p:nvSpPr>
        <p:spPr>
          <a:xfrm>
            <a:off x="1097280" y="379476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Introduce Moots across Blooming’s network through warm, personal outreach. Position the platform with the right people before any pitch — context first, always.</a:t>
            </a:r>
          </a:p>
        </p:txBody>
      </p:sp>
      <p:sp>
        <p:nvSpPr>
          <p:cNvPr id="9" name="TextBox 8"/>
          <p:cNvSpPr txBox="1"/>
          <p:nvPr/>
        </p:nvSpPr>
        <p:spPr>
          <a:xfrm>
            <a:off x="3749039" y="256032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02</a:t>
            </a:r>
          </a:p>
        </p:txBody>
      </p:sp>
      <p:sp>
        <p:nvSpPr>
          <p:cNvPr id="10" name="Rectangle 9"/>
          <p:cNvSpPr/>
          <p:nvPr/>
        </p:nvSpPr>
        <p:spPr>
          <a:xfrm>
            <a:off x="3749039" y="288036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39" y="301752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Demos</a:t>
            </a:r>
          </a:p>
        </p:txBody>
      </p:sp>
      <p:sp>
        <p:nvSpPr>
          <p:cNvPr id="12" name="TextBox 11"/>
          <p:cNvSpPr txBox="1"/>
          <p:nvPr/>
        </p:nvSpPr>
        <p:spPr>
          <a:xfrm>
            <a:off x="3749039" y="3474720"/>
            <a:ext cx="2286000" cy="228600"/>
          </a:xfrm>
          <a:prstGeom prst="rect">
            <a:avLst/>
          </a:prstGeom>
          <a:noFill/>
        </p:spPr>
        <p:txBody>
          <a:bodyPr wrap="square">
            <a:spAutoFit/>
          </a:bodyPr>
          <a:lstStyle/>
          <a:p>
            <a:pPr algn="l">
              <a:lnSpc>
                <a:spcPts val="804"/>
              </a:lnSpc>
              <a:defRPr sz="700" b="0" i="0">
                <a:solidFill>
                  <a:srgbClr val="8B7D6B"/>
                </a:solidFill>
                <a:latin typeface="Calibri"/>
              </a:defRPr>
            </a:pPr>
            <a:r>
              <a:t>MAY – JUNE 2026</a:t>
            </a:r>
          </a:p>
        </p:txBody>
      </p:sp>
      <p:sp>
        <p:nvSpPr>
          <p:cNvPr id="13" name="TextBox 12"/>
          <p:cNvSpPr txBox="1"/>
          <p:nvPr/>
        </p:nvSpPr>
        <p:spPr>
          <a:xfrm>
            <a:off x="3749039" y="379476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Curated one-on-one demos with field marketing managers and event leads who run events constantly. Warm introductions, not cold lists.</a:t>
            </a:r>
          </a:p>
        </p:txBody>
      </p:sp>
      <p:sp>
        <p:nvSpPr>
          <p:cNvPr id="14" name="TextBox 13"/>
          <p:cNvSpPr txBox="1"/>
          <p:nvPr/>
        </p:nvSpPr>
        <p:spPr>
          <a:xfrm>
            <a:off x="6400800" y="256032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03</a:t>
            </a:r>
          </a:p>
        </p:txBody>
      </p:sp>
      <p:sp>
        <p:nvSpPr>
          <p:cNvPr id="15" name="Rectangle 14"/>
          <p:cNvSpPr/>
          <p:nvPr/>
        </p:nvSpPr>
        <p:spPr>
          <a:xfrm>
            <a:off x="6400800" y="288036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01752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The Event</a:t>
            </a:r>
          </a:p>
        </p:txBody>
      </p:sp>
      <p:sp>
        <p:nvSpPr>
          <p:cNvPr id="17" name="TextBox 16"/>
          <p:cNvSpPr txBox="1"/>
          <p:nvPr/>
        </p:nvSpPr>
        <p:spPr>
          <a:xfrm>
            <a:off x="6400800" y="3474720"/>
            <a:ext cx="2286000" cy="228600"/>
          </a:xfrm>
          <a:prstGeom prst="rect">
            <a:avLst/>
          </a:prstGeom>
          <a:noFill/>
        </p:spPr>
        <p:txBody>
          <a:bodyPr wrap="square">
            <a:spAutoFit/>
          </a:bodyPr>
          <a:lstStyle/>
          <a:p>
            <a:pPr algn="l">
              <a:lnSpc>
                <a:spcPts val="804"/>
              </a:lnSpc>
              <a:defRPr sz="700" b="0" i="0">
                <a:solidFill>
                  <a:srgbClr val="8B7D6B"/>
                </a:solidFill>
                <a:latin typeface="Calibri"/>
              </a:defRPr>
            </a:pPr>
            <a:r>
              <a:t>JUNE – JULY 2026</a:t>
            </a:r>
          </a:p>
        </p:txBody>
      </p:sp>
      <p:sp>
        <p:nvSpPr>
          <p:cNvPr id="18" name="TextBox 17"/>
          <p:cNvSpPr txBox="1"/>
          <p:nvPr/>
        </p:nvSpPr>
        <p:spPr>
          <a:xfrm>
            <a:off x="6400800" y="379476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A hands-on workshop powered by Moots — attendees use the platform live, share best practices, and give real-time feedback. The product becomes the proof.</a:t>
            </a:r>
          </a:p>
        </p:txBody>
      </p:sp>
      <p:sp>
        <p:nvSpPr>
          <p:cNvPr id="19" name="TextBox 18"/>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20" name="TextBox 19"/>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THE EVENT</a:t>
            </a:r>
          </a:p>
        </p:txBody>
      </p:sp>
      <p:sp>
        <p:nvSpPr>
          <p:cNvPr id="3" name="TextBox 2"/>
          <p:cNvSpPr txBox="1"/>
          <p:nvPr/>
        </p:nvSpPr>
        <p:spPr>
          <a:xfrm>
            <a:off x="1097280" y="1371600"/>
            <a:ext cx="7863840" cy="914400"/>
          </a:xfrm>
          <a:prstGeom prst="rect">
            <a:avLst/>
          </a:prstGeom>
          <a:noFill/>
        </p:spPr>
        <p:txBody>
          <a:bodyPr wrap="square">
            <a:spAutoFit/>
          </a:bodyPr>
          <a:lstStyle/>
          <a:p>
            <a:pPr algn="l">
              <a:lnSpc>
                <a:spcPts val="3219"/>
              </a:lnSpc>
              <a:defRPr sz="2800" b="0" i="0">
                <a:solidFill>
                  <a:srgbClr val="1A1A1A"/>
                </a:solidFill>
                <a:latin typeface="Georgia"/>
              </a:defRPr>
            </a:pPr>
            <a:r>
              <a:t>A hands-on workshop,</a:t>
            </a:r>
            <a:br/>
            <a:r>
              <a:t>powered by Moots.</a:t>
            </a:r>
          </a:p>
        </p:txBody>
      </p:sp>
      <p:sp>
        <p:nvSpPr>
          <p:cNvPr id="4" name="TextBox 3"/>
          <p:cNvSpPr txBox="1"/>
          <p:nvPr/>
        </p:nvSpPr>
        <p:spPr>
          <a:xfrm>
            <a:off x="1097280" y="2560320"/>
            <a:ext cx="6858000" cy="914400"/>
          </a:xfrm>
          <a:prstGeom prst="rect">
            <a:avLst/>
          </a:prstGeom>
          <a:noFill/>
        </p:spPr>
        <p:txBody>
          <a:bodyPr wrap="square">
            <a:spAutoFit/>
          </a:bodyPr>
          <a:lstStyle/>
          <a:p>
            <a:pPr algn="l">
              <a:lnSpc>
                <a:spcPts val="1700"/>
              </a:lnSpc>
              <a:defRPr sz="1000" b="0" i="0">
                <a:solidFill>
                  <a:srgbClr val="6B6B6B"/>
                </a:solidFill>
                <a:latin typeface="Calibri"/>
              </a:defRPr>
            </a:pPr>
            <a:r>
              <a:t>An intimate session with 10–15 field marketing managers from leading AI and tech companies. Everyone gets hands on the platform — using Moots live, sharing best practices for guest intelligence, and giving real-time feedback. They don’t just hear about the product. They use it, together.</a:t>
            </a:r>
          </a:p>
        </p:txBody>
      </p:sp>
      <p:sp>
        <p:nvSpPr>
          <p:cNvPr id="5" name="TextBox 4"/>
          <p:cNvSpPr txBox="1"/>
          <p:nvPr/>
        </p:nvSpPr>
        <p:spPr>
          <a:xfrm>
            <a:off x="1097280" y="3931920"/>
            <a:ext cx="1828800" cy="457200"/>
          </a:xfrm>
          <a:prstGeom prst="rect">
            <a:avLst/>
          </a:prstGeom>
          <a:noFill/>
        </p:spPr>
        <p:txBody>
          <a:bodyPr wrap="square">
            <a:spAutoFit/>
          </a:bodyPr>
          <a:lstStyle/>
          <a:p>
            <a:pPr algn="l">
              <a:lnSpc>
                <a:spcPts val="2070"/>
              </a:lnSpc>
              <a:defRPr sz="1800" b="0" i="0">
                <a:solidFill>
                  <a:srgbClr val="1A1A1A"/>
                </a:solidFill>
                <a:latin typeface="Georgia"/>
              </a:defRPr>
            </a:pPr>
            <a:r>
              <a:t>10–15</a:t>
            </a:r>
          </a:p>
        </p:txBody>
      </p:sp>
      <p:sp>
        <p:nvSpPr>
          <p:cNvPr id="6" name="TextBox 5"/>
          <p:cNvSpPr txBox="1"/>
          <p:nvPr/>
        </p:nvSpPr>
        <p:spPr>
          <a:xfrm>
            <a:off x="1097280" y="443484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GUESTS</a:t>
            </a:r>
          </a:p>
        </p:txBody>
      </p:sp>
      <p:sp>
        <p:nvSpPr>
          <p:cNvPr id="7" name="TextBox 6"/>
          <p:cNvSpPr txBox="1"/>
          <p:nvPr/>
        </p:nvSpPr>
        <p:spPr>
          <a:xfrm>
            <a:off x="3108960" y="3931920"/>
            <a:ext cx="1828800" cy="457200"/>
          </a:xfrm>
          <a:prstGeom prst="rect">
            <a:avLst/>
          </a:prstGeom>
          <a:noFill/>
        </p:spPr>
        <p:txBody>
          <a:bodyPr wrap="square">
            <a:spAutoFit/>
          </a:bodyPr>
          <a:lstStyle/>
          <a:p>
            <a:pPr algn="l">
              <a:lnSpc>
                <a:spcPts val="2070"/>
              </a:lnSpc>
              <a:defRPr sz="1800" b="0" i="0">
                <a:solidFill>
                  <a:srgbClr val="1A1A1A"/>
                </a:solidFill>
                <a:latin typeface="Georgia"/>
              </a:defRPr>
            </a:pPr>
            <a:r>
              <a:t>San Francisco</a:t>
            </a:r>
          </a:p>
        </p:txBody>
      </p:sp>
      <p:sp>
        <p:nvSpPr>
          <p:cNvPr id="8" name="TextBox 7"/>
          <p:cNvSpPr txBox="1"/>
          <p:nvPr/>
        </p:nvSpPr>
        <p:spPr>
          <a:xfrm>
            <a:off x="3108960" y="443484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LOCATION</a:t>
            </a:r>
          </a:p>
        </p:txBody>
      </p:sp>
      <p:sp>
        <p:nvSpPr>
          <p:cNvPr id="9" name="TextBox 8"/>
          <p:cNvSpPr txBox="1"/>
          <p:nvPr/>
        </p:nvSpPr>
        <p:spPr>
          <a:xfrm>
            <a:off x="5120640" y="3931920"/>
            <a:ext cx="1828800" cy="457200"/>
          </a:xfrm>
          <a:prstGeom prst="rect">
            <a:avLst/>
          </a:prstGeom>
          <a:noFill/>
        </p:spPr>
        <p:txBody>
          <a:bodyPr wrap="square">
            <a:spAutoFit/>
          </a:bodyPr>
          <a:lstStyle/>
          <a:p>
            <a:pPr algn="l">
              <a:lnSpc>
                <a:spcPts val="2070"/>
              </a:lnSpc>
              <a:defRPr sz="1800" b="0" i="0">
                <a:solidFill>
                  <a:srgbClr val="1A1A1A"/>
                </a:solidFill>
                <a:latin typeface="Georgia"/>
              </a:defRPr>
            </a:pPr>
            <a:r>
              <a:t>2.5–3 hrs</a:t>
            </a:r>
          </a:p>
        </p:txBody>
      </p:sp>
      <p:sp>
        <p:nvSpPr>
          <p:cNvPr id="10" name="TextBox 9"/>
          <p:cNvSpPr txBox="1"/>
          <p:nvPr/>
        </p:nvSpPr>
        <p:spPr>
          <a:xfrm>
            <a:off x="5120640" y="443484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DURATION</a:t>
            </a:r>
          </a:p>
        </p:txBody>
      </p:sp>
      <p:sp>
        <p:nvSpPr>
          <p:cNvPr id="11" name="TextBox 10"/>
          <p:cNvSpPr txBox="1"/>
          <p:nvPr/>
        </p:nvSpPr>
        <p:spPr>
          <a:xfrm>
            <a:off x="7132320" y="3931920"/>
            <a:ext cx="1828800" cy="457200"/>
          </a:xfrm>
          <a:prstGeom prst="rect">
            <a:avLst/>
          </a:prstGeom>
          <a:noFill/>
        </p:spPr>
        <p:txBody>
          <a:bodyPr wrap="square">
            <a:spAutoFit/>
          </a:bodyPr>
          <a:lstStyle/>
          <a:p>
            <a:pPr algn="l">
              <a:lnSpc>
                <a:spcPts val="2070"/>
              </a:lnSpc>
              <a:defRPr sz="1800" b="0" i="0">
                <a:solidFill>
                  <a:srgbClr val="1A1A1A"/>
                </a:solidFill>
                <a:latin typeface="Georgia"/>
              </a:defRPr>
            </a:pPr>
            <a:r>
              <a:t>Field Marketing</a:t>
            </a:r>
          </a:p>
        </p:txBody>
      </p:sp>
      <p:sp>
        <p:nvSpPr>
          <p:cNvPr id="12" name="TextBox 11"/>
          <p:cNvSpPr txBox="1"/>
          <p:nvPr/>
        </p:nvSpPr>
        <p:spPr>
          <a:xfrm>
            <a:off x="7132320" y="4434840"/>
            <a:ext cx="1828800" cy="274320"/>
          </a:xfrm>
          <a:prstGeom prst="rect">
            <a:avLst/>
          </a:prstGeom>
          <a:noFill/>
        </p:spPr>
        <p:txBody>
          <a:bodyPr wrap="square">
            <a:spAutoFit/>
          </a:bodyPr>
          <a:lstStyle/>
          <a:p>
            <a:pPr algn="l">
              <a:lnSpc>
                <a:spcPts val="804"/>
              </a:lnSpc>
              <a:defRPr sz="700" b="0" i="0">
                <a:solidFill>
                  <a:srgbClr val="8B7D6B"/>
                </a:solidFill>
                <a:latin typeface="Calibri"/>
              </a:defRPr>
            </a:pPr>
            <a:r>
              <a:t>AUDIENCE</a:t>
            </a:r>
          </a:p>
        </p:txBody>
      </p:sp>
      <p:sp>
        <p:nvSpPr>
          <p:cNvPr id="13" name="TextBox 12"/>
          <p:cNvSpPr txBox="1"/>
          <p:nvPr/>
        </p:nvSpPr>
        <p:spPr>
          <a:xfrm>
            <a:off x="1097280" y="5120640"/>
            <a:ext cx="7315200" cy="365760"/>
          </a:xfrm>
          <a:prstGeom prst="rect">
            <a:avLst/>
          </a:prstGeom>
          <a:noFill/>
        </p:spPr>
        <p:txBody>
          <a:bodyPr wrap="square">
            <a:spAutoFit/>
          </a:bodyPr>
          <a:lstStyle/>
          <a:p>
            <a:pPr algn="l">
              <a:lnSpc>
                <a:spcPts val="1380"/>
              </a:lnSpc>
              <a:defRPr sz="1200" b="0" i="1">
                <a:solidFill>
                  <a:srgbClr val="8B7D6B"/>
                </a:solidFill>
                <a:latin typeface="Georgia"/>
              </a:defRPr>
            </a:pPr>
            <a:r>
              <a:t>The 6th event on Moots produces 7x more pipeline than the 1st — because the platform compounds intelligence.</a:t>
            </a:r>
          </a:p>
        </p:txBody>
      </p:sp>
      <p:sp>
        <p:nvSpPr>
          <p:cNvPr id="14" name="TextBox 13"/>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15" name="TextBox 14"/>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WHY THIS WORKS</a:t>
            </a:r>
          </a:p>
        </p:txBody>
      </p:sp>
      <p:sp>
        <p:nvSpPr>
          <p:cNvPr id="3" name="TextBox 2"/>
          <p:cNvSpPr txBox="1"/>
          <p:nvPr/>
        </p:nvSpPr>
        <p:spPr>
          <a:xfrm>
            <a:off x="1097280" y="1371600"/>
            <a:ext cx="7863840" cy="914400"/>
          </a:xfrm>
          <a:prstGeom prst="rect">
            <a:avLst/>
          </a:prstGeom>
          <a:noFill/>
        </p:spPr>
        <p:txBody>
          <a:bodyPr wrap="square">
            <a:spAutoFit/>
          </a:bodyPr>
          <a:lstStyle/>
          <a:p>
            <a:pPr algn="l">
              <a:lnSpc>
                <a:spcPts val="3219"/>
              </a:lnSpc>
              <a:defRPr sz="2800" b="0" i="0">
                <a:solidFill>
                  <a:srgbClr val="1A1A1A"/>
                </a:solidFill>
                <a:latin typeface="Georgia"/>
              </a:defRPr>
            </a:pPr>
            <a:r>
              <a:t>Not just distribution.</a:t>
            </a:r>
            <a:br/>
            <a:r>
              <a:t>A growth engine.</a:t>
            </a:r>
          </a:p>
        </p:txBody>
      </p:sp>
      <p:sp>
        <p:nvSpPr>
          <p:cNvPr id="4" name="TextBox 3"/>
          <p:cNvSpPr txBox="1"/>
          <p:nvPr/>
        </p:nvSpPr>
        <p:spPr>
          <a:xfrm>
            <a:off x="1097280" y="256032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01</a:t>
            </a:r>
          </a:p>
        </p:txBody>
      </p:sp>
      <p:sp>
        <p:nvSpPr>
          <p:cNvPr id="5" name="Rectangle 4"/>
          <p:cNvSpPr/>
          <p:nvPr/>
        </p:nvSpPr>
        <p:spPr>
          <a:xfrm>
            <a:off x="1097280" y="288036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01752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Warm network</a:t>
            </a:r>
          </a:p>
        </p:txBody>
      </p:sp>
      <p:sp>
        <p:nvSpPr>
          <p:cNvPr id="7" name="TextBox 6"/>
          <p:cNvSpPr txBox="1"/>
          <p:nvPr/>
        </p:nvSpPr>
        <p:spPr>
          <a:xfrm>
            <a:off x="1097280" y="347472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Real relationships, not cold lists. Every introduction comes with context, trust, and a reason to take the meeting. Built over fifty events and three ecosystems.</a:t>
            </a:r>
          </a:p>
        </p:txBody>
      </p:sp>
      <p:sp>
        <p:nvSpPr>
          <p:cNvPr id="8" name="TextBox 7"/>
          <p:cNvSpPr txBox="1"/>
          <p:nvPr/>
        </p:nvSpPr>
        <p:spPr>
          <a:xfrm>
            <a:off x="3749039" y="256032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02</a:t>
            </a:r>
          </a:p>
        </p:txBody>
      </p:sp>
      <p:sp>
        <p:nvSpPr>
          <p:cNvPr id="9" name="Rectangle 8"/>
          <p:cNvSpPr/>
          <p:nvPr/>
        </p:nvSpPr>
        <p:spPr>
          <a:xfrm>
            <a:off x="3749039" y="288036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301752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Aligned incentives</a:t>
            </a:r>
          </a:p>
        </p:txBody>
      </p:sp>
      <p:sp>
        <p:nvSpPr>
          <p:cNvPr id="11" name="TextBox 10"/>
          <p:cNvSpPr txBox="1"/>
          <p:nvPr/>
        </p:nvSpPr>
        <p:spPr>
          <a:xfrm>
            <a:off x="3749039" y="347472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Commission-based pricing means Blooming is invested in Moots’ success — not just delivery. We win when you convert, which means every introduction is intentional.</a:t>
            </a:r>
          </a:p>
        </p:txBody>
      </p:sp>
      <p:sp>
        <p:nvSpPr>
          <p:cNvPr id="12" name="TextBox 11"/>
          <p:cNvSpPr txBox="1"/>
          <p:nvPr/>
        </p:nvSpPr>
        <p:spPr>
          <a:xfrm>
            <a:off x="6400800" y="2560320"/>
            <a:ext cx="2286000" cy="228600"/>
          </a:xfrm>
          <a:prstGeom prst="rect">
            <a:avLst/>
          </a:prstGeom>
          <a:noFill/>
        </p:spPr>
        <p:txBody>
          <a:bodyPr wrap="square">
            <a:spAutoFit/>
          </a:bodyPr>
          <a:lstStyle/>
          <a:p>
            <a:pPr algn="l">
              <a:lnSpc>
                <a:spcPts val="1150"/>
              </a:lnSpc>
              <a:defRPr sz="1000" b="0" i="0">
                <a:solidFill>
                  <a:srgbClr val="8B7D6B"/>
                </a:solidFill>
                <a:latin typeface="Georgia"/>
              </a:defRPr>
            </a:pPr>
            <a:r>
              <a:t>03</a:t>
            </a:r>
          </a:p>
        </p:txBody>
      </p:sp>
      <p:sp>
        <p:nvSpPr>
          <p:cNvPr id="13" name="Rectangle 12"/>
          <p:cNvSpPr/>
          <p:nvPr/>
        </p:nvSpPr>
        <p:spPr>
          <a:xfrm>
            <a:off x="6400800" y="2880360"/>
            <a:ext cx="457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017520"/>
            <a:ext cx="2286000" cy="365760"/>
          </a:xfrm>
          <a:prstGeom prst="rect">
            <a:avLst/>
          </a:prstGeom>
          <a:noFill/>
        </p:spPr>
        <p:txBody>
          <a:bodyPr wrap="square">
            <a:spAutoFit/>
          </a:bodyPr>
          <a:lstStyle/>
          <a:p>
            <a:pPr algn="l">
              <a:lnSpc>
                <a:spcPts val="2070"/>
              </a:lnSpc>
              <a:defRPr sz="1800" b="0" i="0">
                <a:solidFill>
                  <a:srgbClr val="1A1A1A"/>
                </a:solidFill>
                <a:latin typeface="Georgia"/>
              </a:defRPr>
            </a:pPr>
            <a:r>
              <a:t>The right people, at the right moment</a:t>
            </a:r>
          </a:p>
        </p:txBody>
      </p:sp>
      <p:sp>
        <p:nvSpPr>
          <p:cNvPr id="15" name="TextBox 14"/>
          <p:cNvSpPr txBox="1"/>
          <p:nvPr/>
        </p:nvSpPr>
        <p:spPr>
          <a:xfrm>
            <a:off x="6400800" y="3474720"/>
            <a:ext cx="2286000" cy="1097280"/>
          </a:xfrm>
          <a:prstGeom prst="rect">
            <a:avLst/>
          </a:prstGeom>
          <a:noFill/>
        </p:spPr>
        <p:txBody>
          <a:bodyPr wrap="square">
            <a:spAutoFit/>
          </a:bodyPr>
          <a:lstStyle/>
          <a:p>
            <a:pPr algn="l">
              <a:lnSpc>
                <a:spcPts val="1567"/>
              </a:lnSpc>
              <a:defRPr sz="950" b="0" i="0">
                <a:solidFill>
                  <a:srgbClr val="6B6B6B"/>
                </a:solidFill>
                <a:latin typeface="Calibri"/>
              </a:defRPr>
            </a:pPr>
            <a:r>
              <a:t>Field marketing managers who run events constantly. They feel the pain of manual guest selection and broken attribution every week. They’re ready for Moots.</a:t>
            </a:r>
          </a:p>
        </p:txBody>
      </p:sp>
      <p:sp>
        <p:nvSpPr>
          <p:cNvPr id="16" name="TextBox 15"/>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17" name="TextBox 16"/>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INVESTMENT</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Simple, transparent, aligned.</a:t>
            </a:r>
          </a:p>
        </p:txBody>
      </p:sp>
      <p:sp>
        <p:nvSpPr>
          <p:cNvPr id="4" name="TextBox 3"/>
          <p:cNvSpPr txBox="1"/>
          <p:nvPr/>
        </p:nvSpPr>
        <p:spPr>
          <a:xfrm>
            <a:off x="1097280" y="2194560"/>
            <a:ext cx="3657600" cy="640080"/>
          </a:xfrm>
          <a:prstGeom prst="rect">
            <a:avLst/>
          </a:prstGeom>
          <a:noFill/>
        </p:spPr>
        <p:txBody>
          <a:bodyPr wrap="square">
            <a:spAutoFit/>
          </a:bodyPr>
          <a:lstStyle/>
          <a:p>
            <a:pPr algn="l">
              <a:lnSpc>
                <a:spcPts val="4140"/>
              </a:lnSpc>
              <a:defRPr sz="3600" b="0" i="0">
                <a:solidFill>
                  <a:srgbClr val="1A1A1A"/>
                </a:solidFill>
                <a:latin typeface="Georgia"/>
              </a:defRPr>
            </a:pPr>
            <a:r>
              <a:t>$3,000</a:t>
            </a:r>
          </a:p>
        </p:txBody>
      </p:sp>
      <p:sp>
        <p:nvSpPr>
          <p:cNvPr id="5" name="TextBox 4"/>
          <p:cNvSpPr txBox="1"/>
          <p:nvPr/>
        </p:nvSpPr>
        <p:spPr>
          <a:xfrm>
            <a:off x="1097280" y="2834640"/>
            <a:ext cx="4572000" cy="274320"/>
          </a:xfrm>
          <a:prstGeom prst="rect">
            <a:avLst/>
          </a:prstGeom>
          <a:noFill/>
        </p:spPr>
        <p:txBody>
          <a:bodyPr wrap="square">
            <a:spAutoFit/>
          </a:bodyPr>
          <a:lstStyle/>
          <a:p>
            <a:pPr algn="l">
              <a:lnSpc>
                <a:spcPts val="919"/>
              </a:lnSpc>
              <a:defRPr sz="800" b="0" i="0">
                <a:solidFill>
                  <a:srgbClr val="6B6B6B"/>
                </a:solidFill>
                <a:latin typeface="Calibri"/>
              </a:defRPr>
            </a:pPr>
            <a:r>
              <a:t>starting at — excl. logistics &amp; commission</a:t>
            </a:r>
          </a:p>
        </p:txBody>
      </p:sp>
      <p:sp>
        <p:nvSpPr>
          <p:cNvPr id="6" name="Rectangle 5"/>
          <p:cNvSpPr/>
          <p:nvPr/>
        </p:nvSpPr>
        <p:spPr>
          <a:xfrm>
            <a:off x="1097280" y="3383280"/>
            <a:ext cx="68580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20440"/>
            <a:ext cx="5029200" cy="320040"/>
          </a:xfrm>
          <a:prstGeom prst="rect">
            <a:avLst/>
          </a:prstGeom>
          <a:noFill/>
        </p:spPr>
        <p:txBody>
          <a:bodyPr wrap="square">
            <a:spAutoFit/>
          </a:bodyPr>
          <a:lstStyle/>
          <a:p>
            <a:pPr algn="l">
              <a:lnSpc>
                <a:spcPts val="1150"/>
              </a:lnSpc>
              <a:defRPr sz="1000" b="0" i="0">
                <a:solidFill>
                  <a:srgbClr val="6B6B6B"/>
                </a:solidFill>
                <a:latin typeface="Calibri"/>
              </a:defRPr>
            </a:pPr>
            <a:r>
              <a:t>Awareness campaign (warm intros across network)</a:t>
            </a:r>
          </a:p>
        </p:txBody>
      </p:sp>
      <p:sp>
        <p:nvSpPr>
          <p:cNvPr id="8" name="TextBox 7"/>
          <p:cNvSpPr txBox="1"/>
          <p:nvPr/>
        </p:nvSpPr>
        <p:spPr>
          <a:xfrm>
            <a:off x="6858000" y="3520440"/>
            <a:ext cx="1828800" cy="320040"/>
          </a:xfrm>
          <a:prstGeom prst="rect">
            <a:avLst/>
          </a:prstGeom>
          <a:noFill/>
        </p:spPr>
        <p:txBody>
          <a:bodyPr wrap="square">
            <a:spAutoFit/>
          </a:bodyPr>
          <a:lstStyle/>
          <a:p>
            <a:pPr algn="r">
              <a:lnSpc>
                <a:spcPts val="1495"/>
              </a:lnSpc>
              <a:defRPr sz="1300" b="0" i="0">
                <a:solidFill>
                  <a:srgbClr val="1A1A1A"/>
                </a:solidFill>
                <a:latin typeface="Georgia"/>
              </a:defRPr>
            </a:pPr>
            <a:r>
              <a:t>$1,000</a:t>
            </a:r>
          </a:p>
        </p:txBody>
      </p:sp>
      <p:sp>
        <p:nvSpPr>
          <p:cNvPr id="9" name="TextBox 8"/>
          <p:cNvSpPr txBox="1"/>
          <p:nvPr/>
        </p:nvSpPr>
        <p:spPr>
          <a:xfrm>
            <a:off x="1097280" y="3931920"/>
            <a:ext cx="5029200" cy="320040"/>
          </a:xfrm>
          <a:prstGeom prst="rect">
            <a:avLst/>
          </a:prstGeom>
          <a:noFill/>
        </p:spPr>
        <p:txBody>
          <a:bodyPr wrap="square">
            <a:spAutoFit/>
          </a:bodyPr>
          <a:lstStyle/>
          <a:p>
            <a:pPr algn="l">
              <a:lnSpc>
                <a:spcPts val="1150"/>
              </a:lnSpc>
              <a:defRPr sz="1000" b="0" i="0">
                <a:solidFill>
                  <a:srgbClr val="6B6B6B"/>
                </a:solidFill>
                <a:latin typeface="Calibri"/>
              </a:defRPr>
            </a:pPr>
            <a:r>
              <a:t>Curated demos (per qualified meeting)</a:t>
            </a:r>
          </a:p>
        </p:txBody>
      </p:sp>
      <p:sp>
        <p:nvSpPr>
          <p:cNvPr id="10" name="TextBox 9"/>
          <p:cNvSpPr txBox="1"/>
          <p:nvPr/>
        </p:nvSpPr>
        <p:spPr>
          <a:xfrm>
            <a:off x="6858000" y="3931920"/>
            <a:ext cx="1828800" cy="320040"/>
          </a:xfrm>
          <a:prstGeom prst="rect">
            <a:avLst/>
          </a:prstGeom>
          <a:noFill/>
        </p:spPr>
        <p:txBody>
          <a:bodyPr wrap="square">
            <a:spAutoFit/>
          </a:bodyPr>
          <a:lstStyle/>
          <a:p>
            <a:pPr algn="r">
              <a:lnSpc>
                <a:spcPts val="1495"/>
              </a:lnSpc>
              <a:defRPr sz="1300" b="0" i="0">
                <a:solidFill>
                  <a:srgbClr val="1A1A1A"/>
                </a:solidFill>
                <a:latin typeface="Georgia"/>
              </a:defRPr>
            </a:pPr>
            <a:r>
              <a:t>$50 / each</a:t>
            </a:r>
          </a:p>
        </p:txBody>
      </p:sp>
      <p:sp>
        <p:nvSpPr>
          <p:cNvPr id="11" name="TextBox 10"/>
          <p:cNvSpPr txBox="1"/>
          <p:nvPr/>
        </p:nvSpPr>
        <p:spPr>
          <a:xfrm>
            <a:off x="1097280" y="4343400"/>
            <a:ext cx="5029200" cy="320040"/>
          </a:xfrm>
          <a:prstGeom prst="rect">
            <a:avLst/>
          </a:prstGeom>
          <a:noFill/>
        </p:spPr>
        <p:txBody>
          <a:bodyPr wrap="square">
            <a:spAutoFit/>
          </a:bodyPr>
          <a:lstStyle/>
          <a:p>
            <a:pPr algn="l">
              <a:lnSpc>
                <a:spcPts val="1150"/>
              </a:lnSpc>
              <a:defRPr sz="1000" b="0" i="0">
                <a:solidFill>
                  <a:srgbClr val="6B6B6B"/>
                </a:solidFill>
                <a:latin typeface="Calibri"/>
              </a:defRPr>
            </a:pPr>
            <a:r>
              <a:t>Curated workshop (production &amp; curation)</a:t>
            </a:r>
          </a:p>
        </p:txBody>
      </p:sp>
      <p:sp>
        <p:nvSpPr>
          <p:cNvPr id="12" name="TextBox 11"/>
          <p:cNvSpPr txBox="1"/>
          <p:nvPr/>
        </p:nvSpPr>
        <p:spPr>
          <a:xfrm>
            <a:off x="6858000" y="4343400"/>
            <a:ext cx="1828800" cy="320040"/>
          </a:xfrm>
          <a:prstGeom prst="rect">
            <a:avLst/>
          </a:prstGeom>
          <a:noFill/>
        </p:spPr>
        <p:txBody>
          <a:bodyPr wrap="square">
            <a:spAutoFit/>
          </a:bodyPr>
          <a:lstStyle/>
          <a:p>
            <a:pPr algn="r">
              <a:lnSpc>
                <a:spcPts val="1495"/>
              </a:lnSpc>
              <a:defRPr sz="1300" b="0" i="0">
                <a:solidFill>
                  <a:srgbClr val="1A1A1A"/>
                </a:solidFill>
                <a:latin typeface="Georgia"/>
              </a:defRPr>
            </a:pPr>
            <a:r>
              <a:t>$1,000</a:t>
            </a:r>
          </a:p>
        </p:txBody>
      </p:sp>
      <p:sp>
        <p:nvSpPr>
          <p:cNvPr id="13" name="TextBox 12"/>
          <p:cNvSpPr txBox="1"/>
          <p:nvPr/>
        </p:nvSpPr>
        <p:spPr>
          <a:xfrm>
            <a:off x="1097280" y="4754880"/>
            <a:ext cx="5029200" cy="320040"/>
          </a:xfrm>
          <a:prstGeom prst="rect">
            <a:avLst/>
          </a:prstGeom>
          <a:noFill/>
        </p:spPr>
        <p:txBody>
          <a:bodyPr wrap="square">
            <a:spAutoFit/>
          </a:bodyPr>
          <a:lstStyle/>
          <a:p>
            <a:pPr algn="l">
              <a:lnSpc>
                <a:spcPts val="1150"/>
              </a:lnSpc>
              <a:defRPr sz="1000" b="0" i="0">
                <a:solidFill>
                  <a:srgbClr val="6B6B6B"/>
                </a:solidFill>
                <a:latin typeface="Calibri"/>
              </a:defRPr>
            </a:pPr>
            <a:r>
              <a:t>Event logistics (venue, F&amp;B)</a:t>
            </a:r>
          </a:p>
        </p:txBody>
      </p:sp>
      <p:sp>
        <p:nvSpPr>
          <p:cNvPr id="14" name="TextBox 13"/>
          <p:cNvSpPr txBox="1"/>
          <p:nvPr/>
        </p:nvSpPr>
        <p:spPr>
          <a:xfrm>
            <a:off x="6858000" y="4754880"/>
            <a:ext cx="1828800" cy="320040"/>
          </a:xfrm>
          <a:prstGeom prst="rect">
            <a:avLst/>
          </a:prstGeom>
          <a:noFill/>
        </p:spPr>
        <p:txBody>
          <a:bodyPr wrap="square">
            <a:spAutoFit/>
          </a:bodyPr>
          <a:lstStyle/>
          <a:p>
            <a:pPr algn="r">
              <a:lnSpc>
                <a:spcPts val="1495"/>
              </a:lnSpc>
              <a:defRPr sz="1300" b="0" i="0">
                <a:solidFill>
                  <a:srgbClr val="1A1A1A"/>
                </a:solidFill>
                <a:latin typeface="Georgia"/>
              </a:defRPr>
            </a:pPr>
            <a:r>
              <a:t>At cost</a:t>
            </a:r>
          </a:p>
        </p:txBody>
      </p:sp>
      <p:sp>
        <p:nvSpPr>
          <p:cNvPr id="15" name="TextBox 14"/>
          <p:cNvSpPr txBox="1"/>
          <p:nvPr/>
        </p:nvSpPr>
        <p:spPr>
          <a:xfrm>
            <a:off x="1097280" y="5166360"/>
            <a:ext cx="5029200" cy="320040"/>
          </a:xfrm>
          <a:prstGeom prst="rect">
            <a:avLst/>
          </a:prstGeom>
          <a:noFill/>
        </p:spPr>
        <p:txBody>
          <a:bodyPr wrap="square">
            <a:spAutoFit/>
          </a:bodyPr>
          <a:lstStyle/>
          <a:p>
            <a:pPr algn="l">
              <a:lnSpc>
                <a:spcPts val="1150"/>
              </a:lnSpc>
              <a:defRPr sz="1000" b="0" i="0">
                <a:solidFill>
                  <a:srgbClr val="6B6B6B"/>
                </a:solidFill>
                <a:latin typeface="Calibri"/>
              </a:defRPr>
            </a:pPr>
            <a:r>
              <a:t>Revenue commission (6-month window)</a:t>
            </a:r>
          </a:p>
        </p:txBody>
      </p:sp>
      <p:sp>
        <p:nvSpPr>
          <p:cNvPr id="16" name="TextBox 15"/>
          <p:cNvSpPr txBox="1"/>
          <p:nvPr/>
        </p:nvSpPr>
        <p:spPr>
          <a:xfrm>
            <a:off x="6858000" y="5166360"/>
            <a:ext cx="1828800" cy="320040"/>
          </a:xfrm>
          <a:prstGeom prst="rect">
            <a:avLst/>
          </a:prstGeom>
          <a:noFill/>
        </p:spPr>
        <p:txBody>
          <a:bodyPr wrap="square">
            <a:spAutoFit/>
          </a:bodyPr>
          <a:lstStyle/>
          <a:p>
            <a:pPr algn="r">
              <a:lnSpc>
                <a:spcPts val="1495"/>
              </a:lnSpc>
              <a:defRPr sz="1300" b="0" i="0">
                <a:solidFill>
                  <a:srgbClr val="1A1A1A"/>
                </a:solidFill>
                <a:latin typeface="Georgia"/>
              </a:defRPr>
            </a:pPr>
            <a:r>
              <a:t>10%</a:t>
            </a:r>
          </a:p>
        </p:txBody>
      </p:sp>
      <p:sp>
        <p:nvSpPr>
          <p:cNvPr id="17" name="TextBox 16"/>
          <p:cNvSpPr txBox="1"/>
          <p:nvPr/>
        </p:nvSpPr>
        <p:spPr>
          <a:xfrm>
            <a:off x="1097280" y="5760720"/>
            <a:ext cx="5943600" cy="457200"/>
          </a:xfrm>
          <a:prstGeom prst="rect">
            <a:avLst/>
          </a:prstGeom>
          <a:noFill/>
        </p:spPr>
        <p:txBody>
          <a:bodyPr wrap="square">
            <a:spAutoFit/>
          </a:bodyPr>
          <a:lstStyle/>
          <a:p>
            <a:pPr algn="l">
              <a:lnSpc>
                <a:spcPts val="1600"/>
              </a:lnSpc>
              <a:defRPr sz="1000" b="0" i="1">
                <a:solidFill>
                  <a:srgbClr val="8B7D6B"/>
                </a:solidFill>
                <a:latin typeface="Georgia"/>
              </a:defRPr>
            </a:pPr>
            <a:r>
              <a:t>Pricing reflects early-partnership rates for a first activation. Market references available upon request.</a:t>
            </a:r>
          </a:p>
        </p:txBody>
      </p:sp>
      <p:sp>
        <p:nvSpPr>
          <p:cNvPr id="18" name="TextBox 17"/>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19" name="TextBox 18"/>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822960"/>
            <a:ext cx="3657600" cy="274320"/>
          </a:xfrm>
          <a:prstGeom prst="rect">
            <a:avLst/>
          </a:prstGeom>
          <a:noFill/>
        </p:spPr>
        <p:txBody>
          <a:bodyPr wrap="square">
            <a:spAutoFit/>
          </a:bodyPr>
          <a:lstStyle/>
          <a:p>
            <a:pPr algn="l">
              <a:lnSpc>
                <a:spcPts val="919"/>
              </a:lnSpc>
              <a:defRPr sz="800" b="0" i="0">
                <a:solidFill>
                  <a:srgbClr val="8B7D6B"/>
                </a:solidFill>
                <a:latin typeface="Calibri"/>
              </a:defRPr>
            </a:pPr>
            <a:r>
              <a:t>TIMELINE</a:t>
            </a:r>
          </a:p>
        </p:txBody>
      </p:sp>
      <p:sp>
        <p:nvSpPr>
          <p:cNvPr id="3" name="TextBox 2"/>
          <p:cNvSpPr txBox="1"/>
          <p:nvPr/>
        </p:nvSpPr>
        <p:spPr>
          <a:xfrm>
            <a:off x="1097280" y="1371600"/>
            <a:ext cx="7863840" cy="548640"/>
          </a:xfrm>
          <a:prstGeom prst="rect">
            <a:avLst/>
          </a:prstGeom>
          <a:noFill/>
        </p:spPr>
        <p:txBody>
          <a:bodyPr wrap="square">
            <a:spAutoFit/>
          </a:bodyPr>
          <a:lstStyle/>
          <a:p>
            <a:pPr algn="l">
              <a:lnSpc>
                <a:spcPts val="3219"/>
              </a:lnSpc>
              <a:defRPr sz="2800" b="0" i="0">
                <a:solidFill>
                  <a:srgbClr val="1A1A1A"/>
                </a:solidFill>
                <a:latin typeface="Georgia"/>
              </a:defRPr>
            </a:pPr>
            <a:r>
              <a:t>Before May 1 → End of July</a:t>
            </a:r>
          </a:p>
        </p:txBody>
      </p:sp>
      <p:sp>
        <p:nvSpPr>
          <p:cNvPr id="4" name="TextBox 3"/>
          <p:cNvSpPr txBox="1"/>
          <p:nvPr/>
        </p:nvSpPr>
        <p:spPr>
          <a:xfrm>
            <a:off x="1097280" y="2377440"/>
            <a:ext cx="1645920" cy="320040"/>
          </a:xfrm>
          <a:prstGeom prst="rect">
            <a:avLst/>
          </a:prstGeom>
          <a:noFill/>
        </p:spPr>
        <p:txBody>
          <a:bodyPr wrap="square">
            <a:spAutoFit/>
          </a:bodyPr>
          <a:lstStyle/>
          <a:p>
            <a:pPr algn="l">
              <a:lnSpc>
                <a:spcPts val="804"/>
              </a:lnSpc>
              <a:defRPr sz="700" b="0" i="0">
                <a:solidFill>
                  <a:srgbClr val="8B7D6B"/>
                </a:solidFill>
                <a:latin typeface="Calibri"/>
              </a:defRPr>
            </a:pPr>
            <a:r>
              <a:t>BEFORE MAY 1</a:t>
            </a:r>
          </a:p>
        </p:txBody>
      </p:sp>
      <p:sp>
        <p:nvSpPr>
          <p:cNvPr id="5" name="TextBox 4"/>
          <p:cNvSpPr txBox="1"/>
          <p:nvPr/>
        </p:nvSpPr>
        <p:spPr>
          <a:xfrm>
            <a:off x="2926080" y="2377440"/>
            <a:ext cx="5486400" cy="457200"/>
          </a:xfrm>
          <a:prstGeom prst="rect">
            <a:avLst/>
          </a:prstGeom>
          <a:noFill/>
        </p:spPr>
        <p:txBody>
          <a:bodyPr wrap="square">
            <a:spAutoFit/>
          </a:bodyPr>
          <a:lstStyle/>
          <a:p>
            <a:pPr algn="l">
              <a:lnSpc>
                <a:spcPts val="1600"/>
              </a:lnSpc>
              <a:defRPr sz="1000" b="0" i="0">
                <a:solidFill>
                  <a:srgbClr val="6B6B6B"/>
                </a:solidFill>
                <a:latin typeface="Calibri"/>
              </a:defRPr>
            </a:pPr>
            <a:r>
              <a:t>Align on messaging, define target profiles, finalize partnership terms</a:t>
            </a:r>
          </a:p>
        </p:txBody>
      </p:sp>
      <p:sp>
        <p:nvSpPr>
          <p:cNvPr id="6" name="Rectangle 5"/>
          <p:cNvSpPr/>
          <p:nvPr/>
        </p:nvSpPr>
        <p:spPr>
          <a:xfrm>
            <a:off x="1097280" y="2834640"/>
            <a:ext cx="7315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063240"/>
            <a:ext cx="1645920" cy="320040"/>
          </a:xfrm>
          <a:prstGeom prst="rect">
            <a:avLst/>
          </a:prstGeom>
          <a:noFill/>
        </p:spPr>
        <p:txBody>
          <a:bodyPr wrap="square">
            <a:spAutoFit/>
          </a:bodyPr>
          <a:lstStyle/>
          <a:p>
            <a:pPr algn="l">
              <a:lnSpc>
                <a:spcPts val="804"/>
              </a:lnSpc>
              <a:defRPr sz="700" b="0" i="0">
                <a:solidFill>
                  <a:srgbClr val="8B7D6B"/>
                </a:solidFill>
                <a:latin typeface="Calibri"/>
              </a:defRPr>
            </a:pPr>
            <a:r>
              <a:t>MAY 1 – 15</a:t>
            </a:r>
          </a:p>
        </p:txBody>
      </p:sp>
      <p:sp>
        <p:nvSpPr>
          <p:cNvPr id="8" name="TextBox 7"/>
          <p:cNvSpPr txBox="1"/>
          <p:nvPr/>
        </p:nvSpPr>
        <p:spPr>
          <a:xfrm>
            <a:off x="2926080" y="3063240"/>
            <a:ext cx="5486400" cy="457200"/>
          </a:xfrm>
          <a:prstGeom prst="rect">
            <a:avLst/>
          </a:prstGeom>
          <a:noFill/>
        </p:spPr>
        <p:txBody>
          <a:bodyPr wrap="square">
            <a:spAutoFit/>
          </a:bodyPr>
          <a:lstStyle/>
          <a:p>
            <a:pPr algn="l">
              <a:lnSpc>
                <a:spcPts val="1600"/>
              </a:lnSpc>
              <a:defRPr sz="1000" b="0" i="0">
                <a:solidFill>
                  <a:srgbClr val="6B6B6B"/>
                </a:solidFill>
                <a:latin typeface="Calibri"/>
              </a:defRPr>
            </a:pPr>
            <a:r>
              <a:t>Launch warm outreach — introduce Moots across Blooming’s network with personal context</a:t>
            </a:r>
          </a:p>
        </p:txBody>
      </p:sp>
      <p:sp>
        <p:nvSpPr>
          <p:cNvPr id="9" name="Rectangle 8"/>
          <p:cNvSpPr/>
          <p:nvPr/>
        </p:nvSpPr>
        <p:spPr>
          <a:xfrm>
            <a:off x="1097280" y="3520440"/>
            <a:ext cx="7315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749039"/>
            <a:ext cx="1645920" cy="320040"/>
          </a:xfrm>
          <a:prstGeom prst="rect">
            <a:avLst/>
          </a:prstGeom>
          <a:noFill/>
        </p:spPr>
        <p:txBody>
          <a:bodyPr wrap="square">
            <a:spAutoFit/>
          </a:bodyPr>
          <a:lstStyle/>
          <a:p>
            <a:pPr algn="l">
              <a:lnSpc>
                <a:spcPts val="804"/>
              </a:lnSpc>
              <a:defRPr sz="700" b="0" i="0">
                <a:solidFill>
                  <a:srgbClr val="8B7D6B"/>
                </a:solidFill>
                <a:latin typeface="Calibri"/>
              </a:defRPr>
            </a:pPr>
            <a:r>
              <a:t>MAY 15 – JUNE 15</a:t>
            </a:r>
          </a:p>
        </p:txBody>
      </p:sp>
      <p:sp>
        <p:nvSpPr>
          <p:cNvPr id="11" name="TextBox 10"/>
          <p:cNvSpPr txBox="1"/>
          <p:nvPr/>
        </p:nvSpPr>
        <p:spPr>
          <a:xfrm>
            <a:off x="2926080" y="3749039"/>
            <a:ext cx="5486400" cy="457200"/>
          </a:xfrm>
          <a:prstGeom prst="rect">
            <a:avLst/>
          </a:prstGeom>
          <a:noFill/>
        </p:spPr>
        <p:txBody>
          <a:bodyPr wrap="square">
            <a:spAutoFit/>
          </a:bodyPr>
          <a:lstStyle/>
          <a:p>
            <a:pPr algn="l">
              <a:lnSpc>
                <a:spcPts val="1600"/>
              </a:lnSpc>
              <a:defRPr sz="1000" b="0" i="0">
                <a:solidFill>
                  <a:srgbClr val="6B6B6B"/>
                </a:solidFill>
                <a:latin typeface="Calibri"/>
              </a:defRPr>
            </a:pPr>
            <a:r>
              <a:t>Run curated demos with qualified field marketing leads — one-on-one, warm introductions</a:t>
            </a:r>
          </a:p>
        </p:txBody>
      </p:sp>
      <p:sp>
        <p:nvSpPr>
          <p:cNvPr id="12" name="Rectangle 11"/>
          <p:cNvSpPr/>
          <p:nvPr/>
        </p:nvSpPr>
        <p:spPr>
          <a:xfrm>
            <a:off x="1097280" y="4206239"/>
            <a:ext cx="7315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434840"/>
            <a:ext cx="1645920" cy="320040"/>
          </a:xfrm>
          <a:prstGeom prst="rect">
            <a:avLst/>
          </a:prstGeom>
          <a:noFill/>
        </p:spPr>
        <p:txBody>
          <a:bodyPr wrap="square">
            <a:spAutoFit/>
          </a:bodyPr>
          <a:lstStyle/>
          <a:p>
            <a:pPr algn="l">
              <a:lnSpc>
                <a:spcPts val="804"/>
              </a:lnSpc>
              <a:defRPr sz="700" b="0" i="0">
                <a:solidFill>
                  <a:srgbClr val="8B7D6B"/>
                </a:solidFill>
                <a:latin typeface="Calibri"/>
              </a:defRPr>
            </a:pPr>
            <a:r>
              <a:t>JUNE – EARLY JULY</a:t>
            </a:r>
          </a:p>
        </p:txBody>
      </p:sp>
      <p:sp>
        <p:nvSpPr>
          <p:cNvPr id="14" name="TextBox 13"/>
          <p:cNvSpPr txBox="1"/>
          <p:nvPr/>
        </p:nvSpPr>
        <p:spPr>
          <a:xfrm>
            <a:off x="2926080" y="4434840"/>
            <a:ext cx="5486400" cy="457200"/>
          </a:xfrm>
          <a:prstGeom prst="rect">
            <a:avLst/>
          </a:prstGeom>
          <a:noFill/>
        </p:spPr>
        <p:txBody>
          <a:bodyPr wrap="square">
            <a:spAutoFit/>
          </a:bodyPr>
          <a:lstStyle/>
          <a:p>
            <a:pPr algn="l">
              <a:lnSpc>
                <a:spcPts val="1600"/>
              </a:lnSpc>
              <a:defRPr sz="1000" b="0" i="0">
                <a:solidFill>
                  <a:srgbClr val="6B6B6B"/>
                </a:solidFill>
                <a:latin typeface="Calibri"/>
              </a:defRPr>
            </a:pPr>
            <a:r>
              <a:t>Hands-on workshop in San Francisco — powered by Moots, 10–15 field marketing managers</a:t>
            </a:r>
          </a:p>
        </p:txBody>
      </p:sp>
      <p:sp>
        <p:nvSpPr>
          <p:cNvPr id="15" name="Rectangle 14"/>
          <p:cNvSpPr/>
          <p:nvPr/>
        </p:nvSpPr>
        <p:spPr>
          <a:xfrm>
            <a:off x="1097280" y="4892040"/>
            <a:ext cx="73152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120640"/>
            <a:ext cx="1645920" cy="320040"/>
          </a:xfrm>
          <a:prstGeom prst="rect">
            <a:avLst/>
          </a:prstGeom>
          <a:noFill/>
        </p:spPr>
        <p:txBody>
          <a:bodyPr wrap="square">
            <a:spAutoFit/>
          </a:bodyPr>
          <a:lstStyle/>
          <a:p>
            <a:pPr algn="l">
              <a:lnSpc>
                <a:spcPts val="804"/>
              </a:lnSpc>
              <a:defRPr sz="700" b="0" i="0">
                <a:solidFill>
                  <a:srgbClr val="8B7D6B"/>
                </a:solidFill>
                <a:latin typeface="Calibri"/>
              </a:defRPr>
            </a:pPr>
            <a:r>
              <a:t>JULY</a:t>
            </a:r>
          </a:p>
        </p:txBody>
      </p:sp>
      <p:sp>
        <p:nvSpPr>
          <p:cNvPr id="17" name="TextBox 16"/>
          <p:cNvSpPr txBox="1"/>
          <p:nvPr/>
        </p:nvSpPr>
        <p:spPr>
          <a:xfrm>
            <a:off x="2926080" y="5120640"/>
            <a:ext cx="5486400" cy="457200"/>
          </a:xfrm>
          <a:prstGeom prst="rect">
            <a:avLst/>
          </a:prstGeom>
          <a:noFill/>
        </p:spPr>
        <p:txBody>
          <a:bodyPr wrap="square">
            <a:spAutoFit/>
          </a:bodyPr>
          <a:lstStyle/>
          <a:p>
            <a:pPr algn="l">
              <a:lnSpc>
                <a:spcPts val="1600"/>
              </a:lnSpc>
              <a:defRPr sz="1000" b="0" i="0">
                <a:solidFill>
                  <a:srgbClr val="6B6B6B"/>
                </a:solidFill>
                <a:latin typeface="Calibri"/>
              </a:defRPr>
            </a:pPr>
            <a:r>
              <a:t>Follow-up, pipeline tracking, outcomes review — set the foundation for ongoing activation</a:t>
            </a:r>
          </a:p>
        </p:txBody>
      </p:sp>
      <p:sp>
        <p:nvSpPr>
          <p:cNvPr id="18" name="TextBox 17"/>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19" name="TextBox 18"/>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2286000"/>
            <a:ext cx="7315200" cy="914400"/>
          </a:xfrm>
          <a:prstGeom prst="rect">
            <a:avLst/>
          </a:prstGeom>
          <a:noFill/>
        </p:spPr>
        <p:txBody>
          <a:bodyPr wrap="square">
            <a:spAutoFit/>
          </a:bodyPr>
          <a:lstStyle/>
          <a:p>
            <a:pPr algn="ctr">
              <a:lnSpc>
                <a:spcPts val="4370"/>
              </a:lnSpc>
              <a:defRPr sz="3800" b="0" i="1">
                <a:solidFill>
                  <a:srgbClr val="8B7D6B"/>
                </a:solidFill>
                <a:latin typeface="Georgia"/>
              </a:defRPr>
            </a:pPr>
            <a:r>
              <a:t>Let’s build the right room.</a:t>
            </a:r>
          </a:p>
        </p:txBody>
      </p:sp>
      <p:sp>
        <p:nvSpPr>
          <p:cNvPr id="3" name="TextBox 2"/>
          <p:cNvSpPr txBox="1"/>
          <p:nvPr/>
        </p:nvSpPr>
        <p:spPr>
          <a:xfrm>
            <a:off x="2286000" y="3474720"/>
            <a:ext cx="5486400" cy="1280160"/>
          </a:xfrm>
          <a:prstGeom prst="rect">
            <a:avLst/>
          </a:prstGeom>
          <a:noFill/>
        </p:spPr>
        <p:txBody>
          <a:bodyPr wrap="square">
            <a:spAutoFit/>
          </a:bodyPr>
          <a:lstStyle/>
          <a:p>
            <a:pPr algn="ctr">
              <a:lnSpc>
                <a:spcPts val="2039"/>
              </a:lnSpc>
              <a:defRPr sz="1200" b="0" i="1">
                <a:solidFill>
                  <a:srgbClr val="6B6B6B"/>
                </a:solidFill>
                <a:latin typeface="Georgia"/>
              </a:defRPr>
            </a:pPr>
            <a:r>
              <a:t>"Tonje, we’re both French, we both ended up in the middle of the AI world, and we both believe relationships are what actually move things forward. I’d love to help you get Moots in front of the people who need it most — and I think we can do something genuinely great together."</a:t>
            </a:r>
          </a:p>
        </p:txBody>
      </p:sp>
      <p:sp>
        <p:nvSpPr>
          <p:cNvPr id="4" name="Rectangle 3"/>
          <p:cNvSpPr/>
          <p:nvPr/>
        </p:nvSpPr>
        <p:spPr>
          <a:xfrm>
            <a:off x="4572000" y="4937760"/>
            <a:ext cx="914400" cy="9525"/>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5212080"/>
            <a:ext cx="5486400" cy="320040"/>
          </a:xfrm>
          <a:prstGeom prst="rect">
            <a:avLst/>
          </a:prstGeom>
          <a:noFill/>
        </p:spPr>
        <p:txBody>
          <a:bodyPr wrap="square">
            <a:spAutoFit/>
          </a:bodyPr>
          <a:lstStyle/>
          <a:p>
            <a:pPr algn="ctr">
              <a:lnSpc>
                <a:spcPts val="1495"/>
              </a:lnSpc>
              <a:defRPr sz="1300" b="0" i="0">
                <a:solidFill>
                  <a:srgbClr val="6B6B6B"/>
                </a:solidFill>
                <a:latin typeface="Calibri"/>
              </a:defRPr>
            </a:pPr>
            <a:r>
              <a:t>alison@weareblooming.co</a:t>
            </a:r>
          </a:p>
        </p:txBody>
      </p:sp>
      <p:sp>
        <p:nvSpPr>
          <p:cNvPr id="6" name="TextBox 5"/>
          <p:cNvSpPr txBox="1"/>
          <p:nvPr/>
        </p:nvSpPr>
        <p:spPr>
          <a:xfrm>
            <a:off x="2286000" y="5577840"/>
            <a:ext cx="5486400" cy="274320"/>
          </a:xfrm>
          <a:prstGeom prst="rect">
            <a:avLst/>
          </a:prstGeom>
          <a:noFill/>
        </p:spPr>
        <p:txBody>
          <a:bodyPr wrap="square">
            <a:spAutoFit/>
          </a:bodyPr>
          <a:lstStyle/>
          <a:p>
            <a:pPr algn="ctr">
              <a:lnSpc>
                <a:spcPts val="919"/>
              </a:lnSpc>
              <a:defRPr sz="800" b="0" i="0">
                <a:solidFill>
                  <a:srgbClr val="8B7D6B"/>
                </a:solidFill>
                <a:latin typeface="Calibri"/>
              </a:defRPr>
            </a:pPr>
            <a:r>
              <a:t>WEAREBLOOMING.CO</a:t>
            </a:r>
          </a:p>
        </p:txBody>
      </p:sp>
      <p:sp>
        <p:nvSpPr>
          <p:cNvPr id="7" name="TextBox 6"/>
          <p:cNvSpPr txBox="1"/>
          <p:nvPr/>
        </p:nvSpPr>
        <p:spPr>
          <a:xfrm>
            <a:off x="1097280" y="7040880"/>
            <a:ext cx="2743200" cy="274320"/>
          </a:xfrm>
          <a:prstGeom prst="rect">
            <a:avLst/>
          </a:prstGeom>
          <a:noFill/>
        </p:spPr>
        <p:txBody>
          <a:bodyPr wrap="square">
            <a:spAutoFit/>
          </a:bodyPr>
          <a:lstStyle/>
          <a:p>
            <a:pPr algn="l">
              <a:lnSpc>
                <a:spcPts val="804"/>
              </a:lnSpc>
              <a:defRPr sz="700" b="0" i="0">
                <a:solidFill>
                  <a:srgbClr val="6B6B6B"/>
                </a:solidFill>
                <a:latin typeface="Calibri"/>
              </a:defRPr>
            </a:pPr>
            <a:r>
              <a:t>Blooming x Moots</a:t>
            </a:r>
          </a:p>
        </p:txBody>
      </p:sp>
      <p:sp>
        <p:nvSpPr>
          <p:cNvPr id="8" name="TextBox 7"/>
          <p:cNvSpPr txBox="1"/>
          <p:nvPr/>
        </p:nvSpPr>
        <p:spPr>
          <a:xfrm>
            <a:off x="7132320" y="7040880"/>
            <a:ext cx="1828800" cy="274320"/>
          </a:xfrm>
          <a:prstGeom prst="rect">
            <a:avLst/>
          </a:prstGeom>
          <a:noFill/>
        </p:spPr>
        <p:txBody>
          <a:bodyPr wrap="square">
            <a:spAutoFit/>
          </a:bodyPr>
          <a:lstStyle/>
          <a:p>
            <a:pPr algn="r">
              <a:lnSpc>
                <a:spcPts val="804"/>
              </a:lnSpc>
              <a:defRPr sz="700" b="0" i="0">
                <a:solidFill>
                  <a:srgbClr val="6B6B6B"/>
                </a:solidFill>
                <a:latin typeface="Calibri"/>
              </a:defRPr>
            </a:pPr>
            <a:r>
              <a:t>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