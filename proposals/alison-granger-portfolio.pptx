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1097280"/>
            <a:ext cx="2743200" cy="365760"/>
          </a:xfrm>
          <a:prstGeom prst="rect">
            <a:avLst/>
          </a:prstGeom>
          <a:noFill/>
        </p:spPr>
        <p:txBody>
          <a:bodyPr wrap="square">
            <a:spAutoFit/>
          </a:bodyPr>
          <a:lstStyle/>
          <a:p>
            <a:pPr algn="l">
              <a:lnSpc>
                <a:spcPts val="1150"/>
              </a:lnSpc>
              <a:defRPr sz="1000" b="0" i="0">
                <a:solidFill>
                  <a:srgbClr val="1A1A1A"/>
                </a:solidFill>
                <a:latin typeface="Calibri"/>
              </a:defRPr>
            </a:pPr>
            <a:r>
              <a:t>BLOOMING</a:t>
            </a:r>
          </a:p>
        </p:txBody>
      </p:sp>
      <p:sp>
        <p:nvSpPr>
          <p:cNvPr id="3" name="TextBox 2"/>
          <p:cNvSpPr txBox="1"/>
          <p:nvPr/>
        </p:nvSpPr>
        <p:spPr>
          <a:xfrm>
            <a:off x="1097280" y="2743200"/>
            <a:ext cx="7315200" cy="1463040"/>
          </a:xfrm>
          <a:prstGeom prst="rect">
            <a:avLst/>
          </a:prstGeom>
          <a:noFill/>
        </p:spPr>
        <p:txBody>
          <a:bodyPr wrap="square">
            <a:spAutoFit/>
          </a:bodyPr>
          <a:lstStyle/>
          <a:p>
            <a:pPr algn="l">
              <a:lnSpc>
                <a:spcPts val="4620"/>
              </a:lnSpc>
              <a:defRPr sz="4200" b="0" i="0">
                <a:solidFill>
                  <a:srgbClr val="1A1A1A"/>
                </a:solidFill>
                <a:latin typeface="Georgia"/>
              </a:defRPr>
            </a:pPr>
            <a:r>
              <a:t>Alison Granger</a:t>
            </a:r>
            <a:br/>
            <a:r>
              <a:t>Portfolio</a:t>
            </a:r>
          </a:p>
        </p:txBody>
      </p:sp>
      <p:sp>
        <p:nvSpPr>
          <p:cNvPr id="4" name="TextBox 3"/>
          <p:cNvSpPr txBox="1"/>
          <p:nvPr/>
        </p:nvSpPr>
        <p:spPr>
          <a:xfrm>
            <a:off x="1097280" y="4572000"/>
            <a:ext cx="5486400" cy="365760"/>
          </a:xfrm>
          <a:prstGeom prst="rect">
            <a:avLst/>
          </a:prstGeom>
          <a:noFill/>
        </p:spPr>
        <p:txBody>
          <a:bodyPr wrap="square">
            <a:spAutoFit/>
          </a:bodyPr>
          <a:lstStyle/>
          <a:p>
            <a:pPr algn="l">
              <a:lnSpc>
                <a:spcPts val="1264"/>
              </a:lnSpc>
              <a:defRPr sz="1100" b="0" i="0">
                <a:solidFill>
                  <a:srgbClr val="6B6B6B"/>
                </a:solidFill>
                <a:latin typeface="Calibri"/>
              </a:defRPr>
            </a:pPr>
            <a:r>
              <a:t>Event strategist &amp; ecosystem architect · 10+ years of operating experience</a:t>
            </a:r>
          </a:p>
        </p:txBody>
      </p:sp>
      <p:sp>
        <p:nvSpPr>
          <p:cNvPr id="5" name="TextBox 4"/>
          <p:cNvSpPr txBox="1"/>
          <p:nvPr/>
        </p:nvSpPr>
        <p:spPr>
          <a:xfrm>
            <a:off x="1097280" y="5212080"/>
            <a:ext cx="1828800" cy="320040"/>
          </a:xfrm>
          <a:prstGeom prst="rect">
            <a:avLst/>
          </a:prstGeom>
          <a:noFill/>
        </p:spPr>
        <p:txBody>
          <a:bodyPr wrap="square">
            <a:spAutoFit/>
          </a:bodyPr>
          <a:lstStyle/>
          <a:p>
            <a:pPr algn="l">
              <a:lnSpc>
                <a:spcPts val="804"/>
              </a:lnSpc>
              <a:defRPr sz="700" b="0" i="0">
                <a:solidFill>
                  <a:srgbClr val="8B7D6B"/>
                </a:solidFill>
                <a:latin typeface="Calibri"/>
              </a:defRPr>
            </a:pPr>
            <a:r>
              <a:t>CONFIDENTIAL</a:t>
            </a:r>
          </a:p>
        </p:txBody>
      </p:sp>
      <p:sp>
        <p:nvSpPr>
          <p:cNvPr id="6" name="TextBox 5"/>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a:t>
            </a:r>
          </a:p>
        </p:txBody>
      </p:sp>
      <p:sp>
        <p:nvSpPr>
          <p:cNvPr id="7" name="TextBox 6"/>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weareblooming.co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POSITIONING</a:t>
            </a:r>
          </a:p>
        </p:txBody>
      </p:sp>
      <p:sp>
        <p:nvSpPr>
          <p:cNvPr id="3" name="TextBox 2"/>
          <p:cNvSpPr txBox="1"/>
          <p:nvPr/>
        </p:nvSpPr>
        <p:spPr>
          <a:xfrm>
            <a:off x="1097280" y="1371600"/>
            <a:ext cx="7863840" cy="914400"/>
          </a:xfrm>
          <a:prstGeom prst="rect">
            <a:avLst/>
          </a:prstGeom>
          <a:noFill/>
        </p:spPr>
        <p:txBody>
          <a:bodyPr wrap="square">
            <a:spAutoFit/>
          </a:bodyPr>
          <a:lstStyle/>
          <a:p>
            <a:pPr algn="l">
              <a:lnSpc>
                <a:spcPts val="3219"/>
              </a:lnSpc>
              <a:defRPr sz="2800" b="0" i="0">
                <a:solidFill>
                  <a:srgbClr val="1A1A1A"/>
                </a:solidFill>
                <a:latin typeface="Georgia"/>
              </a:defRPr>
            </a:pPr>
            <a:r>
              <a:t>Most events optimize for attendance.</a:t>
            </a:r>
            <a:br/>
            <a:r>
              <a:t>Alison optimizes for outcomes.</a:t>
            </a:r>
          </a:p>
        </p:txBody>
      </p:sp>
      <p:sp>
        <p:nvSpPr>
          <p:cNvPr id="4" name="TextBox 3"/>
          <p:cNvSpPr txBox="1"/>
          <p:nvPr/>
        </p:nvSpPr>
        <p:spPr>
          <a:xfrm>
            <a:off x="1097280" y="2560320"/>
            <a:ext cx="6858000" cy="914400"/>
          </a:xfrm>
          <a:prstGeom prst="rect">
            <a:avLst/>
          </a:prstGeom>
          <a:noFill/>
        </p:spPr>
        <p:txBody>
          <a:bodyPr wrap="square">
            <a:spAutoFit/>
          </a:bodyPr>
          <a:lstStyle/>
          <a:p>
            <a:pPr algn="l">
              <a:lnSpc>
                <a:spcPts val="1700"/>
              </a:lnSpc>
              <a:defRPr sz="1000" b="0" i="0">
                <a:solidFill>
                  <a:srgbClr val="6B6B6B"/>
                </a:solidFill>
                <a:latin typeface="Calibri"/>
              </a:defRPr>
            </a:pPr>
            <a:r>
              <a:t>Designing curated environments where the right people meet, build, and move the ecosystem forward. 10+ years bridging product, GTM, and developer relations through narrative-driven ecosystem events across AI, developer, and startup ecosystems.</a:t>
            </a:r>
          </a:p>
        </p:txBody>
      </p:sp>
      <p:sp>
        <p:nvSpPr>
          <p:cNvPr id="5" name="TextBox 4"/>
          <p:cNvSpPr txBox="1"/>
          <p:nvPr/>
        </p:nvSpPr>
        <p:spPr>
          <a:xfrm>
            <a:off x="109728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150+</a:t>
            </a:r>
          </a:p>
        </p:txBody>
      </p:sp>
      <p:sp>
        <p:nvSpPr>
          <p:cNvPr id="6" name="TextBox 5"/>
          <p:cNvSpPr txBox="1"/>
          <p:nvPr/>
        </p:nvSpPr>
        <p:spPr>
          <a:xfrm>
            <a:off x="109728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EVENTS ARCHITECTED</a:t>
            </a:r>
          </a:p>
        </p:txBody>
      </p:sp>
      <p:sp>
        <p:nvSpPr>
          <p:cNvPr id="7" name="TextBox 6"/>
          <p:cNvSpPr txBox="1"/>
          <p:nvPr/>
        </p:nvSpPr>
        <p:spPr>
          <a:xfrm>
            <a:off x="310896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15k+</a:t>
            </a:r>
          </a:p>
        </p:txBody>
      </p:sp>
      <p:sp>
        <p:nvSpPr>
          <p:cNvPr id="8" name="TextBox 7"/>
          <p:cNvSpPr txBox="1"/>
          <p:nvPr/>
        </p:nvSpPr>
        <p:spPr>
          <a:xfrm>
            <a:off x="310896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BUILDERS ENGAGED</a:t>
            </a:r>
          </a:p>
        </p:txBody>
      </p:sp>
      <p:sp>
        <p:nvSpPr>
          <p:cNvPr id="9" name="TextBox 8"/>
          <p:cNvSpPr txBox="1"/>
          <p:nvPr/>
        </p:nvSpPr>
        <p:spPr>
          <a:xfrm>
            <a:off x="512064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10+</a:t>
            </a:r>
          </a:p>
        </p:txBody>
      </p:sp>
      <p:sp>
        <p:nvSpPr>
          <p:cNvPr id="10" name="TextBox 9"/>
          <p:cNvSpPr txBox="1"/>
          <p:nvPr/>
        </p:nvSpPr>
        <p:spPr>
          <a:xfrm>
            <a:off x="512064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YEARS OPERATING</a:t>
            </a:r>
          </a:p>
        </p:txBody>
      </p:sp>
      <p:sp>
        <p:nvSpPr>
          <p:cNvPr id="11" name="TextBox 10"/>
          <p:cNvSpPr txBox="1"/>
          <p:nvPr/>
        </p:nvSpPr>
        <p:spPr>
          <a:xfrm>
            <a:off x="713232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SF</a:t>
            </a:r>
          </a:p>
        </p:txBody>
      </p:sp>
      <p:sp>
        <p:nvSpPr>
          <p:cNvPr id="12" name="TextBox 11"/>
          <p:cNvSpPr txBox="1"/>
          <p:nvPr/>
        </p:nvSpPr>
        <p:spPr>
          <a:xfrm>
            <a:off x="713232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BASED · GLOBAL REACH</a:t>
            </a:r>
          </a:p>
        </p:txBody>
      </p:sp>
      <p:sp>
        <p:nvSpPr>
          <p:cNvPr id="13" name="TextBox 12"/>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14" name="TextBox 13"/>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POINT OF VIEW</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Why most events fail</a:t>
            </a:r>
          </a:p>
        </p:txBody>
      </p:sp>
      <p:sp>
        <p:nvSpPr>
          <p:cNvPr id="4" name="TextBox 3"/>
          <p:cNvSpPr txBox="1"/>
          <p:nvPr/>
        </p:nvSpPr>
        <p:spPr>
          <a:xfrm>
            <a:off x="1097280"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The problem</a:t>
            </a:r>
          </a:p>
        </p:txBody>
      </p:sp>
      <p:sp>
        <p:nvSpPr>
          <p:cNvPr id="5" name="Rectangle 4"/>
          <p:cNvSpPr/>
          <p:nvPr/>
        </p:nvSpPr>
        <p:spPr>
          <a:xfrm>
            <a:off x="1097280"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Attendance over impact</a:t>
            </a:r>
          </a:p>
        </p:txBody>
      </p:sp>
      <p:sp>
        <p:nvSpPr>
          <p:cNvPr id="7" name="TextBox 6"/>
          <p:cNvSpPr txBox="1"/>
          <p:nvPr/>
        </p:nvSpPr>
        <p:spPr>
          <a:xfrm>
            <a:off x="1097280" y="329184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They optimize for scale when they should optimize for signal. Attendees become a metric, not a curated ecosystem.</a:t>
            </a:r>
          </a:p>
        </p:txBody>
      </p:sp>
      <p:sp>
        <p:nvSpPr>
          <p:cNvPr id="8" name="TextBox 7"/>
          <p:cNvSpPr txBox="1"/>
          <p:nvPr/>
        </p:nvSpPr>
        <p:spPr>
          <a:xfrm>
            <a:off x="3749039"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What creates value</a:t>
            </a:r>
          </a:p>
        </p:txBody>
      </p:sp>
      <p:sp>
        <p:nvSpPr>
          <p:cNvPr id="9" name="Rectangle 8"/>
          <p:cNvSpPr/>
          <p:nvPr/>
        </p:nvSpPr>
        <p:spPr>
          <a:xfrm>
            <a:off x="3749039"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Intentional curation</a:t>
            </a:r>
          </a:p>
        </p:txBody>
      </p:sp>
      <p:sp>
        <p:nvSpPr>
          <p:cNvPr id="11" name="TextBox 10"/>
          <p:cNvSpPr txBox="1"/>
          <p:nvPr/>
        </p:nvSpPr>
        <p:spPr>
          <a:xfrm>
            <a:off x="3749039" y="329184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Proximity to decision-makers and pioneers. Access to unfiltered patterns. Communities built on repeated, high-trust interactions.</a:t>
            </a:r>
          </a:p>
        </p:txBody>
      </p:sp>
      <p:sp>
        <p:nvSpPr>
          <p:cNvPr id="12" name="TextBox 11"/>
          <p:cNvSpPr txBox="1"/>
          <p:nvPr/>
        </p:nvSpPr>
        <p:spPr>
          <a:xfrm>
            <a:off x="6400800"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Why now</a:t>
            </a:r>
          </a:p>
        </p:txBody>
      </p:sp>
      <p:sp>
        <p:nvSpPr>
          <p:cNvPr id="13" name="Rectangle 12"/>
          <p:cNvSpPr/>
          <p:nvPr/>
        </p:nvSpPr>
        <p:spPr>
          <a:xfrm>
            <a:off x="6400800"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AI moves too fast for playbooks</a:t>
            </a:r>
          </a:p>
        </p:txBody>
      </p:sp>
      <p:sp>
        <p:nvSpPr>
          <p:cNvPr id="15" name="TextBox 14"/>
          <p:cNvSpPr txBox="1"/>
          <p:nvPr/>
        </p:nvSpPr>
        <p:spPr>
          <a:xfrm>
            <a:off x="6400800" y="329184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Companies expanding cross-border need ecosystem architecture, not logistics. Someone who understands developer communities, international dynamics, and what moves the needle.</a:t>
            </a:r>
          </a:p>
        </p:txBody>
      </p:sp>
      <p:sp>
        <p:nvSpPr>
          <p:cNvPr id="16" name="TextBox 15"/>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17" name="TextBox 16"/>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OPERATING LAYER</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Product × GTM × DevRel</a:t>
            </a:r>
          </a:p>
        </p:txBody>
      </p:sp>
      <p:sp>
        <p:nvSpPr>
          <p:cNvPr id="4" name="TextBox 3"/>
          <p:cNvSpPr txBox="1"/>
          <p:nvPr/>
        </p:nvSpPr>
        <p:spPr>
          <a:xfrm>
            <a:off x="1097280" y="2194560"/>
            <a:ext cx="6858000" cy="1371600"/>
          </a:xfrm>
          <a:prstGeom prst="rect">
            <a:avLst/>
          </a:prstGeom>
          <a:noFill/>
        </p:spPr>
        <p:txBody>
          <a:bodyPr wrap="square">
            <a:spAutoFit/>
          </a:bodyPr>
          <a:lstStyle/>
          <a:p>
            <a:pPr algn="l">
              <a:lnSpc>
                <a:spcPts val="1700"/>
              </a:lnSpc>
              <a:defRPr sz="1000" b="0" i="0">
                <a:solidFill>
                  <a:srgbClr val="6B6B6B"/>
                </a:solidFill>
                <a:latin typeface="Calibri"/>
              </a:defRPr>
            </a:pPr>
            <a:r>
              <a:t>Across all work—from European festivals and productions to AI ecosystem programs—Alison operates at the intersection of Product, GTM, and Developer Relations. She architects narrative arcs that transform fragmented corporate initiatives into continuous engagement loops. Rather than executing logistics, she designs systems where every developer touchpoint reinforces positioning and builds momentum.</a:t>
            </a:r>
          </a:p>
        </p:txBody>
      </p:sp>
      <p:sp>
        <p:nvSpPr>
          <p:cNvPr id="5" name="TextBox 4"/>
          <p:cNvSpPr txBox="1"/>
          <p:nvPr/>
        </p:nvSpPr>
        <p:spPr>
          <a:xfrm>
            <a:off x="1097280" y="4114800"/>
            <a:ext cx="7315200" cy="365760"/>
          </a:xfrm>
          <a:prstGeom prst="rect">
            <a:avLst/>
          </a:prstGeom>
          <a:noFill/>
        </p:spPr>
        <p:txBody>
          <a:bodyPr wrap="square">
            <a:spAutoFit/>
          </a:bodyPr>
          <a:lstStyle/>
          <a:p>
            <a:pPr algn="l">
              <a:lnSpc>
                <a:spcPts val="1839"/>
              </a:lnSpc>
              <a:defRPr sz="1600" b="0" i="1">
                <a:solidFill>
                  <a:srgbClr val="8B7D6B"/>
                </a:solidFill>
                <a:latin typeface="Georgia"/>
              </a:defRPr>
            </a:pPr>
            <a:r>
              <a:t>Narrative design  ·  Ecosystem strategy  ·  Community architecture  ·  Real-world execution</a:t>
            </a:r>
          </a:p>
        </p:txBody>
      </p:sp>
      <p:sp>
        <p:nvSpPr>
          <p:cNvPr id="6" name="TextBox 5"/>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7" name="TextBox 6"/>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SELECTED EXPERIENCE · 2022–2026</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Building ecosystems at scale</a:t>
            </a:r>
          </a:p>
        </p:txBody>
      </p:sp>
      <p:sp>
        <p:nvSpPr>
          <p:cNvPr id="4" name="TextBox 3"/>
          <p:cNvSpPr txBox="1"/>
          <p:nvPr/>
        </p:nvSpPr>
        <p:spPr>
          <a:xfrm>
            <a:off x="1097280"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01</a:t>
            </a:r>
          </a:p>
        </p:txBody>
      </p:sp>
      <p:sp>
        <p:nvSpPr>
          <p:cNvPr id="5" name="Rectangle 4"/>
          <p:cNvSpPr/>
          <p:nvPr/>
        </p:nvSpPr>
        <p:spPr>
          <a:xfrm>
            <a:off x="1097280"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AI User Group</a:t>
            </a:r>
          </a:p>
        </p:txBody>
      </p:sp>
      <p:sp>
        <p:nvSpPr>
          <p:cNvPr id="7" name="TextBox 6"/>
          <p:cNvSpPr txBox="1"/>
          <p:nvPr/>
        </p:nvSpPr>
        <p:spPr>
          <a:xfrm>
            <a:off x="1097280" y="3291840"/>
            <a:ext cx="2286000" cy="228600"/>
          </a:xfrm>
          <a:prstGeom prst="rect">
            <a:avLst/>
          </a:prstGeom>
          <a:noFill/>
        </p:spPr>
        <p:txBody>
          <a:bodyPr wrap="square">
            <a:spAutoFit/>
          </a:bodyPr>
          <a:lstStyle/>
          <a:p>
            <a:pPr algn="l">
              <a:lnSpc>
                <a:spcPts val="804"/>
              </a:lnSpc>
              <a:defRPr sz="700" b="0" i="0">
                <a:solidFill>
                  <a:srgbClr val="8B7D6B"/>
                </a:solidFill>
                <a:latin typeface="Calibri"/>
              </a:defRPr>
            </a:pPr>
            <a:r>
              <a:t>EARLY OPERATOR &amp; BUILDER</a:t>
            </a:r>
          </a:p>
        </p:txBody>
      </p:sp>
      <p:sp>
        <p:nvSpPr>
          <p:cNvPr id="8" name="TextBox 7"/>
          <p:cNvSpPr txBox="1"/>
          <p:nvPr/>
        </p:nvSpPr>
        <p:spPr>
          <a:xfrm>
            <a:off x="1097280" y="3611880"/>
            <a:ext cx="2286000" cy="1645920"/>
          </a:xfrm>
          <a:prstGeom prst="rect">
            <a:avLst/>
          </a:prstGeom>
          <a:noFill/>
        </p:spPr>
        <p:txBody>
          <a:bodyPr wrap="square">
            <a:spAutoFit/>
          </a:bodyPr>
          <a:lstStyle/>
          <a:p>
            <a:pPr algn="l">
              <a:lnSpc>
                <a:spcPts val="1567"/>
              </a:lnSpc>
              <a:defRPr sz="950" b="0" i="0">
                <a:solidFill>
                  <a:srgbClr val="6B6B6B"/>
                </a:solidFill>
                <a:latin typeface="Calibri"/>
              </a:defRPr>
            </a:pPr>
            <a:r>
              <a:t>Scaled AIUG from launch through monthly meetups, a 5-city AI engineering workshop tour, and 2 large conferences in SF. From pre-event strategy to post-event storytelling: partner communication, audience engagement, social media amplification, livestream production, and community narratives that extend beyond the room.</a:t>
            </a:r>
          </a:p>
        </p:txBody>
      </p:sp>
      <p:sp>
        <p:nvSpPr>
          <p:cNvPr id="9" name="TextBox 8"/>
          <p:cNvSpPr txBox="1"/>
          <p:nvPr/>
        </p:nvSpPr>
        <p:spPr>
          <a:xfrm>
            <a:off x="3749039"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02</a:t>
            </a:r>
          </a:p>
        </p:txBody>
      </p:sp>
      <p:sp>
        <p:nvSpPr>
          <p:cNvPr id="10" name="Rectangle 9"/>
          <p:cNvSpPr/>
          <p:nvPr/>
        </p:nvSpPr>
        <p:spPr>
          <a:xfrm>
            <a:off x="3749039"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39"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Enterprise AI Activations</a:t>
            </a:r>
          </a:p>
        </p:txBody>
      </p:sp>
      <p:sp>
        <p:nvSpPr>
          <p:cNvPr id="12" name="TextBox 11"/>
          <p:cNvSpPr txBox="1"/>
          <p:nvPr/>
        </p:nvSpPr>
        <p:spPr>
          <a:xfrm>
            <a:off x="3749039" y="3291840"/>
            <a:ext cx="2286000" cy="228600"/>
          </a:xfrm>
          <a:prstGeom prst="rect">
            <a:avLst/>
          </a:prstGeom>
          <a:noFill/>
        </p:spPr>
        <p:txBody>
          <a:bodyPr wrap="square">
            <a:spAutoFit/>
          </a:bodyPr>
          <a:lstStyle/>
          <a:p>
            <a:pPr algn="l">
              <a:lnSpc>
                <a:spcPts val="804"/>
              </a:lnSpc>
              <a:defRPr sz="700" b="0" i="0">
                <a:solidFill>
                  <a:srgbClr val="8B7D6B"/>
                </a:solidFill>
                <a:latin typeface="Calibri"/>
              </a:defRPr>
            </a:pPr>
            <a:r>
              <a:t>STRATEGIC OPERATOR · 2023–2026</a:t>
            </a:r>
          </a:p>
        </p:txBody>
      </p:sp>
      <p:sp>
        <p:nvSpPr>
          <p:cNvPr id="13" name="TextBox 12"/>
          <p:cNvSpPr txBox="1"/>
          <p:nvPr/>
        </p:nvSpPr>
        <p:spPr>
          <a:xfrm>
            <a:off x="3749039" y="3611880"/>
            <a:ext cx="2286000" cy="1645920"/>
          </a:xfrm>
          <a:prstGeom prst="rect">
            <a:avLst/>
          </a:prstGeom>
          <a:noFill/>
        </p:spPr>
        <p:txBody>
          <a:bodyPr wrap="square">
            <a:spAutoFit/>
          </a:bodyPr>
          <a:lstStyle/>
          <a:p>
            <a:pPr algn="l">
              <a:lnSpc>
                <a:spcPts val="1567"/>
              </a:lnSpc>
              <a:defRPr sz="950" b="0" i="0">
                <a:solidFill>
                  <a:srgbClr val="6B6B6B"/>
                </a:solidFill>
                <a:latin typeface="Calibri"/>
              </a:defRPr>
            </a:pPr>
            <a:r>
              <a:t>Operated large-scale ecosystem programs with NVIDIA, Google, IBM, Meta. Designed multi-event series as sustained narrative arcs. Connected product launches, developer education, and community engagement into continuous loops.</a:t>
            </a:r>
          </a:p>
        </p:txBody>
      </p:sp>
      <p:sp>
        <p:nvSpPr>
          <p:cNvPr id="14" name="TextBox 13"/>
          <p:cNvSpPr txBox="1"/>
          <p:nvPr/>
        </p:nvSpPr>
        <p:spPr>
          <a:xfrm>
            <a:off x="6400800"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03</a:t>
            </a:r>
          </a:p>
        </p:txBody>
      </p:sp>
      <p:sp>
        <p:nvSpPr>
          <p:cNvPr id="15" name="Rectangle 14"/>
          <p:cNvSpPr/>
          <p:nvPr/>
        </p:nvSpPr>
        <p:spPr>
          <a:xfrm>
            <a:off x="6400800"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Blooming</a:t>
            </a:r>
          </a:p>
        </p:txBody>
      </p:sp>
      <p:sp>
        <p:nvSpPr>
          <p:cNvPr id="17" name="TextBox 16"/>
          <p:cNvSpPr txBox="1"/>
          <p:nvPr/>
        </p:nvSpPr>
        <p:spPr>
          <a:xfrm>
            <a:off x="6400800" y="3291840"/>
            <a:ext cx="2286000" cy="228600"/>
          </a:xfrm>
          <a:prstGeom prst="rect">
            <a:avLst/>
          </a:prstGeom>
          <a:noFill/>
        </p:spPr>
        <p:txBody>
          <a:bodyPr wrap="square">
            <a:spAutoFit/>
          </a:bodyPr>
          <a:lstStyle/>
          <a:p>
            <a:pPr algn="l">
              <a:lnSpc>
                <a:spcPts val="804"/>
              </a:lnSpc>
              <a:defRPr sz="700" b="0" i="0">
                <a:solidFill>
                  <a:srgbClr val="8B7D6B"/>
                </a:solidFill>
                <a:latin typeface="Calibri"/>
              </a:defRPr>
            </a:pPr>
            <a:r>
              <a:t>FOUNDER &amp; CEO · 2026</a:t>
            </a:r>
          </a:p>
        </p:txBody>
      </p:sp>
      <p:sp>
        <p:nvSpPr>
          <p:cNvPr id="18" name="TextBox 17"/>
          <p:cNvSpPr txBox="1"/>
          <p:nvPr/>
        </p:nvSpPr>
        <p:spPr>
          <a:xfrm>
            <a:off x="6400800" y="3611880"/>
            <a:ext cx="2286000" cy="1645920"/>
          </a:xfrm>
          <a:prstGeom prst="rect">
            <a:avLst/>
          </a:prstGeom>
          <a:noFill/>
        </p:spPr>
        <p:txBody>
          <a:bodyPr wrap="square">
            <a:spAutoFit/>
          </a:bodyPr>
          <a:lstStyle/>
          <a:p>
            <a:pPr algn="l">
              <a:lnSpc>
                <a:spcPts val="1567"/>
              </a:lnSpc>
              <a:defRPr sz="950" b="0" i="0">
                <a:solidFill>
                  <a:srgbClr val="6B6B6B"/>
                </a:solidFill>
                <a:latin typeface="Calibri"/>
              </a:defRPr>
            </a:pPr>
            <a:r>
              <a:t>Consolidation of 10+ years of operating experience into a strategic layer. Launched with 5 ecosystem events in 60 days across US–LatAm corridors—hackathons, developer meetups, and side events—testing and validating Blooming’s model of high-signal curation and ecosystem design.</a:t>
            </a:r>
          </a:p>
        </p:txBody>
      </p:sp>
      <p:sp>
        <p:nvSpPr>
          <p:cNvPr id="19" name="TextBox 18"/>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20" name="TextBox 19"/>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PARTNERS</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Trusted by teams building the future</a:t>
            </a:r>
          </a:p>
        </p:txBody>
      </p:sp>
      <p:sp>
        <p:nvSpPr>
          <p:cNvPr id="4" name="TextBox 3"/>
          <p:cNvSpPr txBox="1"/>
          <p:nvPr/>
        </p:nvSpPr>
        <p:spPr>
          <a:xfrm>
            <a:off x="1097280" y="2194560"/>
            <a:ext cx="6858000" cy="548640"/>
          </a:xfrm>
          <a:prstGeom prst="rect">
            <a:avLst/>
          </a:prstGeom>
          <a:noFill/>
        </p:spPr>
        <p:txBody>
          <a:bodyPr wrap="square">
            <a:spAutoFit/>
          </a:bodyPr>
          <a:lstStyle/>
          <a:p>
            <a:pPr algn="l">
              <a:lnSpc>
                <a:spcPts val="1700"/>
              </a:lnSpc>
              <a:defRPr sz="1000" b="0" i="0">
                <a:solidFill>
                  <a:srgbClr val="6B6B6B"/>
                </a:solidFill>
                <a:latin typeface="Calibri"/>
              </a:defRPr>
            </a:pPr>
            <a:r>
              <a:t>Strategic event operations and ecosystem programs delivered in partnership with leading technology companies.</a:t>
            </a:r>
          </a:p>
        </p:txBody>
      </p:sp>
      <p:sp>
        <p:nvSpPr>
          <p:cNvPr id="5" name="TextBox 4"/>
          <p:cNvSpPr txBox="1"/>
          <p:nvPr/>
        </p:nvSpPr>
        <p:spPr>
          <a:xfrm>
            <a:off x="1097280" y="320040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Google</a:t>
            </a:r>
          </a:p>
        </p:txBody>
      </p:sp>
      <p:sp>
        <p:nvSpPr>
          <p:cNvPr id="6" name="TextBox 5"/>
          <p:cNvSpPr txBox="1"/>
          <p:nvPr/>
        </p:nvSpPr>
        <p:spPr>
          <a:xfrm>
            <a:off x="2468880" y="320040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NVIDIA</a:t>
            </a:r>
          </a:p>
        </p:txBody>
      </p:sp>
      <p:sp>
        <p:nvSpPr>
          <p:cNvPr id="7" name="TextBox 6"/>
          <p:cNvSpPr txBox="1"/>
          <p:nvPr/>
        </p:nvSpPr>
        <p:spPr>
          <a:xfrm>
            <a:off x="3840480" y="320040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IBM</a:t>
            </a:r>
          </a:p>
        </p:txBody>
      </p:sp>
      <p:sp>
        <p:nvSpPr>
          <p:cNvPr id="8" name="TextBox 7"/>
          <p:cNvSpPr txBox="1"/>
          <p:nvPr/>
        </p:nvSpPr>
        <p:spPr>
          <a:xfrm>
            <a:off x="5212080" y="320040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Miro</a:t>
            </a:r>
          </a:p>
        </p:txBody>
      </p:sp>
      <p:sp>
        <p:nvSpPr>
          <p:cNvPr id="9" name="TextBox 8"/>
          <p:cNvSpPr txBox="1"/>
          <p:nvPr/>
        </p:nvSpPr>
        <p:spPr>
          <a:xfrm>
            <a:off x="6583680" y="320040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Intercom</a:t>
            </a:r>
          </a:p>
        </p:txBody>
      </p:sp>
      <p:sp>
        <p:nvSpPr>
          <p:cNvPr id="10" name="TextBox 9"/>
          <p:cNvSpPr txBox="1"/>
          <p:nvPr/>
        </p:nvSpPr>
        <p:spPr>
          <a:xfrm>
            <a:off x="7955279" y="320040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Canva</a:t>
            </a:r>
          </a:p>
        </p:txBody>
      </p:sp>
      <p:sp>
        <p:nvSpPr>
          <p:cNvPr id="11" name="TextBox 10"/>
          <p:cNvSpPr txBox="1"/>
          <p:nvPr/>
        </p:nvSpPr>
        <p:spPr>
          <a:xfrm>
            <a:off x="1097280" y="384048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DataDog</a:t>
            </a:r>
          </a:p>
        </p:txBody>
      </p:sp>
      <p:sp>
        <p:nvSpPr>
          <p:cNvPr id="12" name="TextBox 11"/>
          <p:cNvSpPr txBox="1"/>
          <p:nvPr/>
        </p:nvSpPr>
        <p:spPr>
          <a:xfrm>
            <a:off x="2468880" y="384048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n8n</a:t>
            </a:r>
          </a:p>
        </p:txBody>
      </p:sp>
      <p:sp>
        <p:nvSpPr>
          <p:cNvPr id="13" name="TextBox 12"/>
          <p:cNvSpPr txBox="1"/>
          <p:nvPr/>
        </p:nvSpPr>
        <p:spPr>
          <a:xfrm>
            <a:off x="3840480" y="384048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UiPath</a:t>
            </a:r>
          </a:p>
        </p:txBody>
      </p:sp>
      <p:sp>
        <p:nvSpPr>
          <p:cNvPr id="14" name="TextBox 13"/>
          <p:cNvSpPr txBox="1"/>
          <p:nvPr/>
        </p:nvSpPr>
        <p:spPr>
          <a:xfrm>
            <a:off x="5212080" y="384048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Pipelex</a:t>
            </a:r>
          </a:p>
        </p:txBody>
      </p:sp>
      <p:sp>
        <p:nvSpPr>
          <p:cNvPr id="15" name="TextBox 14"/>
          <p:cNvSpPr txBox="1"/>
          <p:nvPr/>
        </p:nvSpPr>
        <p:spPr>
          <a:xfrm>
            <a:off x="6583680" y="384048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TRAE</a:t>
            </a:r>
          </a:p>
        </p:txBody>
      </p:sp>
      <p:sp>
        <p:nvSpPr>
          <p:cNvPr id="16" name="TextBox 15"/>
          <p:cNvSpPr txBox="1"/>
          <p:nvPr/>
        </p:nvSpPr>
        <p:spPr>
          <a:xfrm>
            <a:off x="7955279" y="3840480"/>
            <a:ext cx="1280160" cy="365760"/>
          </a:xfrm>
          <a:prstGeom prst="rect">
            <a:avLst/>
          </a:prstGeom>
          <a:noFill/>
        </p:spPr>
        <p:txBody>
          <a:bodyPr wrap="square">
            <a:spAutoFit/>
          </a:bodyPr>
          <a:lstStyle/>
          <a:p>
            <a:pPr algn="l">
              <a:lnSpc>
                <a:spcPts val="1380"/>
              </a:lnSpc>
              <a:defRPr sz="1200" b="0" i="0">
                <a:solidFill>
                  <a:srgbClr val="6B6B6B"/>
                </a:solidFill>
                <a:latin typeface="Calibri"/>
              </a:defRPr>
            </a:pPr>
            <a:r>
              <a:t>The AI Collective</a:t>
            </a:r>
          </a:p>
        </p:txBody>
      </p:sp>
      <p:sp>
        <p:nvSpPr>
          <p:cNvPr id="17" name="TextBox 16"/>
          <p:cNvSpPr txBox="1"/>
          <p:nvPr/>
        </p:nvSpPr>
        <p:spPr>
          <a:xfrm>
            <a:off x="1097280" y="4846320"/>
            <a:ext cx="6858000" cy="365760"/>
          </a:xfrm>
          <a:prstGeom prst="rect">
            <a:avLst/>
          </a:prstGeom>
          <a:noFill/>
        </p:spPr>
        <p:txBody>
          <a:bodyPr wrap="square">
            <a:spAutoFit/>
          </a:bodyPr>
          <a:lstStyle/>
          <a:p>
            <a:pPr algn="l">
              <a:lnSpc>
                <a:spcPts val="1035"/>
              </a:lnSpc>
              <a:defRPr sz="900" b="0" i="1">
                <a:solidFill>
                  <a:srgbClr val="6B6B6B"/>
                </a:solidFill>
                <a:latin typeface="Calibri"/>
              </a:defRPr>
            </a:pPr>
            <a:r>
              <a:t>From developer workshops and conferences to multi-event ecosystem programs across AI and infrastructure.</a:t>
            </a:r>
          </a:p>
        </p:txBody>
      </p:sp>
      <p:sp>
        <p:nvSpPr>
          <p:cNvPr id="18" name="TextBox 17"/>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19" name="TextBox 18"/>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CORE SERVICES</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What Blooming delivers</a:t>
            </a:r>
          </a:p>
        </p:txBody>
      </p:sp>
      <p:sp>
        <p:nvSpPr>
          <p:cNvPr id="4" name="TextBox 3"/>
          <p:cNvSpPr txBox="1"/>
          <p:nvPr/>
        </p:nvSpPr>
        <p:spPr>
          <a:xfrm>
            <a:off x="1097280" y="2377440"/>
            <a:ext cx="3474720" cy="320040"/>
          </a:xfrm>
          <a:prstGeom prst="rect">
            <a:avLst/>
          </a:prstGeom>
          <a:noFill/>
        </p:spPr>
        <p:txBody>
          <a:bodyPr wrap="square">
            <a:spAutoFit/>
          </a:bodyPr>
          <a:lstStyle/>
          <a:p>
            <a:pPr algn="l">
              <a:lnSpc>
                <a:spcPts val="1725"/>
              </a:lnSpc>
              <a:defRPr sz="1500" b="0" i="1">
                <a:solidFill>
                  <a:srgbClr val="8B7D6B"/>
                </a:solidFill>
                <a:latin typeface="Georgia"/>
              </a:defRPr>
            </a:pPr>
            <a:r>
              <a:t>Event Strategy &amp; Positioning</a:t>
            </a:r>
          </a:p>
        </p:txBody>
      </p:sp>
      <p:sp>
        <p:nvSpPr>
          <p:cNvPr id="5" name="TextBox 4"/>
          <p:cNvSpPr txBox="1"/>
          <p:nvPr/>
        </p:nvSpPr>
        <p:spPr>
          <a:xfrm>
            <a:off x="1097280" y="278892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Multi-event series aligned to business objectives</a:t>
            </a:r>
          </a:p>
        </p:txBody>
      </p:sp>
      <p:sp>
        <p:nvSpPr>
          <p:cNvPr id="6" name="TextBox 5"/>
          <p:cNvSpPr txBox="1"/>
          <p:nvPr/>
        </p:nvSpPr>
        <p:spPr>
          <a:xfrm>
            <a:off x="1097280" y="310896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Narrative architecture that builds momentum</a:t>
            </a:r>
          </a:p>
        </p:txBody>
      </p:sp>
      <p:sp>
        <p:nvSpPr>
          <p:cNvPr id="7" name="TextBox 6"/>
          <p:cNvSpPr txBox="1"/>
          <p:nvPr/>
        </p:nvSpPr>
        <p:spPr>
          <a:xfrm>
            <a:off x="1097280" y="342900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Audience mapping and community segmentation</a:t>
            </a:r>
          </a:p>
        </p:txBody>
      </p:sp>
      <p:sp>
        <p:nvSpPr>
          <p:cNvPr id="8" name="TextBox 7"/>
          <p:cNvSpPr txBox="1"/>
          <p:nvPr/>
        </p:nvSpPr>
        <p:spPr>
          <a:xfrm>
            <a:off x="5212080" y="2377440"/>
            <a:ext cx="3474720" cy="320040"/>
          </a:xfrm>
          <a:prstGeom prst="rect">
            <a:avLst/>
          </a:prstGeom>
          <a:noFill/>
        </p:spPr>
        <p:txBody>
          <a:bodyPr wrap="square">
            <a:spAutoFit/>
          </a:bodyPr>
          <a:lstStyle/>
          <a:p>
            <a:pPr algn="l">
              <a:lnSpc>
                <a:spcPts val="1725"/>
              </a:lnSpc>
              <a:defRPr sz="1500" b="0" i="1">
                <a:solidFill>
                  <a:srgbClr val="8B7D6B"/>
                </a:solidFill>
                <a:latin typeface="Georgia"/>
              </a:defRPr>
            </a:pPr>
            <a:r>
              <a:t>Community Architecture</a:t>
            </a:r>
          </a:p>
        </p:txBody>
      </p:sp>
      <p:sp>
        <p:nvSpPr>
          <p:cNvPr id="9" name="TextBox 8"/>
          <p:cNvSpPr txBox="1"/>
          <p:nvPr/>
        </p:nvSpPr>
        <p:spPr>
          <a:xfrm>
            <a:off x="5212080" y="278892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Ecosystem design for new markets and geographies</a:t>
            </a:r>
          </a:p>
        </p:txBody>
      </p:sp>
      <p:sp>
        <p:nvSpPr>
          <p:cNvPr id="10" name="TextBox 9"/>
          <p:cNvSpPr txBox="1"/>
          <p:nvPr/>
        </p:nvSpPr>
        <p:spPr>
          <a:xfrm>
            <a:off x="5212080" y="310896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Community lead recruitment and training</a:t>
            </a:r>
          </a:p>
        </p:txBody>
      </p:sp>
      <p:sp>
        <p:nvSpPr>
          <p:cNvPr id="11" name="TextBox 10"/>
          <p:cNvSpPr txBox="1"/>
          <p:nvPr/>
        </p:nvSpPr>
        <p:spPr>
          <a:xfrm>
            <a:off x="5212080" y="342900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Curation and signal-to-noise optimization</a:t>
            </a:r>
          </a:p>
        </p:txBody>
      </p:sp>
      <p:sp>
        <p:nvSpPr>
          <p:cNvPr id="12" name="TextBox 11"/>
          <p:cNvSpPr txBox="1"/>
          <p:nvPr/>
        </p:nvSpPr>
        <p:spPr>
          <a:xfrm>
            <a:off x="1097280" y="4389120"/>
            <a:ext cx="3474720" cy="320040"/>
          </a:xfrm>
          <a:prstGeom prst="rect">
            <a:avLst/>
          </a:prstGeom>
          <a:noFill/>
        </p:spPr>
        <p:txBody>
          <a:bodyPr wrap="square">
            <a:spAutoFit/>
          </a:bodyPr>
          <a:lstStyle/>
          <a:p>
            <a:pPr algn="l">
              <a:lnSpc>
                <a:spcPts val="1725"/>
              </a:lnSpc>
              <a:defRPr sz="1500" b="0" i="1">
                <a:solidFill>
                  <a:srgbClr val="8B7D6B"/>
                </a:solidFill>
                <a:latin typeface="Georgia"/>
              </a:defRPr>
            </a:pPr>
            <a:r>
              <a:t>Full Execution</a:t>
            </a:r>
          </a:p>
        </p:txBody>
      </p:sp>
      <p:sp>
        <p:nvSpPr>
          <p:cNvPr id="13" name="TextBox 12"/>
          <p:cNvSpPr txBox="1"/>
          <p:nvPr/>
        </p:nvSpPr>
        <p:spPr>
          <a:xfrm>
            <a:off x="1097280" y="480060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End-to-end operations and logistics</a:t>
            </a:r>
          </a:p>
        </p:txBody>
      </p:sp>
      <p:sp>
        <p:nvSpPr>
          <p:cNvPr id="14" name="TextBox 13"/>
          <p:cNvSpPr txBox="1"/>
          <p:nvPr/>
        </p:nvSpPr>
        <p:spPr>
          <a:xfrm>
            <a:off x="1097280" y="512064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On-site production and community management</a:t>
            </a:r>
          </a:p>
        </p:txBody>
      </p:sp>
      <p:sp>
        <p:nvSpPr>
          <p:cNvPr id="15" name="TextBox 14"/>
          <p:cNvSpPr txBox="1"/>
          <p:nvPr/>
        </p:nvSpPr>
        <p:spPr>
          <a:xfrm>
            <a:off x="1097280" y="544068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Attendee curation and experience design</a:t>
            </a:r>
          </a:p>
        </p:txBody>
      </p:sp>
      <p:sp>
        <p:nvSpPr>
          <p:cNvPr id="16" name="TextBox 15"/>
          <p:cNvSpPr txBox="1"/>
          <p:nvPr/>
        </p:nvSpPr>
        <p:spPr>
          <a:xfrm>
            <a:off x="5212080" y="4389120"/>
            <a:ext cx="3474720" cy="320040"/>
          </a:xfrm>
          <a:prstGeom prst="rect">
            <a:avLst/>
          </a:prstGeom>
          <a:noFill/>
        </p:spPr>
        <p:txBody>
          <a:bodyPr wrap="square">
            <a:spAutoFit/>
          </a:bodyPr>
          <a:lstStyle/>
          <a:p>
            <a:pPr algn="l">
              <a:lnSpc>
                <a:spcPts val="1725"/>
              </a:lnSpc>
              <a:defRPr sz="1500" b="0" i="1">
                <a:solidFill>
                  <a:srgbClr val="8B7D6B"/>
                </a:solidFill>
                <a:latin typeface="Georgia"/>
              </a:defRPr>
            </a:pPr>
            <a:r>
              <a:t>Ecosystem Programs</a:t>
            </a:r>
          </a:p>
        </p:txBody>
      </p:sp>
      <p:sp>
        <p:nvSpPr>
          <p:cNvPr id="17" name="TextBox 16"/>
          <p:cNvSpPr txBox="1"/>
          <p:nvPr/>
        </p:nvSpPr>
        <p:spPr>
          <a:xfrm>
            <a:off x="5212080" y="480060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Developer programs and partnerships</a:t>
            </a:r>
          </a:p>
        </p:txBody>
      </p:sp>
      <p:sp>
        <p:nvSpPr>
          <p:cNvPr id="18" name="TextBox 17"/>
          <p:cNvSpPr txBox="1"/>
          <p:nvPr/>
        </p:nvSpPr>
        <p:spPr>
          <a:xfrm>
            <a:off x="5212080" y="512064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Sponsorship strategy and partner alignment</a:t>
            </a:r>
          </a:p>
        </p:txBody>
      </p:sp>
      <p:sp>
        <p:nvSpPr>
          <p:cNvPr id="19" name="TextBox 18"/>
          <p:cNvSpPr txBox="1"/>
          <p:nvPr/>
        </p:nvSpPr>
        <p:spPr>
          <a:xfrm>
            <a:off x="5212080" y="5440680"/>
            <a:ext cx="3474720" cy="274320"/>
          </a:xfrm>
          <a:prstGeom prst="rect">
            <a:avLst/>
          </a:prstGeom>
          <a:noFill/>
        </p:spPr>
        <p:txBody>
          <a:bodyPr wrap="square">
            <a:spAutoFit/>
          </a:bodyPr>
          <a:lstStyle/>
          <a:p>
            <a:pPr algn="l">
              <a:lnSpc>
                <a:spcPts val="1092"/>
              </a:lnSpc>
              <a:defRPr sz="950" b="0" i="0">
                <a:solidFill>
                  <a:srgbClr val="6B6B6B"/>
                </a:solidFill>
                <a:latin typeface="Calibri"/>
              </a:defRPr>
            </a:pPr>
            <a:r>
              <a:t>–  International expansion programs</a:t>
            </a:r>
          </a:p>
        </p:txBody>
      </p:sp>
      <p:sp>
        <p:nvSpPr>
          <p:cNvPr id="20" name="TextBox 19"/>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21" name="TextBox 20"/>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WHY ALISON</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Signature strengths</a:t>
            </a:r>
          </a:p>
        </p:txBody>
      </p:sp>
      <p:sp>
        <p:nvSpPr>
          <p:cNvPr id="4" name="TextBox 3"/>
          <p:cNvSpPr txBox="1"/>
          <p:nvPr/>
        </p:nvSpPr>
        <p:spPr>
          <a:xfrm>
            <a:off x="1097280"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01</a:t>
            </a:r>
          </a:p>
        </p:txBody>
      </p:sp>
      <p:sp>
        <p:nvSpPr>
          <p:cNvPr id="5" name="Rectangle 4"/>
          <p:cNvSpPr/>
          <p:nvPr/>
        </p:nvSpPr>
        <p:spPr>
          <a:xfrm>
            <a:off x="1097280"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Operational velocity</a:t>
            </a:r>
          </a:p>
        </p:txBody>
      </p:sp>
      <p:sp>
        <p:nvSpPr>
          <p:cNvPr id="7" name="TextBox 6"/>
          <p:cNvSpPr txBox="1"/>
          <p:nvPr/>
        </p:nvSpPr>
        <p:spPr>
          <a:xfrm>
            <a:off x="1097280" y="329184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Moves fast, ships clean. No quality trade-offs. 150+ events = a detailed map of what works and what doesn’t.</a:t>
            </a:r>
          </a:p>
        </p:txBody>
      </p:sp>
      <p:sp>
        <p:nvSpPr>
          <p:cNvPr id="8" name="TextBox 7"/>
          <p:cNvSpPr txBox="1"/>
          <p:nvPr/>
        </p:nvSpPr>
        <p:spPr>
          <a:xfrm>
            <a:off x="3749039"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02</a:t>
            </a:r>
          </a:p>
        </p:txBody>
      </p:sp>
      <p:sp>
        <p:nvSpPr>
          <p:cNvPr id="9" name="Rectangle 8"/>
          <p:cNvSpPr/>
          <p:nvPr/>
        </p:nvSpPr>
        <p:spPr>
          <a:xfrm>
            <a:off x="3749039"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Curation over scale</a:t>
            </a:r>
          </a:p>
        </p:txBody>
      </p:sp>
      <p:sp>
        <p:nvSpPr>
          <p:cNvPr id="11" name="TextBox 10"/>
          <p:cNvSpPr txBox="1"/>
          <p:nvPr/>
        </p:nvSpPr>
        <p:spPr>
          <a:xfrm>
            <a:off x="3749039" y="329184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Builds rooms, not crowds. Every attendee adds signal. Understands what moves developers and founders. Thinks in networks.</a:t>
            </a:r>
          </a:p>
        </p:txBody>
      </p:sp>
      <p:sp>
        <p:nvSpPr>
          <p:cNvPr id="12" name="TextBox 11"/>
          <p:cNvSpPr txBox="1"/>
          <p:nvPr/>
        </p:nvSpPr>
        <p:spPr>
          <a:xfrm>
            <a:off x="6400800" y="237744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03</a:t>
            </a:r>
          </a:p>
        </p:txBody>
      </p:sp>
      <p:sp>
        <p:nvSpPr>
          <p:cNvPr id="13" name="Rectangle 12"/>
          <p:cNvSpPr/>
          <p:nvPr/>
        </p:nvSpPr>
        <p:spPr>
          <a:xfrm>
            <a:off x="6400800" y="26974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3464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Cross-border expertise</a:t>
            </a:r>
          </a:p>
        </p:txBody>
      </p:sp>
      <p:sp>
        <p:nvSpPr>
          <p:cNvPr id="15" name="TextBox 14"/>
          <p:cNvSpPr txBox="1"/>
          <p:nvPr/>
        </p:nvSpPr>
        <p:spPr>
          <a:xfrm>
            <a:off x="6400800" y="329184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Operates across US, Europe, and international geographies with local understanding. Systems thinking that treats events as long-term ecosystem infrastructure.</a:t>
            </a:r>
          </a:p>
        </p:txBody>
      </p:sp>
      <p:sp>
        <p:nvSpPr>
          <p:cNvPr id="16" name="TextBox 15"/>
          <p:cNvSpPr txBox="1"/>
          <p:nvPr/>
        </p:nvSpPr>
        <p:spPr>
          <a:xfrm>
            <a:off x="1097280" y="5029200"/>
            <a:ext cx="6400800" cy="548640"/>
          </a:xfrm>
          <a:prstGeom prst="rect">
            <a:avLst/>
          </a:prstGeom>
          <a:noFill/>
        </p:spPr>
        <p:txBody>
          <a:bodyPr wrap="square">
            <a:spAutoFit/>
          </a:bodyPr>
          <a:lstStyle/>
          <a:p>
            <a:pPr algn="l">
              <a:lnSpc>
                <a:spcPts val="1920"/>
              </a:lnSpc>
              <a:defRPr sz="1200" b="0" i="1">
                <a:solidFill>
                  <a:srgbClr val="8B7D6B"/>
                </a:solidFill>
                <a:latin typeface="Georgia"/>
              </a:defRPr>
            </a:pPr>
            <a:r>
              <a:t>Blooming is built from hands-on operating experience, not consulting theory. It combines executional excellence with narrative design—treating events not as logistics, but as infrastructure for ecosystem growth.</a:t>
            </a:r>
          </a:p>
        </p:txBody>
      </p:sp>
      <p:sp>
        <p:nvSpPr>
          <p:cNvPr id="17" name="TextBox 16"/>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18" name="TextBox 17"/>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ABOUT BLOOMING</a:t>
            </a:r>
          </a:p>
        </p:txBody>
      </p:sp>
      <p:sp>
        <p:nvSpPr>
          <p:cNvPr id="3" name="TextBox 2"/>
          <p:cNvSpPr txBox="1"/>
          <p:nvPr/>
        </p:nvSpPr>
        <p:spPr>
          <a:xfrm>
            <a:off x="1097280" y="1371600"/>
            <a:ext cx="7863840" cy="914400"/>
          </a:xfrm>
          <a:prstGeom prst="rect">
            <a:avLst/>
          </a:prstGeom>
          <a:noFill/>
        </p:spPr>
        <p:txBody>
          <a:bodyPr wrap="square">
            <a:spAutoFit/>
          </a:bodyPr>
          <a:lstStyle/>
          <a:p>
            <a:pPr algn="l">
              <a:lnSpc>
                <a:spcPts val="3219"/>
              </a:lnSpc>
              <a:defRPr sz="2800" b="0" i="0">
                <a:solidFill>
                  <a:srgbClr val="1A1A1A"/>
                </a:solidFill>
                <a:latin typeface="Georgia"/>
              </a:defRPr>
            </a:pPr>
            <a:r>
              <a:t>A strategic operating layer for</a:t>
            </a:r>
            <a:br/>
            <a:r>
              <a:t>cross-border growth</a:t>
            </a:r>
          </a:p>
        </p:txBody>
      </p:sp>
      <p:sp>
        <p:nvSpPr>
          <p:cNvPr id="4" name="TextBox 3"/>
          <p:cNvSpPr txBox="1"/>
          <p:nvPr/>
        </p:nvSpPr>
        <p:spPr>
          <a:xfrm>
            <a:off x="1097280" y="2743200"/>
            <a:ext cx="3474720" cy="320040"/>
          </a:xfrm>
          <a:prstGeom prst="rect">
            <a:avLst/>
          </a:prstGeom>
          <a:noFill/>
        </p:spPr>
        <p:txBody>
          <a:bodyPr wrap="square">
            <a:spAutoFit/>
          </a:bodyPr>
          <a:lstStyle/>
          <a:p>
            <a:pPr algn="l">
              <a:lnSpc>
                <a:spcPts val="2070"/>
              </a:lnSpc>
              <a:defRPr sz="1800" b="0" i="0">
                <a:solidFill>
                  <a:srgbClr val="1A1A1A"/>
                </a:solidFill>
                <a:latin typeface="Georgia"/>
              </a:defRPr>
            </a:pPr>
            <a:r>
              <a:t>What it is</a:t>
            </a:r>
          </a:p>
        </p:txBody>
      </p:sp>
      <p:sp>
        <p:nvSpPr>
          <p:cNvPr id="5" name="TextBox 4"/>
          <p:cNvSpPr txBox="1"/>
          <p:nvPr/>
        </p:nvSpPr>
        <p:spPr>
          <a:xfrm>
            <a:off x="1097280" y="3200400"/>
            <a:ext cx="3474720" cy="1371600"/>
          </a:xfrm>
          <a:prstGeom prst="rect">
            <a:avLst/>
          </a:prstGeom>
          <a:noFill/>
        </p:spPr>
        <p:txBody>
          <a:bodyPr wrap="square">
            <a:spAutoFit/>
          </a:bodyPr>
          <a:lstStyle/>
          <a:p>
            <a:pPr algn="l">
              <a:lnSpc>
                <a:spcPts val="1567"/>
              </a:lnSpc>
              <a:defRPr sz="950" b="0" i="0">
                <a:solidFill>
                  <a:srgbClr val="6B6B6B"/>
                </a:solidFill>
                <a:latin typeface="Calibri"/>
              </a:defRPr>
            </a:pPr>
            <a:r>
              <a:t>A strategic operating layer for tech companies expanding across markets, communities, and narratives. It sits between ecosystem strategy, community design, and real-world execution—turning events into structured moments of growth, positioning, and signal.</a:t>
            </a:r>
          </a:p>
        </p:txBody>
      </p:sp>
      <p:sp>
        <p:nvSpPr>
          <p:cNvPr id="6" name="TextBox 5"/>
          <p:cNvSpPr txBox="1"/>
          <p:nvPr/>
        </p:nvSpPr>
        <p:spPr>
          <a:xfrm>
            <a:off x="5303520" y="2743200"/>
            <a:ext cx="3474720" cy="320040"/>
          </a:xfrm>
          <a:prstGeom prst="rect">
            <a:avLst/>
          </a:prstGeom>
          <a:noFill/>
        </p:spPr>
        <p:txBody>
          <a:bodyPr wrap="square">
            <a:spAutoFit/>
          </a:bodyPr>
          <a:lstStyle/>
          <a:p>
            <a:pPr algn="l">
              <a:lnSpc>
                <a:spcPts val="2070"/>
              </a:lnSpc>
              <a:defRPr sz="1800" b="0" i="0">
                <a:solidFill>
                  <a:srgbClr val="1A1A1A"/>
                </a:solidFill>
                <a:latin typeface="Georgia"/>
              </a:defRPr>
            </a:pPr>
            <a:r>
              <a:t>Who it’s for</a:t>
            </a:r>
          </a:p>
        </p:txBody>
      </p:sp>
      <p:sp>
        <p:nvSpPr>
          <p:cNvPr id="7" name="TextBox 6"/>
          <p:cNvSpPr txBox="1"/>
          <p:nvPr/>
        </p:nvSpPr>
        <p:spPr>
          <a:xfrm>
            <a:off x="5303520" y="3200400"/>
            <a:ext cx="3474720" cy="1371600"/>
          </a:xfrm>
          <a:prstGeom prst="rect">
            <a:avLst/>
          </a:prstGeom>
          <a:noFill/>
        </p:spPr>
        <p:txBody>
          <a:bodyPr wrap="square">
            <a:spAutoFit/>
          </a:bodyPr>
          <a:lstStyle/>
          <a:p>
            <a:pPr algn="l">
              <a:lnSpc>
                <a:spcPts val="1567"/>
              </a:lnSpc>
              <a:defRPr sz="950" b="0" i="0">
                <a:solidFill>
                  <a:srgbClr val="6B6B6B"/>
                </a:solidFill>
                <a:latin typeface="Calibri"/>
              </a:defRPr>
            </a:pPr>
            <a:r>
              <a:t>Series A+ and growth-stage companies operating across borders—especially in AI and developer ecosystems—where traditional events no longer create differentiation or meaningful engagement.</a:t>
            </a:r>
          </a:p>
        </p:txBody>
      </p:sp>
      <p:sp>
        <p:nvSpPr>
          <p:cNvPr id="8" name="TextBox 7"/>
          <p:cNvSpPr txBox="1"/>
          <p:nvPr/>
        </p:nvSpPr>
        <p:spPr>
          <a:xfrm>
            <a:off x="1097280" y="5029200"/>
            <a:ext cx="2743200" cy="320040"/>
          </a:xfrm>
          <a:prstGeom prst="rect">
            <a:avLst/>
          </a:prstGeom>
          <a:noFill/>
        </p:spPr>
        <p:txBody>
          <a:bodyPr wrap="square">
            <a:spAutoFit/>
          </a:bodyPr>
          <a:lstStyle/>
          <a:p>
            <a:pPr algn="l">
              <a:lnSpc>
                <a:spcPts val="1609"/>
              </a:lnSpc>
              <a:defRPr sz="1400" b="0" i="1">
                <a:solidFill>
                  <a:srgbClr val="8B7D6B"/>
                </a:solidFill>
                <a:latin typeface="Georgia"/>
              </a:defRPr>
            </a:pPr>
            <a:r>
              <a:t>SF-based</a:t>
            </a:r>
          </a:p>
        </p:txBody>
      </p:sp>
      <p:sp>
        <p:nvSpPr>
          <p:cNvPr id="9" name="TextBox 8"/>
          <p:cNvSpPr txBox="1"/>
          <p:nvPr/>
        </p:nvSpPr>
        <p:spPr>
          <a:xfrm>
            <a:off x="1097280" y="5394960"/>
            <a:ext cx="2743200" cy="274320"/>
          </a:xfrm>
          <a:prstGeom prst="rect">
            <a:avLst/>
          </a:prstGeom>
          <a:noFill/>
        </p:spPr>
        <p:txBody>
          <a:bodyPr wrap="square">
            <a:spAutoFit/>
          </a:bodyPr>
          <a:lstStyle/>
          <a:p>
            <a:pPr algn="l">
              <a:lnSpc>
                <a:spcPts val="804"/>
              </a:lnSpc>
              <a:defRPr sz="700" b="0" i="0">
                <a:solidFill>
                  <a:srgbClr val="8B7D6B"/>
                </a:solidFill>
                <a:latin typeface="Calibri"/>
              </a:defRPr>
            </a:pPr>
            <a:r>
              <a:t>WITH GLOBAL REACH</a:t>
            </a:r>
          </a:p>
        </p:txBody>
      </p:sp>
      <p:sp>
        <p:nvSpPr>
          <p:cNvPr id="10" name="TextBox 9"/>
          <p:cNvSpPr txBox="1"/>
          <p:nvPr/>
        </p:nvSpPr>
        <p:spPr>
          <a:xfrm>
            <a:off x="4114800" y="5029200"/>
            <a:ext cx="3657600" cy="320040"/>
          </a:xfrm>
          <a:prstGeom prst="rect">
            <a:avLst/>
          </a:prstGeom>
          <a:noFill/>
        </p:spPr>
        <p:txBody>
          <a:bodyPr wrap="square">
            <a:spAutoFit/>
          </a:bodyPr>
          <a:lstStyle/>
          <a:p>
            <a:pPr algn="l">
              <a:lnSpc>
                <a:spcPts val="1609"/>
              </a:lnSpc>
              <a:defRPr sz="1400" b="0" i="1">
                <a:solidFill>
                  <a:srgbClr val="8B7D6B"/>
                </a:solidFill>
                <a:latin typeface="Georgia"/>
              </a:defRPr>
            </a:pPr>
            <a:r>
              <a:t>Co-founders</a:t>
            </a:r>
          </a:p>
        </p:txBody>
      </p:sp>
      <p:sp>
        <p:nvSpPr>
          <p:cNvPr id="11" name="TextBox 10"/>
          <p:cNvSpPr txBox="1"/>
          <p:nvPr/>
        </p:nvSpPr>
        <p:spPr>
          <a:xfrm>
            <a:off x="4114800" y="5394960"/>
            <a:ext cx="3657600" cy="274320"/>
          </a:xfrm>
          <a:prstGeom prst="rect">
            <a:avLst/>
          </a:prstGeom>
          <a:noFill/>
        </p:spPr>
        <p:txBody>
          <a:bodyPr wrap="square">
            <a:spAutoFit/>
          </a:bodyPr>
          <a:lstStyle/>
          <a:p>
            <a:pPr algn="l">
              <a:lnSpc>
                <a:spcPts val="804"/>
              </a:lnSpc>
              <a:defRPr sz="700" b="0" i="0">
                <a:solidFill>
                  <a:srgbClr val="8B7D6B"/>
                </a:solidFill>
                <a:latin typeface="Calibri"/>
              </a:defRPr>
            </a:pPr>
            <a:r>
              <a:t>ANDRÉS (GTM), NACHO (GROWTH), CLAUDIO (DESIGN)</a:t>
            </a:r>
          </a:p>
        </p:txBody>
      </p:sp>
      <p:sp>
        <p:nvSpPr>
          <p:cNvPr id="12" name="TextBox 11"/>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Alison Granger · Portfolio</a:t>
            </a:r>
          </a:p>
        </p:txBody>
      </p:sp>
      <p:sp>
        <p:nvSpPr>
          <p:cNvPr id="13" name="TextBox 12"/>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2286000"/>
            <a:ext cx="7315200" cy="914400"/>
          </a:xfrm>
          <a:prstGeom prst="rect">
            <a:avLst/>
          </a:prstGeom>
          <a:noFill/>
        </p:spPr>
        <p:txBody>
          <a:bodyPr wrap="square">
            <a:spAutoFit/>
          </a:bodyPr>
          <a:lstStyle/>
          <a:p>
            <a:pPr algn="ctr">
              <a:lnSpc>
                <a:spcPts val="4180"/>
              </a:lnSpc>
              <a:defRPr sz="3800" b="0" i="1">
                <a:solidFill>
                  <a:srgbClr val="8B7D6B"/>
                </a:solidFill>
                <a:latin typeface="Georgia"/>
              </a:defRPr>
            </a:pPr>
            <a:r>
              <a:t>Let’s build</a:t>
            </a:r>
            <a:br/>
            <a:r>
              <a:t>something together.</a:t>
            </a:r>
          </a:p>
        </p:txBody>
      </p:sp>
      <p:sp>
        <p:nvSpPr>
          <p:cNvPr id="3" name="TextBox 2"/>
          <p:cNvSpPr txBox="1"/>
          <p:nvPr/>
        </p:nvSpPr>
        <p:spPr>
          <a:xfrm>
            <a:off x="2286000" y="3474720"/>
            <a:ext cx="5486400" cy="914400"/>
          </a:xfrm>
          <a:prstGeom prst="rect">
            <a:avLst/>
          </a:prstGeom>
          <a:noFill/>
        </p:spPr>
        <p:txBody>
          <a:bodyPr wrap="square">
            <a:spAutoFit/>
          </a:bodyPr>
          <a:lstStyle/>
          <a:p>
            <a:pPr algn="ctr">
              <a:lnSpc>
                <a:spcPts val="2039"/>
              </a:lnSpc>
              <a:defRPr sz="1200" b="0" i="1">
                <a:solidFill>
                  <a:srgbClr val="6B6B6B"/>
                </a:solidFill>
                <a:latin typeface="Georgia"/>
              </a:defRPr>
            </a:pPr>
            <a:r>
              <a:t>The best ecosystems aren’t planned from a distance—they’re built by someone in the room who understands the stakes, the people, and the signal.</a:t>
            </a:r>
          </a:p>
        </p:txBody>
      </p:sp>
      <p:sp>
        <p:nvSpPr>
          <p:cNvPr id="4" name="Rectangle 3"/>
          <p:cNvSpPr/>
          <p:nvPr/>
        </p:nvSpPr>
        <p:spPr>
          <a:xfrm>
            <a:off x="4572000" y="4572000"/>
            <a:ext cx="9144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4846320"/>
            <a:ext cx="5486400" cy="320040"/>
          </a:xfrm>
          <a:prstGeom prst="rect">
            <a:avLst/>
          </a:prstGeom>
          <a:noFill/>
        </p:spPr>
        <p:txBody>
          <a:bodyPr wrap="square">
            <a:spAutoFit/>
          </a:bodyPr>
          <a:lstStyle/>
          <a:p>
            <a:pPr algn="ctr">
              <a:lnSpc>
                <a:spcPts val="1495"/>
              </a:lnSpc>
              <a:defRPr sz="1300" b="0" i="0">
                <a:solidFill>
                  <a:srgbClr val="6B6B6B"/>
                </a:solidFill>
                <a:latin typeface="Calibri"/>
              </a:defRPr>
            </a:pPr>
            <a:r>
              <a:t>alison@weareblooming.co</a:t>
            </a:r>
          </a:p>
        </p:txBody>
      </p:sp>
      <p:sp>
        <p:nvSpPr>
          <p:cNvPr id="6" name="TextBox 5"/>
          <p:cNvSpPr txBox="1"/>
          <p:nvPr/>
        </p:nvSpPr>
        <p:spPr>
          <a:xfrm>
            <a:off x="2286000" y="5212080"/>
            <a:ext cx="5486400" cy="274320"/>
          </a:xfrm>
          <a:prstGeom prst="rect">
            <a:avLst/>
          </a:prstGeom>
          <a:noFill/>
        </p:spPr>
        <p:txBody>
          <a:bodyPr wrap="square">
            <a:spAutoFit/>
          </a:bodyPr>
          <a:lstStyle/>
          <a:p>
            <a:pPr algn="ctr">
              <a:lnSpc>
                <a:spcPts val="1035"/>
              </a:lnSpc>
              <a:defRPr sz="900" b="0" i="0">
                <a:solidFill>
                  <a:srgbClr val="6B6B6B"/>
                </a:solidFill>
                <a:latin typeface="Calibri"/>
              </a:defRPr>
            </a:pPr>
            <a:r>
              <a:t>+33 (0) 6 48 15 53 98</a:t>
            </a:r>
          </a:p>
        </p:txBody>
      </p:sp>
      <p:sp>
        <p:nvSpPr>
          <p:cNvPr id="7" name="TextBox 6"/>
          <p:cNvSpPr txBox="1"/>
          <p:nvPr/>
        </p:nvSpPr>
        <p:spPr>
          <a:xfrm>
            <a:off x="2286000" y="5577840"/>
            <a:ext cx="5486400" cy="274320"/>
          </a:xfrm>
          <a:prstGeom prst="rect">
            <a:avLst/>
          </a:prstGeom>
          <a:noFill/>
        </p:spPr>
        <p:txBody>
          <a:bodyPr wrap="square">
            <a:spAutoFit/>
          </a:bodyPr>
          <a:lstStyle/>
          <a:p>
            <a:pPr algn="ctr">
              <a:lnSpc>
                <a:spcPts val="919"/>
              </a:lnSpc>
              <a:defRPr sz="800" b="0" i="0">
                <a:solidFill>
                  <a:srgbClr val="8B7D6B"/>
                </a:solidFill>
                <a:latin typeface="Calibri"/>
              </a:defRPr>
            </a:pPr>
            <a:r>
              <a:t>WEAREBLOOMING.CO</a:t>
            </a:r>
          </a:p>
        </p:txBody>
      </p:sp>
      <p:sp>
        <p:nvSpPr>
          <p:cNvPr id="8" name="TextBox 7"/>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a:t>
            </a:r>
          </a:p>
        </p:txBody>
      </p:sp>
      <p:sp>
        <p:nvSpPr>
          <p:cNvPr id="9" name="TextBox 8"/>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weareblooming.co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