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d5fc9f3050_2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d5fc9f3050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af7ddeb7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g3daf7ddeb76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13"/>
          <p:cNvSpPr txBox="1"/>
          <p:nvPr/>
        </p:nvSpPr>
        <p:spPr>
          <a:xfrm>
            <a:off x="457700" y="0"/>
            <a:ext cx="8071500" cy="5493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800"/>
              </a:spcBef>
              <a:spcAft>
                <a:spcPts val="0"/>
              </a:spcAft>
              <a:buClr>
                <a:schemeClr val="dk1"/>
              </a:buClr>
              <a:buSzPts val="1100"/>
              <a:buFont typeface="Arial"/>
              <a:buNone/>
            </a:pPr>
            <a:r>
              <a:rPr b="1" lang="en-US" sz="1700">
                <a:solidFill>
                  <a:schemeClr val="dk1"/>
                </a:solidFill>
              </a:rPr>
              <a:t>THE OPPORTUNITY</a:t>
            </a:r>
            <a:endParaRPr b="1" sz="17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Bond.ai × Blooming — Pilot Partnership</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This Tuesday, Sahar and I met for the first time. Which is funny considering how many events we've both been at on the same Luma page.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Why This Partnership Exists</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The ask from Bond's network:</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Companies trust Sahar. They follow AI Tidbits. They attend Bond events. Now they're asking him to run their event strategy because he has legitimacy in the AI community and reach they can't replicate internally.</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Why Sahar reached out to me:</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He's seen my work. He knows I deliver high-impact events because my expertise is </a:t>
            </a:r>
            <a:r>
              <a:rPr b="1" lang="en-US" sz="1100">
                <a:solidFill>
                  <a:schemeClr val="dk1"/>
                </a:solidFill>
              </a:rPr>
              <a:t>operations</a:t>
            </a:r>
            <a:r>
              <a:rPr lang="en-US" sz="1100">
                <a:solidFill>
                  <a:schemeClr val="dk1"/>
                </a:solidFill>
              </a:rPr>
              <a:t> and the </a:t>
            </a:r>
            <a:r>
              <a:rPr b="1" lang="en-US" sz="1100">
                <a:solidFill>
                  <a:schemeClr val="dk1"/>
                </a:solidFill>
              </a:rPr>
              <a:t>dev community trusts me in SF</a:t>
            </a:r>
            <a:r>
              <a:rPr lang="en-US" sz="1100">
                <a:solidFill>
                  <a:schemeClr val="dk1"/>
                </a:solidFill>
              </a:rPr>
              <a:t>.</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150+ events produced (IBM, NVIDIA, Google, Canva)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70K+ AIUG attendees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Track record: flawless execution under tight timelines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The gap:</a:t>
            </a:r>
            <a:endParaRPr b="1" sz="11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sz="1100">
                <a:solidFill>
                  <a:schemeClr val="dk1"/>
                </a:solidFill>
              </a:rPr>
              <a:t>Sahar has the audience and sponsor relationships. I have the production engine and dev community credibility. Neither of us can do this alone at the level these companies expect.</a:t>
            </a:r>
            <a:endParaRPr b="1" sz="11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 name="Shape 88"/>
        <p:cNvGrpSpPr/>
        <p:nvPr/>
      </p:nvGrpSpPr>
      <p:grpSpPr>
        <a:xfrm>
          <a:off x="0" y="0"/>
          <a:ext cx="0" cy="0"/>
          <a:chOff x="0" y="0"/>
          <a:chExt cx="0" cy="0"/>
        </a:xfrm>
      </p:grpSpPr>
      <p:sp>
        <p:nvSpPr>
          <p:cNvPr id="89" name="Google Shape;89;p14"/>
          <p:cNvSpPr txBox="1"/>
          <p:nvPr/>
        </p:nvSpPr>
        <p:spPr>
          <a:xfrm>
            <a:off x="229655" y="100130"/>
            <a:ext cx="7863900" cy="11163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The Pilot Event</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Let's test the format with one event: mid-May 2026.</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Format:</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1-day AI Hackathon</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80 qualified attendees</a:t>
            </a:r>
            <a:r>
              <a:rPr lang="en-US" sz="1100">
                <a:solidFill>
                  <a:schemeClr val="dk1"/>
                </a:solidFill>
              </a:rPr>
              <a:t> (developers, founders, AI engineers)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High-end SF production</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3-4 sponsors</a:t>
            </a:r>
            <a:r>
              <a:rPr lang="en-US" sz="1100">
                <a:solidFill>
                  <a:schemeClr val="dk1"/>
                </a:solidFill>
              </a:rPr>
              <a:t>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Partnership Structure:</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Bond:</a:t>
            </a:r>
            <a:r>
              <a:rPr lang="en-US" sz="1100">
                <a:solidFill>
                  <a:schemeClr val="dk1"/>
                </a:solidFill>
              </a:rPr>
              <a:t> Leads sponsor outreach, pays event expenses, brings audience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Blooming:</a:t>
            </a:r>
            <a:r>
              <a:rPr lang="en-US" sz="1100">
                <a:solidFill>
                  <a:schemeClr val="dk1"/>
                </a:solidFill>
              </a:rPr>
              <a:t> Leads production/logistics, brings AIUG network, executes day-of</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Success Metrics: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Event runs flawlessly (no fire drills, sponsors happy)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At least 1 sponsor commits to follow-on event or pilot program</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80%+ attendee satisfaction (post-event survey)</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If the pilot works, we scale.</a:t>
            </a:r>
            <a:br>
              <a:rPr b="1" lang="en-US" sz="1100">
                <a:solidFill>
                  <a:schemeClr val="dk1"/>
                </a:solidFill>
              </a:rPr>
            </a:br>
            <a:r>
              <a:rPr lang="en-US" sz="1100">
                <a:solidFill>
                  <a:schemeClr val="dk1"/>
                </a:solidFill>
              </a:rPr>
              <a:t> </a:t>
            </a:r>
            <a:r>
              <a:rPr b="1" lang="en-US" sz="1100">
                <a:solidFill>
                  <a:schemeClr val="dk1"/>
                </a:solidFill>
              </a:rPr>
              <a:t>If it doesn't, we learned cheaply.</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400"/>
              </a:spcBef>
              <a:spcAft>
                <a:spcPts val="0"/>
              </a:spcAft>
              <a:buNone/>
            </a:pPr>
            <a:r>
              <a:rPr b="1" lang="en-US" sz="1300">
                <a:solidFill>
                  <a:schemeClr val="dk1"/>
                </a:solidFill>
              </a:rPr>
              <a:t>WHAT SPONSORS GET</a:t>
            </a:r>
            <a:endParaRPr b="1" sz="1300">
              <a:solidFill>
                <a:schemeClr val="dk1"/>
              </a:solidFill>
            </a:endParaRPr>
          </a:p>
          <a:p>
            <a:pPr indent="0" lvl="0" marL="0" rtl="0" algn="l">
              <a:lnSpc>
                <a:spcPct val="115000"/>
              </a:lnSpc>
              <a:spcBef>
                <a:spcPts val="1200"/>
              </a:spcBef>
              <a:spcAft>
                <a:spcPts val="0"/>
              </a:spcAft>
              <a:buNone/>
            </a:pPr>
            <a:r>
              <a:rPr b="1" lang="en-US" sz="1100">
                <a:solidFill>
                  <a:schemeClr val="dk1"/>
                </a:solidFill>
              </a:rPr>
              <a:t>During Event:</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80-150 qualified builders</a:t>
            </a:r>
            <a:r>
              <a:rPr lang="en-US" sz="1100">
                <a:solidFill>
                  <a:schemeClr val="dk1"/>
                </a:solidFill>
              </a:rPr>
              <a:t> in one room for 8 hours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Speaking slot</a:t>
            </a:r>
            <a:r>
              <a:rPr lang="en-US" sz="1100">
                <a:solidFill>
                  <a:schemeClr val="dk1"/>
                </a:solidFill>
              </a:rPr>
              <a:t> (7-10 min to demo API to entire audience)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Booth space</a:t>
            </a:r>
            <a:r>
              <a:rPr lang="en-US" sz="1100">
                <a:solidFill>
                  <a:schemeClr val="dk1"/>
                </a:solidFill>
              </a:rPr>
              <a:t> (engineers ask technical questions, not just swag)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API adoption</a:t>
            </a:r>
            <a:r>
              <a:rPr lang="en-US" sz="1100">
                <a:solidFill>
                  <a:schemeClr val="dk1"/>
                </a:solidFill>
              </a:rPr>
              <a:t> (participants build with sponsor tools)</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Post-Event:</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Attendee list</a:t>
            </a:r>
            <a:r>
              <a:rPr lang="en-US" sz="1100">
                <a:solidFill>
                  <a:schemeClr val="dk1"/>
                </a:solidFill>
              </a:rPr>
              <a:t> (opt-in contacts: names, emails, LinkedIn)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Intro to winning teams</a:t>
            </a:r>
            <a:r>
              <a:rPr lang="en-US" sz="1100">
                <a:solidFill>
                  <a:schemeClr val="dk1"/>
                </a:solidFill>
              </a:rPr>
              <a:t> (warm leads who built with your API)</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Use case validation</a:t>
            </a:r>
            <a:r>
              <a:rPr lang="en-US" sz="1100">
                <a:solidFill>
                  <a:schemeClr val="dk1"/>
                </a:solidFill>
              </a:rPr>
              <a:t> (see how devs actually use your product)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Recruiting pipeline</a:t>
            </a:r>
            <a:r>
              <a:rPr lang="en-US" sz="1100">
                <a:solidFill>
                  <a:schemeClr val="dk1"/>
                </a:solidFill>
              </a:rPr>
              <a:t> (meet top talent)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sz="1100">
              <a:solidFill>
                <a:schemeClr val="dk1"/>
              </a:solidFill>
            </a:endParaRPr>
          </a:p>
          <a:p>
            <a:pPr indent="0" lvl="0" marL="0" rtl="0" algn="l">
              <a:lnSpc>
                <a:spcPct val="115000"/>
              </a:lnSpc>
              <a:spcBef>
                <a:spcPts val="1200"/>
              </a:spcBef>
              <a:spcAft>
                <a:spcPts val="0"/>
              </a:spcAft>
              <a:buNone/>
            </a:pPr>
            <a:r>
              <a:t/>
            </a:r>
            <a:endParaRPr>
              <a:solidFill>
                <a:srgbClr val="333333"/>
              </a:solidFill>
              <a:latin typeface="Calibri"/>
              <a:ea typeface="Calibri"/>
              <a:cs typeface="Calibri"/>
              <a:sym typeface="Calibri"/>
            </a:endParaRPr>
          </a:p>
          <a:p>
            <a:pPr indent="0" lvl="0" marL="0" rtl="0" algn="l">
              <a:lnSpc>
                <a:spcPct val="115000"/>
              </a:lnSpc>
              <a:spcBef>
                <a:spcPts val="1200"/>
              </a:spcBef>
              <a:spcAft>
                <a:spcPts val="0"/>
              </a:spcAft>
              <a:buNone/>
            </a:pPr>
            <a:r>
              <a:t/>
            </a:r>
            <a:endParaRPr>
              <a:solidFill>
                <a:srgbClr val="333333"/>
              </a:solidFill>
              <a:latin typeface="Calibri"/>
              <a:ea typeface="Calibri"/>
              <a:cs typeface="Calibri"/>
              <a:sym typeface="Calibri"/>
            </a:endParaRPr>
          </a:p>
          <a:p>
            <a:pPr indent="0" lvl="0" marL="0" marR="0" rtl="0" algn="l">
              <a:lnSpc>
                <a:spcPct val="150000"/>
              </a:lnSpc>
              <a:spcBef>
                <a:spcPts val="1200"/>
              </a:spcBef>
              <a:spcAft>
                <a:spcPts val="0"/>
              </a:spcAft>
              <a:buNone/>
            </a:pPr>
            <a:r>
              <a:t/>
            </a:r>
            <a:endParaRPr>
              <a:solidFill>
                <a:srgbClr val="333333"/>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a:solidFill>
                <a:srgbClr val="333333"/>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a:solidFill>
                <a:srgbClr val="333333"/>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a:solidFill>
                <a:srgbClr val="333333"/>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 name="Shape 93"/>
        <p:cNvGrpSpPr/>
        <p:nvPr/>
      </p:nvGrpSpPr>
      <p:grpSpPr>
        <a:xfrm>
          <a:off x="0" y="0"/>
          <a:ext cx="0" cy="0"/>
          <a:chOff x="0" y="0"/>
          <a:chExt cx="0" cy="0"/>
        </a:xfrm>
      </p:grpSpPr>
      <p:sp>
        <p:nvSpPr>
          <p:cNvPr id="94" name="Google Shape;94;p15"/>
          <p:cNvSpPr txBox="1"/>
          <p:nvPr/>
        </p:nvSpPr>
        <p:spPr>
          <a:xfrm>
            <a:off x="640055" y="464905"/>
            <a:ext cx="7863900" cy="8767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lang="en-US" sz="1100">
                <a:solidFill>
                  <a:schemeClr val="dk1"/>
                </a:solidFill>
              </a:rPr>
              <a:t>Hackathon thematics </a:t>
            </a:r>
            <a:endParaRPr sz="11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US" sz="1700">
                <a:solidFill>
                  <a:schemeClr val="dk1"/>
                </a:solidFill>
              </a:rPr>
              <a:t>PROPOSED HACKATHON THEMES</a:t>
            </a:r>
            <a:endParaRPr b="1" sz="1700">
              <a:solidFill>
                <a:schemeClr val="dk1"/>
              </a:solidFill>
            </a:endParaRPr>
          </a:p>
          <a:p>
            <a:pPr indent="0" lvl="0" marL="0" rtl="0" algn="l">
              <a:lnSpc>
                <a:spcPct val="115000"/>
              </a:lnSpc>
              <a:spcBef>
                <a:spcPts val="400"/>
              </a:spcBef>
              <a:spcAft>
                <a:spcPts val="0"/>
              </a:spcAft>
              <a:buClr>
                <a:schemeClr val="dk1"/>
              </a:buClr>
              <a:buSzPts val="1100"/>
              <a:buFont typeface="Arial"/>
              <a:buNone/>
            </a:pPr>
            <a:r>
              <a:t/>
            </a:r>
            <a:endParaRPr b="1" sz="17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OPTION 1: AI AGENTS IN PRODUCTION 🤖</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Build agents that ship, not just demos.</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6 Warm Sponsors Ready:</a:t>
            </a:r>
            <a:br>
              <a:rPr b="1" lang="en-US" sz="1100">
                <a:solidFill>
                  <a:schemeClr val="dk1"/>
                </a:solidFill>
              </a:rPr>
            </a:br>
            <a:r>
              <a:rPr lang="en-US" sz="1100">
                <a:solidFill>
                  <a:schemeClr val="dk1"/>
                </a:solidFill>
              </a:rPr>
              <a:t> n8n • IBM • Google deepmind • Bland AI • Comet • InsForge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OPTION 2: AI FOR DEVELOPER PRODUCTIVITY 💻</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Build AI tools that make developers 10× more productive.</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8 Warm Sponsors Ready:</a:t>
            </a:r>
            <a:br>
              <a:rPr b="1" lang="en-US" sz="1100">
                <a:solidFill>
                  <a:schemeClr val="dk1"/>
                </a:solidFill>
              </a:rPr>
            </a:br>
            <a:r>
              <a:rPr lang="en-US" sz="1100">
                <a:solidFill>
                  <a:schemeClr val="dk1"/>
                </a:solidFill>
              </a:rPr>
              <a:t> Google • Miro • CodeRabbit • IBM • NVIDIA • UiPath • Lightdash • Comet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OPTION 3: AI FOR GTM &amp; GROWTH 📈</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Build AI tools for sales, marketing, and growth teams.</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3 Warm Sponsors Ready:</a:t>
            </a:r>
            <a:br>
              <a:rPr b="1" lang="en-US" sz="1100">
                <a:solidFill>
                  <a:schemeClr val="dk1"/>
                </a:solidFill>
              </a:rPr>
            </a:br>
            <a:r>
              <a:rPr lang="en-US" sz="1100">
                <a:solidFill>
                  <a:schemeClr val="dk1"/>
                </a:solidFill>
              </a:rPr>
              <a:t> TRAE • Airia • Modulate</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a:solidFill>
                <a:srgbClr val="333333"/>
              </a:solidFill>
              <a:latin typeface="Calibri"/>
              <a:ea typeface="Calibri"/>
              <a:cs typeface="Calibri"/>
              <a:sym typeface="Calibri"/>
            </a:endParaRPr>
          </a:p>
          <a:p>
            <a:pPr indent="0" lvl="0" marL="0" rtl="0" algn="l">
              <a:lnSpc>
                <a:spcPct val="115000"/>
              </a:lnSpc>
              <a:spcBef>
                <a:spcPts val="1200"/>
              </a:spcBef>
              <a:spcAft>
                <a:spcPts val="0"/>
              </a:spcAft>
              <a:buNone/>
            </a:pPr>
            <a:r>
              <a:t/>
            </a:r>
            <a:endParaRPr>
              <a:solidFill>
                <a:srgbClr val="333333"/>
              </a:solidFill>
              <a:latin typeface="Calibri"/>
              <a:ea typeface="Calibri"/>
              <a:cs typeface="Calibri"/>
              <a:sym typeface="Calibri"/>
            </a:endParaRPr>
          </a:p>
          <a:p>
            <a:pPr indent="0" lvl="0" marL="0" marR="0" rtl="0" algn="l">
              <a:lnSpc>
                <a:spcPct val="150000"/>
              </a:lnSpc>
              <a:spcBef>
                <a:spcPts val="1200"/>
              </a:spcBef>
              <a:spcAft>
                <a:spcPts val="0"/>
              </a:spcAft>
              <a:buNone/>
            </a:pPr>
            <a:r>
              <a:t/>
            </a:r>
            <a:endParaRPr>
              <a:solidFill>
                <a:srgbClr val="333333"/>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a:solidFill>
                <a:srgbClr val="333333"/>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a:solidFill>
                <a:srgbClr val="333333"/>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a:solidFill>
                <a:srgbClr val="333333"/>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6"/>
          <p:cNvSpPr txBox="1"/>
          <p:nvPr/>
        </p:nvSpPr>
        <p:spPr>
          <a:xfrm>
            <a:off x="0" y="0"/>
            <a:ext cx="9144000" cy="935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a:t>T H E  type of sponsorship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US"/>
              <a:t>5k package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0" lvl="0" marL="0" rtl="0" algn="l">
              <a:lnSpc>
                <a:spcPct val="115000"/>
              </a:lnSpc>
              <a:spcBef>
                <a:spcPts val="1200"/>
              </a:spcBef>
              <a:spcAft>
                <a:spcPts val="0"/>
              </a:spcAft>
              <a:buNone/>
            </a:pPr>
            <a:r>
              <a:rPr b="1" lang="en-US" sz="1100">
                <a:solidFill>
                  <a:schemeClr val="dk1"/>
                </a:solidFill>
              </a:rPr>
              <a:t>Visibility</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Equal logo placement</a:t>
            </a:r>
            <a:r>
              <a:rPr lang="en-US" sz="1100">
                <a:solidFill>
                  <a:schemeClr val="dk1"/>
                </a:solidFill>
              </a:rPr>
              <a:t> sur tous les matériaux (website, emails, signage, LED wall)</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Event co-branding:</a:t>
            </a:r>
            <a:r>
              <a:rPr lang="en-US" sz="1100">
                <a:solidFill>
                  <a:schemeClr val="dk1"/>
                </a:solidFill>
              </a:rPr>
              <a:t> "AI Hackathon powered by [Sponsor 1] × [Sponsor 2] × [Sponsor 3] × [Sponsor 4]"</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Social media mentions</a:t>
            </a:r>
            <a:r>
              <a:rPr lang="en-US" sz="1100">
                <a:solidFill>
                  <a:schemeClr val="dk1"/>
                </a:solidFill>
              </a:rPr>
              <a:t> (LinkedIn, newsletter, Twitter)</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Engagement</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10-min speaking slot</a:t>
            </a:r>
            <a:r>
              <a:rPr lang="en-US" sz="1100">
                <a:solidFill>
                  <a:schemeClr val="dk1"/>
                </a:solidFill>
              </a:rPr>
              <a:t> (product demo, API walkthrough, or use case presentation)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Booth space</a:t>
            </a:r>
            <a:r>
              <a:rPr lang="en-US" sz="1100">
                <a:solidFill>
                  <a:schemeClr val="dk1"/>
                </a:solidFill>
              </a:rPr>
              <a:t> (equal size, good locations)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Prize category option</a:t>
            </a:r>
            <a:r>
              <a:rPr lang="en-US" sz="1100">
                <a:solidFill>
                  <a:schemeClr val="dk1"/>
                </a:solidFill>
              </a:rPr>
              <a:t> (sponsor can create "Best use of [Company] API" — $1000 $2,000 prize)</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Data &amp; Access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Opt-in attendee list</a:t>
            </a:r>
            <a:r>
              <a:rPr lang="en-US" sz="1100">
                <a:solidFill>
                  <a:schemeClr val="dk1"/>
                </a:solidFill>
              </a:rPr>
              <a:t> (names, emails, LinkedIn) post-event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Intro to winning teams</a:t>
            </a:r>
            <a:r>
              <a:rPr lang="en-US" sz="1100">
                <a:solidFill>
                  <a:schemeClr val="dk1"/>
                </a:solidFill>
              </a:rPr>
              <a:t> (all sponsors get intros simultaneously)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Event report</a:t>
            </a:r>
            <a:r>
              <a:rPr lang="en-US" sz="1100">
                <a:solidFill>
                  <a:schemeClr val="dk1"/>
                </a:solidFill>
              </a:rPr>
              <a:t> (photos, metrics, attendee feedback, winner details)</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Perks</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Swag distribution</a:t>
            </a:r>
            <a:r>
              <a:rPr lang="en-US" sz="1100">
                <a:solidFill>
                  <a:schemeClr val="dk1"/>
                </a:solidFill>
              </a:rPr>
              <a:t> (can put branded materials on tables)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API credits</a:t>
            </a:r>
            <a:r>
              <a:rPr lang="en-US" sz="1100">
                <a:solidFill>
                  <a:schemeClr val="dk1"/>
                </a:solidFill>
              </a:rPr>
              <a:t> (optional: distribute credits/trial access to all participants)</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Prize Structure (outside the $5K sponsorship fee):</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Each sponsor decides:</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Prize amount:</a:t>
            </a:r>
            <a:r>
              <a:rPr lang="en-US" sz="1100">
                <a:solidFill>
                  <a:schemeClr val="dk1"/>
                </a:solidFill>
              </a:rPr>
              <a:t> Typically $500-$1,500 per category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Prize format:</a:t>
            </a:r>
            <a:r>
              <a:rPr lang="en-US" sz="1100">
                <a:solidFill>
                  <a:schemeClr val="dk1"/>
                </a:solidFill>
              </a:rPr>
              <a:t> Cash, API credits, AWS credits, product licenses, etc.</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Prize category:</a:t>
            </a:r>
            <a:r>
              <a:rPr lang="en-US" sz="1100">
                <a:solidFill>
                  <a:schemeClr val="dk1"/>
                </a:solidFill>
              </a:rPr>
              <a:t> "Best use of [Company] API" or "Most innovative [use case]"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Example:</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Sponsor 1 (n8n):</a:t>
            </a:r>
            <a:r>
              <a:rPr lang="en-US" sz="1100">
                <a:solidFill>
                  <a:schemeClr val="dk1"/>
                </a:solidFill>
              </a:rPr>
              <a:t> $1,000 cash + $500 n8n credits for "Best Automation Agent"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Sponsor 2 (DataStax):</a:t>
            </a:r>
            <a:r>
              <a:rPr lang="en-US" sz="1100">
                <a:solidFill>
                  <a:schemeClr val="dk1"/>
                </a:solidFill>
              </a:rPr>
              <a:t> $750 cash + Astra DB credits for "Best RAG Implementation"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Sponsor 3 (Modal):</a:t>
            </a:r>
            <a:r>
              <a:rPr lang="en-US" sz="1100">
                <a:solidFill>
                  <a:schemeClr val="dk1"/>
                </a:solidFill>
              </a:rPr>
              <a:t> $1,000 cash for "Best AI Infra Solution"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Sponsor 4 (Comet):</a:t>
            </a:r>
            <a:r>
              <a:rPr lang="en-US" sz="1100">
                <a:solidFill>
                  <a:schemeClr val="dk1"/>
                </a:solidFill>
              </a:rPr>
              <a:t> $500 cash + Comet Pro licenses for "Best MLOps Workflow"</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 name="Shape 103"/>
        <p:cNvGrpSpPr/>
        <p:nvPr/>
      </p:nvGrpSpPr>
      <p:grpSpPr>
        <a:xfrm>
          <a:off x="0" y="0"/>
          <a:ext cx="0" cy="0"/>
          <a:chOff x="0" y="0"/>
          <a:chExt cx="0" cy="0"/>
        </a:xfrm>
      </p:grpSpPr>
      <p:sp>
        <p:nvSpPr>
          <p:cNvPr id="104" name="Google Shape;104;p17"/>
          <p:cNvSpPr txBox="1"/>
          <p:nvPr/>
        </p:nvSpPr>
        <p:spPr>
          <a:xfrm>
            <a:off x="813330" y="-100520"/>
            <a:ext cx="7863900" cy="20398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US" sz="1700">
                <a:solidFill>
                  <a:schemeClr val="dk1"/>
                </a:solidFill>
              </a:rPr>
              <a:t>SCOPE OF WORK — BLOOMING</a:t>
            </a:r>
            <a:endParaRPr b="1" sz="17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PRIOR TO THE EVENT</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Venue &amp; Logistics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Source and secure venue</a:t>
            </a:r>
            <a:r>
              <a:rPr lang="en-US" sz="1100">
                <a:solidFill>
                  <a:schemeClr val="dk1"/>
                </a:solidFill>
              </a:rPr>
              <a:t> (SF, 80+ capacity, 8-10 hours)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Negotiate venue contract</a:t>
            </a:r>
            <a:r>
              <a:rPr lang="en-US" sz="1100">
                <a:solidFill>
                  <a:schemeClr val="dk1"/>
                </a:solidFill>
              </a:rPr>
              <a:t> (pricing, AV included, setup/teardown)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Coordinate catering</a:t>
            </a:r>
            <a:r>
              <a:rPr lang="en-US" sz="1100">
                <a:solidFill>
                  <a:schemeClr val="dk1"/>
                </a:solidFill>
              </a:rPr>
              <a:t> (lunch, snacks, drinks for 80 attendees)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Arrange AV/tech setup</a:t>
            </a:r>
            <a:r>
              <a:rPr lang="en-US" sz="1100">
                <a:solidFill>
                  <a:schemeClr val="dk1"/>
                </a:solidFill>
              </a:rPr>
              <a:t> (screens, mics, recording equipment)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Sponsor Support</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Secondary sponsor outreach</a:t>
            </a:r>
            <a:r>
              <a:rPr lang="en-US" sz="1100">
                <a:solidFill>
                  <a:schemeClr val="dk1"/>
                </a:solidFill>
              </a:rPr>
              <a:t> via Blooming's network (70K+ AIUG contacts)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Warm intros to potential sponsors:</a:t>
            </a:r>
            <a:r>
              <a:rPr lang="en-US" sz="1100">
                <a:solidFill>
                  <a:schemeClr val="dk1"/>
                </a:solidFill>
              </a:rPr>
              <a:t> IBM, NVIDIA, Google, n8n, DataStax, Canva, etc.</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Coordinate with confirmed sponsors</a:t>
            </a:r>
            <a:r>
              <a:rPr lang="en-US" sz="1100">
                <a:solidFill>
                  <a:schemeClr val="dk1"/>
                </a:solidFill>
              </a:rPr>
              <a:t> to define: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Challenge prerequisites (APIs, datasets, sample code)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Prize categories and amounts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Speaking slot content and timing</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Booth requirements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Participant Outreach &amp; Registration</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Database outreach</a:t>
            </a:r>
            <a:r>
              <a:rPr lang="en-US" sz="1100">
                <a:solidFill>
                  <a:schemeClr val="dk1"/>
                </a:solidFill>
              </a:rPr>
              <a:t> to qualified contacts (developers, founders, AI engineers)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Email campaigns</a:t>
            </a:r>
            <a:r>
              <a:rPr lang="en-US" sz="1100">
                <a:solidFill>
                  <a:schemeClr val="dk1"/>
                </a:solidFill>
              </a:rPr>
              <a:t> to AIUG community (70K+ contacts)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Registration management</a:t>
            </a:r>
            <a:r>
              <a:rPr lang="en-US" sz="1100">
                <a:solidFill>
                  <a:schemeClr val="dk1"/>
                </a:solidFill>
              </a:rPr>
              <a:t> (track sign-ups, send confirmations, reminders)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Event Platform Setup</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Set up Devpost</a:t>
            </a:r>
            <a:r>
              <a:rPr lang="en-US" sz="1100">
                <a:solidFill>
                  <a:schemeClr val="dk1"/>
                </a:solidFill>
              </a:rPr>
              <a:t> (hackathon registration, project submissions, judging)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Create Discord server</a:t>
            </a:r>
            <a:r>
              <a:rPr lang="en-US" sz="1100">
                <a:solidFill>
                  <a:schemeClr val="dk1"/>
                </a:solidFill>
              </a:rPr>
              <a:t> (participant communication, sponsor channels, mentor support)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Build event landing page</a:t>
            </a:r>
            <a:r>
              <a:rPr lang="en-US" sz="1100">
                <a:solidFill>
                  <a:schemeClr val="dk1"/>
                </a:solidFill>
              </a:rPr>
              <a:t> (if needed, or integrate with Bond's site)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Judges &amp; Mentors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Recruit judging panel</a:t>
            </a:r>
            <a:r>
              <a:rPr lang="en-US" sz="1100">
                <a:solidFill>
                  <a:schemeClr val="dk1"/>
                </a:solidFill>
              </a:rPr>
              <a:t> (3-5 judges: mix of technical + business expertise)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Recruit mentors</a:t>
            </a:r>
            <a:r>
              <a:rPr lang="en-US" sz="1100">
                <a:solidFill>
                  <a:schemeClr val="dk1"/>
                </a:solidFill>
              </a:rPr>
              <a:t> (5-8 mentors from sponsor companies or Blooming network)</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Coordinate judging criteria</a:t>
            </a:r>
            <a:r>
              <a:rPr lang="en-US" sz="1100">
                <a:solidFill>
                  <a:schemeClr val="dk1"/>
                </a:solidFill>
              </a:rPr>
              <a:t> with sponsors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Prep judges &amp; mentors</a:t>
            </a:r>
            <a:r>
              <a:rPr lang="en-US" sz="1100">
                <a:solidFill>
                  <a:schemeClr val="dk1"/>
                </a:solidFill>
              </a:rPr>
              <a:t> (briefing docs, schedules, expectations)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DAY-OF EVENT</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Setup &amp; Logistics (7am-9am)</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Venue setup (tables, chairs, signage, booth spaces)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AV check (mics, screens, recording)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Catering coordination (timing, setup)</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Sponsor booth setup support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Event Management (9am-7pm)</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Registration desk</a:t>
            </a:r>
            <a:r>
              <a:rPr lang="en-US" sz="1100">
                <a:solidFill>
                  <a:schemeClr val="dk1"/>
                </a:solidFill>
              </a:rPr>
              <a:t> (check-in, badges, swag distribution)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Emcee/host coordination</a:t>
            </a:r>
            <a:r>
              <a:rPr lang="en-US" sz="1100">
                <a:solidFill>
                  <a:schemeClr val="dk1"/>
                </a:solidFill>
              </a:rPr>
              <a:t> (if needed, or support Bond's host)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Workshop/speaker coordination</a:t>
            </a:r>
            <a:r>
              <a:rPr lang="en-US" sz="1100">
                <a:solidFill>
                  <a:schemeClr val="dk1"/>
                </a:solidFill>
              </a:rPr>
              <a:t> (timing, AV support, intros)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Mentor coordination</a:t>
            </a:r>
            <a:r>
              <a:rPr lang="en-US" sz="1100">
                <a:solidFill>
                  <a:schemeClr val="dk1"/>
                </a:solidFill>
              </a:rPr>
              <a:t> (ensure mentors circulate, answer questions)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Troubleshooting</a:t>
            </a:r>
            <a:r>
              <a:rPr lang="en-US" sz="1100">
                <a:solidFill>
                  <a:schemeClr val="dk1"/>
                </a:solidFill>
              </a:rPr>
              <a:t> (WiFi issues, AV problems, participant questions)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Demo &amp; Judging (5pm-7pm)</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Demo logistics</a:t>
            </a:r>
            <a:r>
              <a:rPr lang="en-US" sz="1100">
                <a:solidFill>
                  <a:schemeClr val="dk1"/>
                </a:solidFill>
              </a:rPr>
              <a:t> (stage setup, timer, team intros)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Judge coordination</a:t>
            </a:r>
            <a:r>
              <a:rPr lang="en-US" sz="1100">
                <a:solidFill>
                  <a:schemeClr val="dk1"/>
                </a:solidFill>
              </a:rPr>
              <a:t> (scoring sheets, deliberation room)</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Winner announcements</a:t>
            </a:r>
            <a:r>
              <a:rPr lang="en-US" sz="1100">
                <a:solidFill>
                  <a:schemeClr val="dk1"/>
                </a:solidFill>
              </a:rPr>
              <a:t> (coordinate with sponsors for prize handoff)</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Wrap &amp; Teardown (7pm-9pm)</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Venue teardown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Equipment return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Final sponsor check-out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POST-EVENT</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Sponsor Deliverables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Event report</a:t>
            </a:r>
            <a:r>
              <a:rPr lang="en-US" sz="1100">
                <a:solidFill>
                  <a:schemeClr val="dk1"/>
                </a:solidFill>
              </a:rPr>
              <a:t> (attendance, photos, metrics, winner details)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Attendee list</a:t>
            </a:r>
            <a:r>
              <a:rPr lang="en-US" sz="1100">
                <a:solidFill>
                  <a:schemeClr val="dk1"/>
                </a:solidFill>
              </a:rPr>
              <a:t> (opt-in contacts who consented to share info)</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Intro emails</a:t>
            </a:r>
            <a:r>
              <a:rPr lang="en-US" sz="1100">
                <a:solidFill>
                  <a:schemeClr val="dk1"/>
                </a:solidFill>
              </a:rPr>
              <a:t> to winning teams (connect sponsors with top projects)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Community Follow-Up</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Thank you emails</a:t>
            </a:r>
            <a:r>
              <a:rPr lang="en-US" sz="1100">
                <a:solidFill>
                  <a:schemeClr val="dk1"/>
                </a:solidFill>
              </a:rPr>
              <a:t> to participants, judges, mentors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Post-event survey</a:t>
            </a:r>
            <a:r>
              <a:rPr lang="en-US" sz="1100">
                <a:solidFill>
                  <a:schemeClr val="dk1"/>
                </a:solidFill>
              </a:rPr>
              <a:t> (collect feedback for future events)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Social media recap</a:t>
            </a:r>
            <a:r>
              <a:rPr lang="en-US" sz="1100">
                <a:solidFill>
                  <a:schemeClr val="dk1"/>
                </a:solidFill>
              </a:rPr>
              <a:t> (LinkedIn posts, photo albums, winner announcements)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Platform Wrap-Up</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Devpost winner announcements</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Discord archive</a:t>
            </a:r>
            <a:r>
              <a:rPr lang="en-US" sz="1100">
                <a:solidFill>
                  <a:schemeClr val="dk1"/>
                </a:solidFill>
              </a:rPr>
              <a:t> (keep channel open for 30 days for continued discussion)</a:t>
            </a:r>
            <a:endParaRPr sz="1100">
              <a:solidFill>
                <a:schemeClr val="dk1"/>
              </a:solidFill>
            </a:endParaRPr>
          </a:p>
          <a:p>
            <a:pPr indent="0" lvl="0" marL="0" rtl="0" algn="l">
              <a:lnSpc>
                <a:spcPct val="115000"/>
              </a:lnSpc>
              <a:spcBef>
                <a:spcPts val="1400"/>
              </a:spcBef>
              <a:spcAft>
                <a:spcPts val="0"/>
              </a:spcAft>
              <a:buNone/>
            </a:pPr>
            <a:r>
              <a:t/>
            </a:r>
            <a:endParaRPr b="1" sz="1300">
              <a:solidFill>
                <a:schemeClr val="dk1"/>
              </a:solidFill>
            </a:endParaRPr>
          </a:p>
          <a:p>
            <a:pPr indent="0" lvl="0" marL="0" rtl="0" algn="l">
              <a:lnSpc>
                <a:spcPct val="115000"/>
              </a:lnSpc>
              <a:spcBef>
                <a:spcPts val="1200"/>
              </a:spcBef>
              <a:spcAft>
                <a:spcPts val="0"/>
              </a:spcAft>
              <a:buNone/>
            </a:pPr>
            <a:r>
              <a:t/>
            </a:r>
            <a:endParaRPr>
              <a:solidFill>
                <a:srgbClr val="333333"/>
              </a:solidFill>
              <a:latin typeface="Calibri"/>
              <a:ea typeface="Calibri"/>
              <a:cs typeface="Calibri"/>
              <a:sym typeface="Calibri"/>
            </a:endParaRPr>
          </a:p>
          <a:p>
            <a:pPr indent="0" lvl="0" marL="0" rtl="0" algn="l">
              <a:lnSpc>
                <a:spcPct val="115000"/>
              </a:lnSpc>
              <a:spcBef>
                <a:spcPts val="1200"/>
              </a:spcBef>
              <a:spcAft>
                <a:spcPts val="0"/>
              </a:spcAft>
              <a:buNone/>
            </a:pPr>
            <a:r>
              <a:t/>
            </a:r>
            <a:endParaRPr>
              <a:solidFill>
                <a:srgbClr val="333333"/>
              </a:solidFill>
              <a:latin typeface="Calibri"/>
              <a:ea typeface="Calibri"/>
              <a:cs typeface="Calibri"/>
              <a:sym typeface="Calibri"/>
            </a:endParaRPr>
          </a:p>
          <a:p>
            <a:pPr indent="0" lvl="0" marL="0" marR="0" rtl="0" algn="l">
              <a:lnSpc>
                <a:spcPct val="150000"/>
              </a:lnSpc>
              <a:spcBef>
                <a:spcPts val="1200"/>
              </a:spcBef>
              <a:spcAft>
                <a:spcPts val="0"/>
              </a:spcAft>
              <a:buNone/>
            </a:pPr>
            <a:r>
              <a:t/>
            </a:r>
            <a:endParaRPr>
              <a:solidFill>
                <a:srgbClr val="333333"/>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a:solidFill>
                <a:srgbClr val="333333"/>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a:solidFill>
                <a:srgbClr val="333333"/>
              </a:solidFill>
              <a:latin typeface="Calibri"/>
              <a:ea typeface="Calibri"/>
              <a:cs typeface="Calibri"/>
              <a:sym typeface="Calibri"/>
            </a:endParaRPr>
          </a:p>
          <a:p>
            <a:pPr indent="0" lvl="0" marL="0" marR="0" rtl="0" algn="l">
              <a:lnSpc>
                <a:spcPct val="150000"/>
              </a:lnSpc>
              <a:spcBef>
                <a:spcPts val="400"/>
              </a:spcBef>
              <a:spcAft>
                <a:spcPts val="0"/>
              </a:spcAft>
              <a:buNone/>
            </a:pPr>
            <a:r>
              <a:t/>
            </a:r>
            <a:endParaRPr>
              <a:solidFill>
                <a:srgbClr val="333333"/>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 name="Shape 108"/>
        <p:cNvGrpSpPr/>
        <p:nvPr/>
      </p:nvGrpSpPr>
      <p:grpSpPr>
        <a:xfrm>
          <a:off x="0" y="0"/>
          <a:ext cx="0" cy="0"/>
          <a:chOff x="0" y="0"/>
          <a:chExt cx="0" cy="0"/>
        </a:xfrm>
      </p:grpSpPr>
      <p:pic>
        <p:nvPicPr>
          <p:cNvPr id="109" name="Google Shape;109;p18" title="Screenshot 2026-04-30 at 1.01.54 PM.png"/>
          <p:cNvPicPr preferRelativeResize="0"/>
          <p:nvPr/>
        </p:nvPicPr>
        <p:blipFill rotWithShape="1">
          <a:blip r:embed="rId3">
            <a:alphaModFix/>
          </a:blip>
          <a:srcRect b="0" l="0" r="0" t="5545"/>
          <a:stretch/>
        </p:blipFill>
        <p:spPr>
          <a:xfrm>
            <a:off x="1839550" y="667875"/>
            <a:ext cx="6172324" cy="6190125"/>
          </a:xfrm>
          <a:prstGeom prst="rect">
            <a:avLst/>
          </a:prstGeom>
          <a:noFill/>
          <a:ln>
            <a:noFill/>
          </a:ln>
        </p:spPr>
      </p:pic>
      <p:sp>
        <p:nvSpPr>
          <p:cNvPr id="110" name="Google Shape;110;p18"/>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a:solidFill>
                  <a:schemeClr val="dk1"/>
                </a:solidFill>
              </a:rPr>
              <a:t>IF SPONSORSHIP AT 5K</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 name="Shape 114"/>
        <p:cNvGrpSpPr/>
        <p:nvPr/>
      </p:nvGrpSpPr>
      <p:grpSpPr>
        <a:xfrm>
          <a:off x="0" y="0"/>
          <a:ext cx="0" cy="0"/>
          <a:chOff x="0" y="0"/>
          <a:chExt cx="0" cy="0"/>
        </a:xfrm>
      </p:grpSpPr>
      <p:sp>
        <p:nvSpPr>
          <p:cNvPr id="115" name="Google Shape;115;p19"/>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a:solidFill>
                  <a:schemeClr val="dk1"/>
                </a:solidFill>
              </a:rPr>
              <a:t>IF SPONSORSHIP AT 3K</a:t>
            </a:r>
            <a:endParaRPr>
              <a:solidFill>
                <a:schemeClr val="dk1"/>
              </a:solidFill>
            </a:endParaRPr>
          </a:p>
        </p:txBody>
      </p:sp>
      <p:pic>
        <p:nvPicPr>
          <p:cNvPr id="116" name="Google Shape;116;p19" title="Screenshot 2026-04-30 at 1.02.54 PM.png"/>
          <p:cNvPicPr preferRelativeResize="0"/>
          <p:nvPr/>
        </p:nvPicPr>
        <p:blipFill>
          <a:blip r:embed="rId3">
            <a:alphaModFix/>
          </a:blip>
          <a:stretch>
            <a:fillRect/>
          </a:stretch>
        </p:blipFill>
        <p:spPr>
          <a:xfrm>
            <a:off x="3152400" y="152400"/>
            <a:ext cx="5818692" cy="65532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